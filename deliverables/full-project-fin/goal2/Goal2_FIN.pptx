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343" r:id="rId2"/>
    <p:sldId id="348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B-Model-Evaluation" id="{7B1C6A2B-E2BB-4A00-B635-E3692AC80D61}">
          <p14:sldIdLst>
            <p14:sldId id="343"/>
            <p14:sldId id="348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</p14:sldIdLst>
        </p14:section>
        <p14:section name="HIP" id="{8E6C202D-32A9-4242-9C7F-061CD6AD0586}">
          <p14:sldIdLst/>
        </p14:section>
        <p14:section name="Trust AI" id="{D03DBB28-92F1-40BA-9222-050B2A81EF3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EF2"/>
    <a:srgbClr val="E6FBFD"/>
    <a:srgbClr val="FAEEE7"/>
    <a:srgbClr val="29897A"/>
    <a:srgbClr val="F1F5FF"/>
    <a:srgbClr val="F5500B"/>
    <a:srgbClr val="EFEDEB"/>
    <a:srgbClr val="021E30"/>
    <a:srgbClr val="DF4807"/>
    <a:srgbClr val="2C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9BD48-7129-4EEA-89D7-3D0571CDE825}" v="2" dt="2026-04-16T07:22:57.283"/>
    <p1510:client id="{815322F5-1D8B-4512-AC94-4F1FCB1B7CF5}" v="181" dt="2026-04-16T06:49:54.398"/>
    <p1510:client id="{982B31B5-4D3B-F641-9C3A-4064C6B8F6EF}" v="105" dt="2026-04-16T07:32:23.360"/>
    <p1510:client id="{A64A6B45-CB8A-4ADC-9BE9-3A38DECD5CA4}" v="425" dt="2026-04-16T07:24:11.366"/>
    <p1510:client id="{D5FBDDD7-7CDE-FC30-2288-5B5E118FE29B}" v="24" dt="2026-04-15T18:07:11.905"/>
    <p1510:client id="{F6CA18EB-3A78-3210-7784-DB3283035531}" v="25" dt="2026-04-16T06:35:08.374"/>
  </p1510:revLst>
</p1510:revInfo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373"/>
    <p:restoredTop sz="94437"/>
  </p:normalViewPr>
  <p:slideViewPr>
    <p:cSldViewPr snapToGrid="0">
      <p:cViewPr varScale="1">
        <p:scale>
          <a:sx n="82" d="100"/>
          <a:sy n="82" d="100"/>
        </p:scale>
        <p:origin x="184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A3E2A-35AE-479C-B172-30C9CAEEE094}" type="datetimeFigureOut">
              <a:rPr lang="de-DE" smtClean="0"/>
              <a:t>10.07.26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1045-FCBB-4EC9-AB5F-AA4CFDEA61C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86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98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Far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90" name="Thema 10">
            <a:extLst>
              <a:ext uri="{FF2B5EF4-FFF2-40B4-BE49-F238E27FC236}">
                <a16:creationId xmlns:a16="http://schemas.microsoft.com/office/drawing/2014/main" id="{CC6F2213-38FE-4FAE-8DAA-719F27FB20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73464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1" name="Zahl Thema 10">
            <a:extLst>
              <a:ext uri="{FF2B5EF4-FFF2-40B4-BE49-F238E27FC236}">
                <a16:creationId xmlns:a16="http://schemas.microsoft.com/office/drawing/2014/main" id="{1E5FEF8A-F472-4107-8E27-82DD9F98DE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8" name="Thema 9">
            <a:extLst>
              <a:ext uri="{FF2B5EF4-FFF2-40B4-BE49-F238E27FC236}">
                <a16:creationId xmlns:a16="http://schemas.microsoft.com/office/drawing/2014/main" id="{6E4AF8F3-89A8-4F9B-BA9E-56F9D85ACB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73464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9" name="Zahl Thema 9">
            <a:extLst>
              <a:ext uri="{FF2B5EF4-FFF2-40B4-BE49-F238E27FC236}">
                <a16:creationId xmlns:a16="http://schemas.microsoft.com/office/drawing/2014/main" id="{8176477D-061A-4734-9BB4-8EB4EA7D51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6" name="Thema 8">
            <a:extLst>
              <a:ext uri="{FF2B5EF4-FFF2-40B4-BE49-F238E27FC236}">
                <a16:creationId xmlns:a16="http://schemas.microsoft.com/office/drawing/2014/main" id="{DEB7B7BA-4EF3-4596-A8B9-6AF9FA83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73464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7" name="Zahl Thema 8">
            <a:extLst>
              <a:ext uri="{FF2B5EF4-FFF2-40B4-BE49-F238E27FC236}">
                <a16:creationId xmlns:a16="http://schemas.microsoft.com/office/drawing/2014/main" id="{8B5B5752-05E3-4E86-89B5-81394C15F4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60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2" name="Thema 7">
            <a:extLst>
              <a:ext uri="{FF2B5EF4-FFF2-40B4-BE49-F238E27FC236}">
                <a16:creationId xmlns:a16="http://schemas.microsoft.com/office/drawing/2014/main" id="{ECB4B40B-F372-42B2-A209-9BCB105906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73464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3" name="Zahl Thema 7">
            <a:extLst>
              <a:ext uri="{FF2B5EF4-FFF2-40B4-BE49-F238E27FC236}">
                <a16:creationId xmlns:a16="http://schemas.microsoft.com/office/drawing/2014/main" id="{B198888A-6AE9-48B6-99AF-A970F8D311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1" name="Thema 6">
            <a:extLst>
              <a:ext uri="{FF2B5EF4-FFF2-40B4-BE49-F238E27FC236}">
                <a16:creationId xmlns:a16="http://schemas.microsoft.com/office/drawing/2014/main" id="{B486ACC7-67B9-4B39-9EBF-88C3C35A4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0" name="Zahl Thema 6">
            <a:extLst>
              <a:ext uri="{FF2B5EF4-FFF2-40B4-BE49-F238E27FC236}">
                <a16:creationId xmlns:a16="http://schemas.microsoft.com/office/drawing/2014/main" id="{E307C616-82CC-4ADA-AE7F-E4DF02456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9" name="Thema 5">
            <a:extLst>
              <a:ext uri="{FF2B5EF4-FFF2-40B4-BE49-F238E27FC236}">
                <a16:creationId xmlns:a16="http://schemas.microsoft.com/office/drawing/2014/main" id="{5676FF1B-A5EC-4512-842C-E5CA0050FD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8" name="Zahl Thema 5">
            <a:extLst>
              <a:ext uri="{FF2B5EF4-FFF2-40B4-BE49-F238E27FC236}">
                <a16:creationId xmlns:a16="http://schemas.microsoft.com/office/drawing/2014/main" id="{A4D68514-EBB8-4602-81C1-9A5D352969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7" name="Thema 4">
            <a:extLst>
              <a:ext uri="{FF2B5EF4-FFF2-40B4-BE49-F238E27FC236}">
                <a16:creationId xmlns:a16="http://schemas.microsoft.com/office/drawing/2014/main" id="{3D37BC6F-D5CD-478E-BB54-34CB4BB84C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6" name="Zahl Thema 4">
            <a:extLst>
              <a:ext uri="{FF2B5EF4-FFF2-40B4-BE49-F238E27FC236}">
                <a16:creationId xmlns:a16="http://schemas.microsoft.com/office/drawing/2014/main" id="{84A15981-DDE4-4111-85F8-DBD9D59082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5" name="Thema 3">
            <a:extLst>
              <a:ext uri="{FF2B5EF4-FFF2-40B4-BE49-F238E27FC236}">
                <a16:creationId xmlns:a16="http://schemas.microsoft.com/office/drawing/2014/main" id="{20D0653C-5C34-4011-9A8C-EA212508A3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4" name="Zahl Thema 3">
            <a:extLst>
              <a:ext uri="{FF2B5EF4-FFF2-40B4-BE49-F238E27FC236}">
                <a16:creationId xmlns:a16="http://schemas.microsoft.com/office/drawing/2014/main" id="{719C4090-1909-4C92-9601-6C7EE6377D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1" name="Thema 2">
            <a:extLst>
              <a:ext uri="{FF2B5EF4-FFF2-40B4-BE49-F238E27FC236}">
                <a16:creationId xmlns:a16="http://schemas.microsoft.com/office/drawing/2014/main" id="{F4A45600-E5D3-4BCB-99B4-7B6ED053EF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0" name="Zahl Thema 2">
            <a:extLst>
              <a:ext uri="{FF2B5EF4-FFF2-40B4-BE49-F238E27FC236}">
                <a16:creationId xmlns:a16="http://schemas.microsoft.com/office/drawing/2014/main" id="{46686522-ADC7-4AB0-8104-D7BFD494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A1D8E86-48B3-E816-82F0-8ACCB5C82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B55D9B1-6938-AFAF-346B-965D43342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F48DE78-FCE3-AAE7-2C8B-2D4140448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C8AE983-E700-9F1D-EE99-D456A92F9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3124788"/>
            <a:ext cx="7642812" cy="251688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FA5BE219-D217-4C6A-423B-1420FC407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D257A07-4D71-A3F0-EA4C-B16D733B2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88AD4846-DF0E-F7DC-B779-40736A5B0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BF6C5F2-7C5B-01BD-2A39-609D9C28F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18128D0-8B12-8123-C40E-4514BBE8A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68497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A653920-3840-4C7B-E6AF-4FDF182F1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43154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BAC2144-94D4-6D8A-09E8-D74D0C013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833DA4B-8F97-93AA-8744-9479FD1A7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0B736549-604D-8A12-52C2-3CE2C7930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2620FD4-1E87-2DB2-995E-D1ECB6BEF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774B464-D0A5-FF4E-BF4C-060D0E523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E0E8A12-E39D-AC12-0184-CBBA3E63D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03911FAF-8E7F-48D9-B333-619FD953D2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56BD7DF-D3F8-4249-ED9A-656605A30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D957E07-FA7D-00E4-F81F-F349B9475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421DB95-AAB9-F03D-AC58-AF71FE022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AB31D063-1102-0A4E-CA05-4476EBFB0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0190861-E54A-9EAD-DE47-37428828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14A812D4-3677-38CD-4892-A63154565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FBEE152-EDF5-90EC-9FD7-6D3C70FA7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7D0CC61-209F-568C-89D6-23B3A5FC4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F89B70E-FD1A-55C6-6F0A-A6D44978F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D20E58A-8EEA-9A92-3EDA-66CD4D8A5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56005E4B-63EA-BD82-0400-20A8B217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67B0677-8ADB-0216-DF46-617E3C51E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02378864-6FF9-B4E3-E785-4390023F3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98A80BBB-BBEE-889E-8B0E-2E31C79B5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/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rgbClr val="2C2E2E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08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DB9242-2198-4F50-9940-0EBA7C6A7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AD1664-878F-4F30-B2A4-1377B1AD9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err="1"/>
              <a:t>Copy</a:t>
            </a:r>
            <a:r>
              <a:rPr lang="de-DE"/>
              <a:t> 18 Pt.</a:t>
            </a:r>
          </a:p>
          <a:p>
            <a:pPr lvl="1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 18 Pt.</a:t>
            </a:r>
          </a:p>
          <a:p>
            <a:pPr lvl="2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, eingerückt 16 Pt.</a:t>
            </a:r>
          </a:p>
          <a:p>
            <a:pPr lvl="3"/>
            <a:r>
              <a:rPr lang="de-DE"/>
              <a:t>Zwischenüberschrift 20 Pt. </a:t>
            </a:r>
            <a:r>
              <a:rPr lang="de-DE" err="1"/>
              <a:t>Bold</a:t>
            </a:r>
            <a:endParaRPr lang="de-DE"/>
          </a:p>
          <a:p>
            <a:pPr lvl="4"/>
            <a:r>
              <a:rPr lang="de-DE"/>
              <a:t>Einleitungstext 20 Pt. </a:t>
            </a:r>
            <a:r>
              <a:rPr lang="de-DE" err="1"/>
              <a:t>Bold</a:t>
            </a:r>
            <a:endParaRPr lang="de-DE"/>
          </a:p>
          <a:p>
            <a:pPr lvl="5"/>
            <a:r>
              <a:rPr lang="de-DE" err="1"/>
              <a:t>Subline</a:t>
            </a:r>
            <a:r>
              <a:rPr lang="de-DE"/>
              <a:t> 24 Pt.</a:t>
            </a:r>
          </a:p>
          <a:p>
            <a:pPr lvl="6"/>
            <a:r>
              <a:rPr lang="de-DE"/>
              <a:t>Statements!</a:t>
            </a:r>
          </a:p>
          <a:p>
            <a:pPr lvl="7"/>
            <a:r>
              <a:rPr lang="de-DE"/>
              <a:t>SRH </a:t>
            </a:r>
          </a:p>
          <a:p>
            <a:pPr lvl="8"/>
            <a:r>
              <a:rPr lang="de-DE"/>
              <a:t>Quelle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50" r:id="rId4"/>
    <p:sldLayoutId id="2147483651" r:id="rId5"/>
    <p:sldLayoutId id="2147483666" r:id="rId6"/>
    <p:sldLayoutId id="2147483686" r:id="rId7"/>
    <p:sldLayoutId id="2147483667" r:id="rId8"/>
    <p:sldLayoutId id="2147483664" r:id="rId9"/>
    <p:sldLayoutId id="2147483665" r:id="rId10"/>
    <p:sldLayoutId id="2147483661" r:id="rId11"/>
    <p:sldLayoutId id="2147483671" r:id="rId12"/>
    <p:sldLayoutId id="2147483672" r:id="rId13"/>
    <p:sldLayoutId id="2147483678" r:id="rId14"/>
    <p:sldLayoutId id="2147483673" r:id="rId15"/>
    <p:sldLayoutId id="2147483677" r:id="rId16"/>
    <p:sldLayoutId id="2147483683" r:id="rId17"/>
    <p:sldLayoutId id="2147483680" r:id="rId18"/>
    <p:sldLayoutId id="2147483684" r:id="rId19"/>
    <p:sldLayoutId id="2147483654" r:id="rId20"/>
    <p:sldLayoutId id="2147483655" r:id="rId21"/>
    <p:sldLayoutId id="2147483681" r:id="rId22"/>
    <p:sldLayoutId id="2147483682" r:id="rId2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1pPr>
      <a:lvl2pPr marL="360000" indent="-360000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2pPr>
      <a:lvl3pPr marL="720000" indent="-360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2400"/>
        </a:spcBef>
        <a:buFont typeface="SRH" panose="020B0503020204020204" pitchFamily="34" charset="0"/>
        <a:buNone/>
        <a:defRPr sz="2000" b="1" kern="1200">
          <a:solidFill>
            <a:schemeClr val="accent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4pPr>
      <a:lvl5pPr marL="0" indent="0" algn="l" defTabSz="914400" rtl="0" eaLnBrk="1" latinLnBrk="0" hangingPunct="1">
        <a:lnSpc>
          <a:spcPct val="110000"/>
        </a:lnSpc>
        <a:spcBef>
          <a:spcPts val="1200"/>
        </a:spcBef>
        <a:buFont typeface="SRH" panose="020B0503020204020204" pitchFamily="34" charset="0"/>
        <a:buNone/>
        <a:defRPr sz="2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5pPr>
      <a:lvl6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2400" b="0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6pPr>
      <a:lvl7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4800" b="1" kern="1200">
          <a:solidFill>
            <a:schemeClr val="accent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7pPr>
      <a:lvl8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8pPr>
      <a:lvl9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26" userDrawn="1">
          <p15:clr>
            <a:srgbClr val="F26B43"/>
          </p15:clr>
        </p15:guide>
        <p15:guide id="4" pos="7453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1088" userDrawn="1">
          <p15:clr>
            <a:srgbClr val="F26B43"/>
          </p15:clr>
        </p15:guide>
        <p15:guide id="8" orient="horz" pos="3753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  <p15:guide id="10" pos="59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B0378-C26E-AB17-21B7-398B7D1B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Goal 2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Autonomous</a:t>
            </a:r>
            <a:r>
              <a:rPr lang="de-DE" dirty="0"/>
              <a:t> Compliance Sentinel</a:t>
            </a:r>
            <a:br>
              <a:rPr lang="de-DE" dirty="0"/>
            </a:br>
            <a:br>
              <a:rPr lang="de-DE" dirty="0"/>
            </a:br>
            <a:r>
              <a:rPr lang="de-DE" sz="3200" b="0" dirty="0"/>
              <a:t>Baseline </a:t>
            </a:r>
            <a:r>
              <a:rPr lang="de-DE" sz="3200" b="0" dirty="0" err="1"/>
              <a:t>model</a:t>
            </a:r>
            <a:r>
              <a:rPr lang="de-DE" sz="3200" b="0" dirty="0"/>
              <a:t> · Risk </a:t>
            </a:r>
            <a:r>
              <a:rPr lang="de-DE" sz="3200" b="0" dirty="0" err="1"/>
              <a:t>analysis</a:t>
            </a:r>
            <a:r>
              <a:rPr lang="de-DE" sz="3200" b="0" dirty="0"/>
              <a:t> · Fairness </a:t>
            </a:r>
            <a:r>
              <a:rPr lang="de-DE" sz="3200" b="0" dirty="0" err="1"/>
              <a:t>analysis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428781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58E6C11-B02C-0DBF-5458-31B2FE52E4FB}"/>
              </a:ext>
            </a:extLst>
          </p:cNvPr>
          <p:cNvSpPr/>
          <p:nvPr/>
        </p:nvSpPr>
        <p:spPr>
          <a:xfrm>
            <a:off x="2838292" y="1760219"/>
            <a:ext cx="3732736" cy="2563807"/>
          </a:xfrm>
          <a:prstGeom prst="rect">
            <a:avLst/>
          </a:prstGeom>
          <a:noFill/>
          <a:ln w="38100">
            <a:solidFill>
              <a:srgbClr val="0069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E1682F1A-BD2D-0D39-F97C-7A3091F87CC3}"/>
              </a:ext>
            </a:extLst>
          </p:cNvPr>
          <p:cNvSpPr/>
          <p:nvPr/>
        </p:nvSpPr>
        <p:spPr>
          <a:xfrm>
            <a:off x="2924628" y="2078865"/>
            <a:ext cx="1535365" cy="761184"/>
          </a:xfrm>
          <a:prstGeom prst="rect">
            <a:avLst/>
          </a:prstGeom>
          <a:solidFill>
            <a:srgbClr val="FA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5F42C75E-4B7D-D4DB-EC63-30C097AF0851}"/>
              </a:ext>
            </a:extLst>
          </p:cNvPr>
          <p:cNvSpPr/>
          <p:nvPr/>
        </p:nvSpPr>
        <p:spPr>
          <a:xfrm>
            <a:off x="5057013" y="2107110"/>
            <a:ext cx="1444443" cy="761184"/>
          </a:xfrm>
          <a:prstGeom prst="rect">
            <a:avLst/>
          </a:prstGeom>
          <a:solidFill>
            <a:srgbClr val="FA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13CE3A37-D797-CD79-4413-AD40A4014348}"/>
              </a:ext>
            </a:extLst>
          </p:cNvPr>
          <p:cNvSpPr/>
          <p:nvPr/>
        </p:nvSpPr>
        <p:spPr>
          <a:xfrm>
            <a:off x="7090712" y="2097971"/>
            <a:ext cx="1444443" cy="761184"/>
          </a:xfrm>
          <a:prstGeom prst="rect">
            <a:avLst/>
          </a:prstGeom>
          <a:solidFill>
            <a:srgbClr val="FA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BEA77D68-AE78-EE78-1B4F-A4A192974C8A}"/>
              </a:ext>
            </a:extLst>
          </p:cNvPr>
          <p:cNvSpPr/>
          <p:nvPr/>
        </p:nvSpPr>
        <p:spPr>
          <a:xfrm>
            <a:off x="804924" y="2116918"/>
            <a:ext cx="1444443" cy="761184"/>
          </a:xfrm>
          <a:prstGeom prst="rect">
            <a:avLst/>
          </a:prstGeom>
          <a:solidFill>
            <a:srgbClr val="FA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18E6B7F-41BA-A27E-5849-27E881030EBF}"/>
              </a:ext>
            </a:extLst>
          </p:cNvPr>
          <p:cNvSpPr/>
          <p:nvPr/>
        </p:nvSpPr>
        <p:spPr>
          <a:xfrm>
            <a:off x="36175" y="1760220"/>
            <a:ext cx="9302135" cy="3954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sz="2000" b="1" dirty="0">
              <a:solidFill>
                <a:srgbClr val="DF4807"/>
              </a:solidFill>
            </a:endParaRPr>
          </a:p>
          <a:p>
            <a:pPr algn="ctr"/>
            <a:r>
              <a:rPr lang="de-DE" sz="2800" b="1" dirty="0">
                <a:solidFill>
                  <a:srgbClr val="DF4807"/>
                </a:solidFill>
              </a:rPr>
              <a:t>Sentinel </a:t>
            </a:r>
            <a:r>
              <a:rPr lang="en-US" sz="2800" b="1" noProof="0" dirty="0">
                <a:solidFill>
                  <a:srgbClr val="DF4807"/>
                </a:solidFill>
              </a:rPr>
              <a:t>package</a:t>
            </a:r>
            <a:endParaRPr lang="de-DE" sz="2800" b="1" dirty="0">
              <a:solidFill>
                <a:srgbClr val="DF4807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8ACF83A5-5340-F203-C9ED-BDC53D2B0FFE}"/>
              </a:ext>
            </a:extLst>
          </p:cNvPr>
          <p:cNvSpPr/>
          <p:nvPr/>
        </p:nvSpPr>
        <p:spPr>
          <a:xfrm>
            <a:off x="7090712" y="2740004"/>
            <a:ext cx="1444443" cy="1383332"/>
          </a:xfrm>
          <a:prstGeom prst="rect">
            <a:avLst/>
          </a:prstGeom>
          <a:solidFill>
            <a:srgbClr val="F1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519EA144-828D-7CD3-407C-D0F536197DFA}"/>
              </a:ext>
            </a:extLst>
          </p:cNvPr>
          <p:cNvSpPr/>
          <p:nvPr/>
        </p:nvSpPr>
        <p:spPr>
          <a:xfrm>
            <a:off x="5049781" y="2723566"/>
            <a:ext cx="1444443" cy="1383332"/>
          </a:xfrm>
          <a:prstGeom prst="rect">
            <a:avLst/>
          </a:prstGeom>
          <a:solidFill>
            <a:srgbClr val="F1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0124292D-6C91-BCA4-59EB-A82725D17AB0}"/>
              </a:ext>
            </a:extLst>
          </p:cNvPr>
          <p:cNvSpPr/>
          <p:nvPr/>
        </p:nvSpPr>
        <p:spPr>
          <a:xfrm>
            <a:off x="2927683" y="2706350"/>
            <a:ext cx="1532310" cy="1383332"/>
          </a:xfrm>
          <a:prstGeom prst="rect">
            <a:avLst/>
          </a:prstGeom>
          <a:solidFill>
            <a:srgbClr val="F1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F2C2D9BF-1592-7818-32B9-E44047C3C7ED}"/>
              </a:ext>
            </a:extLst>
          </p:cNvPr>
          <p:cNvSpPr/>
          <p:nvPr/>
        </p:nvSpPr>
        <p:spPr>
          <a:xfrm>
            <a:off x="819006" y="2706350"/>
            <a:ext cx="1444443" cy="1383332"/>
          </a:xfrm>
          <a:prstGeom prst="rect">
            <a:avLst/>
          </a:prstGeom>
          <a:solidFill>
            <a:srgbClr val="F1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4CB005-242E-53C8-653E-747450F3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making</a:t>
            </a:r>
            <a:r>
              <a:rPr lang="de-DE" dirty="0"/>
              <a:t> a </a:t>
            </a:r>
            <a:r>
              <a:rPr lang="de-DE" dirty="0" err="1"/>
              <a:t>decision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CF039-17F7-5BFE-3184-A1526BFF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F11CB4-E512-2D0F-FB5F-5E9C36FB61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10.07.2026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5810BE-606C-48D9-C335-D5289FBA5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CD819AD-FA2F-F6CB-8B51-65D80CECBEE8}"/>
              </a:ext>
            </a:extLst>
          </p:cNvPr>
          <p:cNvSpPr txBox="1"/>
          <p:nvPr/>
        </p:nvSpPr>
        <p:spPr>
          <a:xfrm>
            <a:off x="235458" y="2183130"/>
            <a:ext cx="252603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dirty="0">
                <a:solidFill>
                  <a:srgbClr val="DF4807"/>
                </a:solidFill>
                <a:latin typeface="Calibri"/>
              </a:rPr>
              <a:t>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0EB4E67-5378-BA00-20EB-89EEB4F4D65A}"/>
              </a:ext>
            </a:extLst>
          </p:cNvPr>
          <p:cNvSpPr txBox="1"/>
          <p:nvPr/>
        </p:nvSpPr>
        <p:spPr>
          <a:xfrm>
            <a:off x="235458" y="2868930"/>
            <a:ext cx="252603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>
                <a:solidFill>
                  <a:srgbClr val="1B2A4A"/>
                </a:solidFill>
                <a:latin typeface="Calibri"/>
              </a:rPr>
              <a:t>Read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the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text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C17398F-1FBC-7A6B-1140-97ABE1488983}"/>
              </a:ext>
            </a:extLst>
          </p:cNvPr>
          <p:cNvSpPr txBox="1"/>
          <p:nvPr/>
        </p:nvSpPr>
        <p:spPr>
          <a:xfrm>
            <a:off x="235458" y="3326130"/>
            <a:ext cx="2526030" cy="628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Import </a:t>
            </a:r>
            <a:r>
              <a:rPr lang="de-DE" sz="1250" dirty="0" err="1">
                <a:solidFill>
                  <a:srgbClr val="5A6372"/>
                </a:solidFill>
                <a:latin typeface="Calibri"/>
              </a:rPr>
              <a:t>the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application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 </a:t>
            </a:r>
            <a:r>
              <a:rPr lang="de-DE" sz="1250" dirty="0" err="1">
                <a:solidFill>
                  <a:srgbClr val="5A6372"/>
                </a:solidFill>
                <a:latin typeface="Calibri"/>
              </a:rPr>
              <a:t>as</a:t>
            </a:r>
            <a:endParaRPr lang="de-DE" sz="1250" dirty="0">
              <a:solidFill>
                <a:srgbClr val="5A6372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plain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 </a:t>
            </a:r>
            <a:r>
              <a:rPr lang="de-DE" sz="1250" dirty="0" err="1">
                <a:solidFill>
                  <a:srgbClr val="5A6372"/>
                </a:solidFill>
                <a:latin typeface="Calibri"/>
              </a:rPr>
              <a:t>text</a:t>
            </a:r>
            <a:endParaRPr sz="1250" b="0" dirty="0">
              <a:solidFill>
                <a:srgbClr val="5A6372"/>
              </a:solidFill>
              <a:latin typeface="Calibri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E47C2246-5E5B-5B73-3F63-F2F2840F4BA4}"/>
              </a:ext>
            </a:extLst>
          </p:cNvPr>
          <p:cNvSpPr txBox="1"/>
          <p:nvPr/>
        </p:nvSpPr>
        <p:spPr>
          <a:xfrm>
            <a:off x="2432002" y="2183130"/>
            <a:ext cx="252603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dirty="0">
                <a:solidFill>
                  <a:srgbClr val="DF4807"/>
                </a:solidFill>
                <a:latin typeface="Calibri"/>
              </a:rPr>
              <a:t>2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332B247-D1C0-31E2-4D5B-A5331F0A3B11}"/>
              </a:ext>
            </a:extLst>
          </p:cNvPr>
          <p:cNvSpPr txBox="1"/>
          <p:nvPr/>
        </p:nvSpPr>
        <p:spPr>
          <a:xfrm>
            <a:off x="2432002" y="2868930"/>
            <a:ext cx="252603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>
                <a:solidFill>
                  <a:srgbClr val="1B2A4A"/>
                </a:solidFill>
                <a:latin typeface="Calibri"/>
              </a:rPr>
              <a:t>Text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to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Numbers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BE57541A-6086-226A-946A-ED3C7B0F1C57}"/>
              </a:ext>
            </a:extLst>
          </p:cNvPr>
          <p:cNvSpPr txBox="1"/>
          <p:nvPr/>
        </p:nvSpPr>
        <p:spPr>
          <a:xfrm>
            <a:off x="2432002" y="3326130"/>
            <a:ext cx="2526030" cy="628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TF-IDF: </a:t>
            </a:r>
            <a:r>
              <a:rPr lang="de-DE" sz="1250" dirty="0" err="1">
                <a:solidFill>
                  <a:srgbClr val="5A6372"/>
                </a:solidFill>
                <a:latin typeface="Calibri"/>
              </a:rPr>
              <a:t>weighting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important</a:t>
            </a:r>
            <a:endParaRPr lang="de-DE" sz="1250" dirty="0">
              <a:solidFill>
                <a:srgbClr val="5A6372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words</a:t>
            </a:r>
            <a:endParaRPr sz="1250" b="0" dirty="0">
              <a:solidFill>
                <a:srgbClr val="5A6372"/>
              </a:solidFill>
              <a:latin typeface="Calibri"/>
            </a:endParaRP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08DF7462-C6B7-0A52-69D9-D17EDB4D0D4B}"/>
              </a:ext>
            </a:extLst>
          </p:cNvPr>
          <p:cNvSpPr txBox="1"/>
          <p:nvPr/>
        </p:nvSpPr>
        <p:spPr>
          <a:xfrm>
            <a:off x="4501515" y="2183130"/>
            <a:ext cx="252603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dirty="0">
                <a:solidFill>
                  <a:srgbClr val="DF4807"/>
                </a:solidFill>
                <a:latin typeface="Calibri"/>
              </a:rPr>
              <a:t>3</a:t>
            </a: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9D4E3D55-402A-8164-FDB6-DC49E4379CBE}"/>
              </a:ext>
            </a:extLst>
          </p:cNvPr>
          <p:cNvSpPr txBox="1"/>
          <p:nvPr/>
        </p:nvSpPr>
        <p:spPr>
          <a:xfrm>
            <a:off x="4501515" y="2868930"/>
            <a:ext cx="252603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Decide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4D01D03A-72DC-7C8B-BAD7-2A32D74C9749}"/>
              </a:ext>
            </a:extLst>
          </p:cNvPr>
          <p:cNvSpPr txBox="1"/>
          <p:nvPr/>
        </p:nvSpPr>
        <p:spPr>
          <a:xfrm>
            <a:off x="4501515" y="3326130"/>
            <a:ext cx="252603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Logistic</a:t>
            </a:r>
            <a:r>
              <a:rPr sz="1250" b="0" dirty="0">
                <a:solidFill>
                  <a:srgbClr val="5A6372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A6372"/>
                </a:solidFill>
                <a:latin typeface="Calibri"/>
              </a:rPr>
              <a:t>Regr</a:t>
            </a:r>
            <a:r>
              <a:rPr sz="1250" b="0" dirty="0">
                <a:solidFill>
                  <a:srgbClr val="5A6372"/>
                </a:solidFill>
                <a:latin typeface="Calibri"/>
              </a:rPr>
              <a:t>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5A6372"/>
                </a:solidFill>
                <a:latin typeface="Calibri"/>
              </a:rPr>
              <a:t>Red Flag? (0–1)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80BB8BEA-5849-9174-7397-BF9C4D3E57DD}"/>
              </a:ext>
            </a:extLst>
          </p:cNvPr>
          <p:cNvSpPr txBox="1"/>
          <p:nvPr/>
        </p:nvSpPr>
        <p:spPr>
          <a:xfrm>
            <a:off x="6571028" y="2194242"/>
            <a:ext cx="252603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dirty="0">
                <a:solidFill>
                  <a:srgbClr val="DF4807"/>
                </a:solidFill>
                <a:latin typeface="Calibri"/>
              </a:rPr>
              <a:t>4</a:t>
            </a:r>
          </a:p>
        </p:txBody>
      </p:sp>
      <p:sp>
        <p:nvSpPr>
          <p:cNvPr id="20" name="TextBox 29">
            <a:extLst>
              <a:ext uri="{FF2B5EF4-FFF2-40B4-BE49-F238E27FC236}">
                <a16:creationId xmlns:a16="http://schemas.microsoft.com/office/drawing/2014/main" id="{1372A2DE-455A-DB29-2981-E5C173B4A97E}"/>
              </a:ext>
            </a:extLst>
          </p:cNvPr>
          <p:cNvSpPr txBox="1"/>
          <p:nvPr/>
        </p:nvSpPr>
        <p:spPr>
          <a:xfrm>
            <a:off x="6571028" y="2880042"/>
            <a:ext cx="252603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Validate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1" name="TextBox 30">
            <a:extLst>
              <a:ext uri="{FF2B5EF4-FFF2-40B4-BE49-F238E27FC236}">
                <a16:creationId xmlns:a16="http://schemas.microsoft.com/office/drawing/2014/main" id="{211BCDF9-10F7-D92D-DF5E-AC89EE940474}"/>
              </a:ext>
            </a:extLst>
          </p:cNvPr>
          <p:cNvSpPr txBox="1"/>
          <p:nvPr/>
        </p:nvSpPr>
        <p:spPr>
          <a:xfrm>
            <a:off x="6571028" y="3337242"/>
            <a:ext cx="252603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Metrics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, Risk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&amp; Fairness</a:t>
            </a:r>
            <a:endParaRPr sz="1250" b="0" dirty="0">
              <a:solidFill>
                <a:srgbClr val="5A6372"/>
              </a:solidFill>
              <a:latin typeface="Calibri"/>
            </a:endParaRPr>
          </a:p>
        </p:txBody>
      </p:sp>
      <p:sp>
        <p:nvSpPr>
          <p:cNvPr id="22" name="Pfeil nach rechts 21">
            <a:extLst>
              <a:ext uri="{FF2B5EF4-FFF2-40B4-BE49-F238E27FC236}">
                <a16:creationId xmlns:a16="http://schemas.microsoft.com/office/drawing/2014/main" id="{CBC2EEF8-94E0-3DA8-ACF4-41C9DE6C53B4}"/>
              </a:ext>
            </a:extLst>
          </p:cNvPr>
          <p:cNvSpPr/>
          <p:nvPr/>
        </p:nvSpPr>
        <p:spPr>
          <a:xfrm>
            <a:off x="2454862" y="3165184"/>
            <a:ext cx="290322" cy="179491"/>
          </a:xfrm>
          <a:prstGeom prst="rightArrow">
            <a:avLst/>
          </a:prstGeom>
          <a:solidFill>
            <a:srgbClr val="0D3A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 nach rechts 23">
            <a:extLst>
              <a:ext uri="{FF2B5EF4-FFF2-40B4-BE49-F238E27FC236}">
                <a16:creationId xmlns:a16="http://schemas.microsoft.com/office/drawing/2014/main" id="{93DD72BE-2AEF-93BA-CA2C-D37F7D1117B0}"/>
              </a:ext>
            </a:extLst>
          </p:cNvPr>
          <p:cNvSpPr/>
          <p:nvPr/>
        </p:nvSpPr>
        <p:spPr>
          <a:xfrm>
            <a:off x="4630221" y="3159627"/>
            <a:ext cx="290322" cy="179491"/>
          </a:xfrm>
          <a:prstGeom prst="rightArrow">
            <a:avLst/>
          </a:prstGeom>
          <a:solidFill>
            <a:srgbClr val="0D3A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 nach rechts 24">
            <a:extLst>
              <a:ext uri="{FF2B5EF4-FFF2-40B4-BE49-F238E27FC236}">
                <a16:creationId xmlns:a16="http://schemas.microsoft.com/office/drawing/2014/main" id="{35E730F7-6B36-60DE-EFD6-5F90FDF68362}"/>
              </a:ext>
            </a:extLst>
          </p:cNvPr>
          <p:cNvSpPr/>
          <p:nvPr/>
        </p:nvSpPr>
        <p:spPr>
          <a:xfrm>
            <a:off x="6637250" y="3163550"/>
            <a:ext cx="290322" cy="179491"/>
          </a:xfrm>
          <a:prstGeom prst="rightArrow">
            <a:avLst/>
          </a:prstGeom>
          <a:solidFill>
            <a:srgbClr val="0D3A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186D05-C9EB-3F3D-034F-C13C21E6FD68}"/>
              </a:ext>
            </a:extLst>
          </p:cNvPr>
          <p:cNvSpPr txBox="1"/>
          <p:nvPr/>
        </p:nvSpPr>
        <p:spPr>
          <a:xfrm>
            <a:off x="3914333" y="1596633"/>
            <a:ext cx="161775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99A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Baseline </a:t>
            </a:r>
            <a:r>
              <a:rPr lang="de-DE" dirty="0" err="1"/>
              <a:t>model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E686682-5DD9-849E-2F1E-FAA40B11D7C8}"/>
              </a:ext>
            </a:extLst>
          </p:cNvPr>
          <p:cNvSpPr/>
          <p:nvPr/>
        </p:nvSpPr>
        <p:spPr>
          <a:xfrm>
            <a:off x="6993795" y="1760220"/>
            <a:ext cx="1623264" cy="2563807"/>
          </a:xfrm>
          <a:prstGeom prst="rect">
            <a:avLst/>
          </a:prstGeom>
          <a:noFill/>
          <a:ln w="38100">
            <a:solidFill>
              <a:srgbClr val="0069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43C333-B19A-9149-4808-9150410D40C7}"/>
              </a:ext>
            </a:extLst>
          </p:cNvPr>
          <p:cNvSpPr txBox="1"/>
          <p:nvPr/>
        </p:nvSpPr>
        <p:spPr>
          <a:xfrm>
            <a:off x="7328961" y="1581897"/>
            <a:ext cx="97314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99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52846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6215-0C01-9874-D59D-B2062B08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5CCF9-0305-A081-27AE-ED95D27E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a ML </a:t>
            </a:r>
            <a:r>
              <a:rPr lang="de-DE" dirty="0" err="1"/>
              <a:t>model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3FAE10-D186-66B8-4BA6-FC3E3BBD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Generalises</a:t>
            </a:r>
            <a:r>
              <a:rPr lang="de-DE" b="1" dirty="0"/>
              <a:t> </a:t>
            </a:r>
            <a:r>
              <a:rPr lang="de-DE" b="1" dirty="0" err="1"/>
              <a:t>beyond</a:t>
            </a:r>
            <a:r>
              <a:rPr lang="de-DE" b="1" dirty="0"/>
              <a:t> </a:t>
            </a:r>
            <a:r>
              <a:rPr lang="de-DE" b="1" dirty="0" err="1"/>
              <a:t>keywords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Flags </a:t>
            </a:r>
            <a:r>
              <a:rPr lang="de-DE" b="1" dirty="0" err="1">
                <a:solidFill>
                  <a:srgbClr val="DF4807"/>
                </a:solidFill>
              </a:rPr>
              <a:t>violations</a:t>
            </a:r>
            <a:r>
              <a:rPr lang="de-DE" dirty="0"/>
              <a:t> </a:t>
            </a:r>
            <a:r>
              <a:rPr lang="de-DE" dirty="0" err="1"/>
              <a:t>phrased</a:t>
            </a:r>
            <a:r>
              <a:rPr lang="de-DE" dirty="0"/>
              <a:t> in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ways</a:t>
            </a:r>
            <a:r>
              <a:rPr lang="de-DE" dirty="0"/>
              <a:t>, not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exact</a:t>
            </a:r>
            <a:r>
              <a:rPr lang="de-DE" dirty="0"/>
              <a:t> </a:t>
            </a:r>
            <a:r>
              <a:rPr lang="de-DE" dirty="0" err="1"/>
              <a:t>matches</a:t>
            </a:r>
            <a:br>
              <a:rPr lang="de-DE" dirty="0"/>
            </a:b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Probability</a:t>
            </a:r>
            <a:r>
              <a:rPr lang="de-DE" b="1" dirty="0"/>
              <a:t> score (0-1)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A </a:t>
            </a:r>
            <a:r>
              <a:rPr lang="de-DE" dirty="0" err="1"/>
              <a:t>risk</a:t>
            </a:r>
            <a:r>
              <a:rPr lang="de-DE" dirty="0"/>
              <a:t> score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plain</a:t>
            </a:r>
            <a:r>
              <a:rPr lang="de-DE" dirty="0"/>
              <a:t> </a:t>
            </a:r>
            <a:r>
              <a:rPr lang="de-DE" dirty="0" err="1"/>
              <a:t>yes</a:t>
            </a:r>
            <a:r>
              <a:rPr lang="de-DE" dirty="0"/>
              <a:t>/</a:t>
            </a:r>
            <a:r>
              <a:rPr lang="de-DE" dirty="0" err="1"/>
              <a:t>no</a:t>
            </a:r>
            <a:r>
              <a:rPr lang="de-DE" dirty="0"/>
              <a:t>, so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a </a:t>
            </a:r>
            <a:r>
              <a:rPr lang="de-DE" dirty="0" err="1"/>
              <a:t>threshold</a:t>
            </a:r>
            <a:r>
              <a:rPr lang="de-DE" dirty="0"/>
              <a:t> and </a:t>
            </a:r>
            <a:r>
              <a:rPr lang="de-DE" b="1" dirty="0" err="1">
                <a:solidFill>
                  <a:srgbClr val="DF4807"/>
                </a:solidFill>
              </a:rPr>
              <a:t>prioritise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by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risk</a:t>
            </a:r>
            <a:br>
              <a:rPr lang="de-DE" dirty="0"/>
            </a:b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 err="1"/>
              <a:t>Systematic</a:t>
            </a:r>
            <a:r>
              <a:rPr lang="de-DE" b="1" dirty="0"/>
              <a:t> </a:t>
            </a:r>
            <a:r>
              <a:rPr lang="de-DE" b="1" dirty="0" err="1"/>
              <a:t>evaluation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 err="1">
                <a:solidFill>
                  <a:srgbClr val="575756"/>
                </a:solidFill>
              </a:rPr>
              <a:t>Consistent</a:t>
            </a:r>
            <a:r>
              <a:rPr lang="de-DE" dirty="0">
                <a:solidFill>
                  <a:srgbClr val="575756"/>
                </a:solidFill>
              </a:rPr>
              <a:t> </a:t>
            </a:r>
            <a:r>
              <a:rPr lang="de-DE" dirty="0" err="1">
                <a:solidFill>
                  <a:srgbClr val="575756"/>
                </a:solidFill>
              </a:rPr>
              <a:t>scores</a:t>
            </a:r>
            <a:r>
              <a:rPr lang="de-DE" dirty="0">
                <a:solidFill>
                  <a:srgbClr val="575756"/>
                </a:solidFill>
              </a:rPr>
              <a:t> </a:t>
            </a:r>
            <a:r>
              <a:rPr lang="de-DE" dirty="0" err="1">
                <a:solidFill>
                  <a:srgbClr val="575756"/>
                </a:solidFill>
              </a:rPr>
              <a:t>make</a:t>
            </a:r>
            <a:r>
              <a:rPr lang="de-DE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metrics</a:t>
            </a:r>
            <a:r>
              <a:rPr lang="de-DE" dirty="0">
                <a:solidFill>
                  <a:srgbClr val="575756"/>
                </a:solidFill>
              </a:rPr>
              <a:t>, </a:t>
            </a:r>
            <a:r>
              <a:rPr lang="de-DE" dirty="0" err="1">
                <a:solidFill>
                  <a:srgbClr val="575756"/>
                </a:solidFill>
              </a:rPr>
              <a:t>fairness</a:t>
            </a:r>
            <a:r>
              <a:rPr lang="de-DE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checks</a:t>
            </a:r>
            <a:r>
              <a:rPr lang="de-DE" dirty="0">
                <a:solidFill>
                  <a:srgbClr val="575756"/>
                </a:solidFill>
              </a:rPr>
              <a:t> and XAI </a:t>
            </a:r>
            <a:r>
              <a:rPr lang="de-DE" b="1" dirty="0" err="1">
                <a:solidFill>
                  <a:srgbClr val="DF4807"/>
                </a:solidFill>
              </a:rPr>
              <a:t>comparable</a:t>
            </a:r>
            <a:r>
              <a:rPr lang="de-DE" dirty="0">
                <a:solidFill>
                  <a:srgbClr val="575756"/>
                </a:solidFill>
              </a:rPr>
              <a:t> and </a:t>
            </a:r>
            <a:r>
              <a:rPr lang="de-DE" b="1" dirty="0" err="1">
                <a:solidFill>
                  <a:srgbClr val="DF4807"/>
                </a:solidFill>
              </a:rPr>
              <a:t>repeatable</a:t>
            </a:r>
            <a:br>
              <a:rPr lang="de-DE" b="1" dirty="0">
                <a:solidFill>
                  <a:srgbClr val="DF4807"/>
                </a:solidFill>
              </a:rPr>
            </a:br>
            <a:endParaRPr lang="de-DE" b="1" dirty="0">
              <a:solidFill>
                <a:srgbClr val="DF480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1" dirty="0"/>
              <a:t>Robust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 err="1"/>
              <a:t>Relies</a:t>
            </a:r>
            <a:r>
              <a:rPr lang="de-DE" dirty="0"/>
              <a:t> on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weighted</a:t>
            </a:r>
            <a:r>
              <a:rPr lang="de-DE" dirty="0"/>
              <a:t> </a:t>
            </a:r>
            <a:r>
              <a:rPr lang="de-DE" b="1" dirty="0" err="1">
                <a:solidFill>
                  <a:srgbClr val="DF4807"/>
                </a:solidFill>
              </a:rPr>
              <a:t>signals</a:t>
            </a:r>
            <a:r>
              <a:rPr lang="de-DE" dirty="0"/>
              <a:t> and </a:t>
            </a: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retrained</a:t>
            </a:r>
            <a:r>
              <a:rPr lang="de-DE" dirty="0"/>
              <a:t> on </a:t>
            </a:r>
            <a:r>
              <a:rPr lang="de-DE" b="1" dirty="0" err="1">
                <a:solidFill>
                  <a:srgbClr val="DF4807"/>
                </a:solidFill>
              </a:rPr>
              <a:t>new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data</a:t>
            </a:r>
            <a:endParaRPr lang="de-DE" b="1" dirty="0">
              <a:solidFill>
                <a:srgbClr val="DF4807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10C33C-BBCD-F600-DD75-76EAAEB0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A72298-B951-F9C2-3BCD-B4DF7B7DC7B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10.07.2026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09757A-5890-5580-6666-40AAC97AD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653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559C-DCCF-11F7-EBA5-AD388B1E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">
            <a:extLst>
              <a:ext uri="{FF2B5EF4-FFF2-40B4-BE49-F238E27FC236}">
                <a16:creationId xmlns:a16="http://schemas.microsoft.com/office/drawing/2014/main" id="{D88FE3EE-ADD0-4E15-434E-9E6CC7E9786C}"/>
              </a:ext>
            </a:extLst>
          </p:cNvPr>
          <p:cNvSpPr/>
          <p:nvPr/>
        </p:nvSpPr>
        <p:spPr>
          <a:xfrm>
            <a:off x="484884" y="2116918"/>
            <a:ext cx="2841246" cy="7611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5747DD22-98C8-43E4-BF2B-91DF95DC8DD5}"/>
              </a:ext>
            </a:extLst>
          </p:cNvPr>
          <p:cNvSpPr/>
          <p:nvPr/>
        </p:nvSpPr>
        <p:spPr>
          <a:xfrm>
            <a:off x="498966" y="2706350"/>
            <a:ext cx="2827164" cy="196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92BD25-723D-717D-EF01-595D3810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Three</a:t>
            </a:r>
            <a:r>
              <a:rPr lang="de-DE" dirty="0"/>
              <a:t> Frameworks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9E7B80-DB80-B6BC-0D1C-66F2B3B8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4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5A882B-837E-6BEA-0DDF-471037D0598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10.07.2026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746E0B-EB79-A1C2-A886-4D43DF360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4AE4E8-8042-EC79-EB4D-6EBFD5B7C328}"/>
              </a:ext>
            </a:extLst>
          </p:cNvPr>
          <p:cNvSpPr txBox="1"/>
          <p:nvPr/>
        </p:nvSpPr>
        <p:spPr>
          <a:xfrm>
            <a:off x="642492" y="2193582"/>
            <a:ext cx="2526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2800" b="1" dirty="0">
                <a:solidFill>
                  <a:srgbClr val="575756"/>
                </a:solidFill>
                <a:latin typeface="Calibri"/>
              </a:rPr>
              <a:t>Standard</a:t>
            </a:r>
            <a:endParaRPr sz="3400" b="1" dirty="0">
              <a:solidFill>
                <a:srgbClr val="575756"/>
              </a:solidFill>
              <a:latin typeface="Calibri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F6A329-E3E5-8B61-68EB-A2E5D551C222}"/>
              </a:ext>
            </a:extLst>
          </p:cNvPr>
          <p:cNvSpPr txBox="1"/>
          <p:nvPr/>
        </p:nvSpPr>
        <p:spPr>
          <a:xfrm>
            <a:off x="498966" y="2954766"/>
            <a:ext cx="28271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What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are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our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criteria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?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B54CC6-12C4-2895-78FB-A4A7EED7E7AD}"/>
              </a:ext>
            </a:extLst>
          </p:cNvPr>
          <p:cNvSpPr txBox="1"/>
          <p:nvPr/>
        </p:nvSpPr>
        <p:spPr>
          <a:xfrm>
            <a:off x="484884" y="3543300"/>
            <a:ext cx="2827164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EU AI Act + ISO/IEC 27001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own RAI-01…09-Catalogue</a:t>
            </a:r>
            <a:endParaRPr sz="1250" b="0" dirty="0">
              <a:solidFill>
                <a:srgbClr val="5A6372"/>
              </a:solidFill>
              <a:latin typeface="Calibri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4805D765-A332-4DD3-AA0E-E30D800FC517}"/>
              </a:ext>
            </a:extLst>
          </p:cNvPr>
          <p:cNvSpPr/>
          <p:nvPr/>
        </p:nvSpPr>
        <p:spPr>
          <a:xfrm>
            <a:off x="3673854" y="2116918"/>
            <a:ext cx="2841246" cy="761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CF5E30A-F3AB-0ADF-C367-E0977B7A61AA}"/>
              </a:ext>
            </a:extLst>
          </p:cNvPr>
          <p:cNvSpPr/>
          <p:nvPr/>
        </p:nvSpPr>
        <p:spPr>
          <a:xfrm>
            <a:off x="3687936" y="2706350"/>
            <a:ext cx="2827164" cy="1968520"/>
          </a:xfrm>
          <a:prstGeom prst="rect">
            <a:avLst/>
          </a:prstGeom>
          <a:solidFill>
            <a:srgbClr val="FA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AAF41F4B-245C-036D-A0ED-AC4F7B63BB45}"/>
              </a:ext>
            </a:extLst>
          </p:cNvPr>
          <p:cNvSpPr txBox="1"/>
          <p:nvPr/>
        </p:nvSpPr>
        <p:spPr>
          <a:xfrm>
            <a:off x="3831462" y="2193582"/>
            <a:ext cx="2526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2800" b="1" dirty="0">
                <a:solidFill>
                  <a:srgbClr val="DF4807"/>
                </a:solidFill>
                <a:latin typeface="Calibri"/>
              </a:rPr>
              <a:t>Risk</a:t>
            </a:r>
            <a:endParaRPr sz="3400" b="1" dirty="0">
              <a:solidFill>
                <a:srgbClr val="DF4807"/>
              </a:solidFill>
              <a:latin typeface="Calibri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76ED7E22-5B39-88F9-820D-A5E0706F7C5F}"/>
              </a:ext>
            </a:extLst>
          </p:cNvPr>
          <p:cNvSpPr txBox="1"/>
          <p:nvPr/>
        </p:nvSpPr>
        <p:spPr>
          <a:xfrm>
            <a:off x="3687936" y="2954766"/>
            <a:ext cx="28271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What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could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go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wrong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?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D8EF40E2-C70A-F1A8-0881-00E93628CCE5}"/>
              </a:ext>
            </a:extLst>
          </p:cNvPr>
          <p:cNvSpPr txBox="1"/>
          <p:nvPr/>
        </p:nvSpPr>
        <p:spPr>
          <a:xfrm>
            <a:off x="3673854" y="3543300"/>
            <a:ext cx="2827164" cy="602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EU AI Act, </a:t>
            </a:r>
            <a:br>
              <a:rPr lang="de-DE" sz="1250" dirty="0">
                <a:solidFill>
                  <a:srgbClr val="5A6372"/>
                </a:solidFill>
                <a:latin typeface="Calibri"/>
              </a:rPr>
            </a:br>
            <a:r>
              <a:rPr lang="de-DE" sz="1250" dirty="0" err="1">
                <a:solidFill>
                  <a:srgbClr val="5A6372"/>
                </a:solidFill>
                <a:latin typeface="Calibri"/>
              </a:rPr>
              <a:t>threshold_sweep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,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Tests</a:t>
            </a:r>
            <a:endParaRPr sz="1250" b="0" dirty="0">
              <a:solidFill>
                <a:srgbClr val="5A6372"/>
              </a:solidFill>
              <a:latin typeface="Calibri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86A2EC52-79C0-0FED-EF93-5800A2690F49}"/>
              </a:ext>
            </a:extLst>
          </p:cNvPr>
          <p:cNvSpPr/>
          <p:nvPr/>
        </p:nvSpPr>
        <p:spPr>
          <a:xfrm>
            <a:off x="6869360" y="2116918"/>
            <a:ext cx="2841246" cy="76118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4D1BF7F7-02A0-FB0D-96A7-2CEB314BE755}"/>
              </a:ext>
            </a:extLst>
          </p:cNvPr>
          <p:cNvSpPr/>
          <p:nvPr/>
        </p:nvSpPr>
        <p:spPr>
          <a:xfrm>
            <a:off x="6883442" y="2706350"/>
            <a:ext cx="2827164" cy="1968520"/>
          </a:xfrm>
          <a:prstGeom prst="rect">
            <a:avLst/>
          </a:prstGeom>
          <a:solidFill>
            <a:srgbClr val="E6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39A9CFEA-D6BC-6513-23FA-5CC4C4F1D0FB}"/>
              </a:ext>
            </a:extLst>
          </p:cNvPr>
          <p:cNvSpPr txBox="1"/>
          <p:nvPr/>
        </p:nvSpPr>
        <p:spPr>
          <a:xfrm>
            <a:off x="7026968" y="2193582"/>
            <a:ext cx="25260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2800" b="1" dirty="0">
                <a:solidFill>
                  <a:srgbClr val="0D3A5D"/>
                </a:solidFill>
                <a:latin typeface="Calibri"/>
              </a:rPr>
              <a:t>Fairness</a:t>
            </a:r>
            <a:endParaRPr sz="3400" b="1" dirty="0">
              <a:solidFill>
                <a:srgbClr val="0D3A5D"/>
              </a:solidFill>
              <a:latin typeface="Calibri"/>
            </a:endParaRP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D1C1EA4A-1554-9BBE-DF5F-499B5DB736C9}"/>
              </a:ext>
            </a:extLst>
          </p:cNvPr>
          <p:cNvSpPr txBox="1"/>
          <p:nvPr/>
        </p:nvSpPr>
        <p:spPr>
          <a:xfrm>
            <a:off x="6883442" y="2954766"/>
            <a:ext cx="28271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Is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de-DE" sz="1600" b="1" dirty="0" err="1">
                <a:solidFill>
                  <a:srgbClr val="1B2A4A"/>
                </a:solidFill>
                <a:latin typeface="Calibri"/>
              </a:rPr>
              <a:t>it</a:t>
            </a:r>
            <a:r>
              <a:rPr lang="de-DE" sz="1600" b="1" dirty="0">
                <a:solidFill>
                  <a:srgbClr val="1B2A4A"/>
                </a:solidFill>
                <a:latin typeface="Calibri"/>
              </a:rPr>
              <a:t> fair?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023D9F09-5349-5900-3D33-48ED3ACF2328}"/>
              </a:ext>
            </a:extLst>
          </p:cNvPr>
          <p:cNvSpPr txBox="1"/>
          <p:nvPr/>
        </p:nvSpPr>
        <p:spPr>
          <a:xfrm>
            <a:off x="6869360" y="3543300"/>
            <a:ext cx="2827164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>
                <a:solidFill>
                  <a:srgbClr val="5A6372"/>
                </a:solidFill>
                <a:latin typeface="Calibri"/>
              </a:rPr>
              <a:t>Fairness per </a:t>
            </a:r>
            <a:r>
              <a:rPr lang="de-DE" sz="1250" dirty="0" err="1">
                <a:solidFill>
                  <a:srgbClr val="5A6372"/>
                </a:solidFill>
                <a:latin typeface="Calibri"/>
              </a:rPr>
              <a:t>group</a:t>
            </a:r>
            <a:endParaRPr lang="de-DE" sz="1250" dirty="0">
              <a:solidFill>
                <a:srgbClr val="5A6372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de-DE" sz="1250" dirty="0" err="1">
                <a:solidFill>
                  <a:srgbClr val="5A6372"/>
                </a:solidFill>
                <a:latin typeface="Calibri"/>
              </a:rPr>
              <a:t>group_metrics</a:t>
            </a:r>
            <a:r>
              <a:rPr lang="de-DE" sz="1250" dirty="0">
                <a:solidFill>
                  <a:srgbClr val="5A6372"/>
                </a:solidFill>
                <a:latin typeface="Calibri"/>
              </a:rPr>
              <a:t>, </a:t>
            </a:r>
            <a:r>
              <a:rPr lang="de-DE" sz="1250" dirty="0" err="1">
                <a:solidFill>
                  <a:srgbClr val="5A6372"/>
                </a:solidFill>
                <a:latin typeface="Calibri"/>
              </a:rPr>
              <a:t>eo_gaps</a:t>
            </a:r>
            <a:endParaRPr sz="1250" b="0" dirty="0">
              <a:solidFill>
                <a:srgbClr val="5A637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61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A20E-2C74-C644-5A0B-3726C1DA3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B804EEA5-FC02-CCF7-6162-845D263B9B5D}"/>
              </a:ext>
            </a:extLst>
          </p:cNvPr>
          <p:cNvSpPr/>
          <p:nvPr/>
        </p:nvSpPr>
        <p:spPr>
          <a:xfrm>
            <a:off x="9144000" y="1425844"/>
            <a:ext cx="2216258" cy="4939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B34FF2-AA30-CE67-000D-1EAD83E1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Risk </a:t>
            </a:r>
            <a:r>
              <a:rPr lang="de-DE" dirty="0" err="1"/>
              <a:t>management</a:t>
            </a:r>
            <a:r>
              <a:rPr lang="de-DE" dirty="0"/>
              <a:t> (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Article</a:t>
            </a:r>
            <a:r>
              <a:rPr lang="de-DE" dirty="0"/>
              <a:t> 9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EU AI Act)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D15788-9054-E40F-B40C-E5961D50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5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320F23-D868-5206-CD86-953070E6F72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10.07.2026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7B66C9-EAEE-B437-B849-05D6277D8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09142C5E-626D-5358-4DD3-C74FF6B1E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189771"/>
              </p:ext>
            </p:extLst>
          </p:nvPr>
        </p:nvGraphicFramePr>
        <p:xfrm>
          <a:off x="359400" y="1625130"/>
          <a:ext cx="7858769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marL="73152" marR="54864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54864" marT="27432" marB="2743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B2A4A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False negative - violation missed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False positive - false alarm / alert fatigue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Class imbalance (1/3 violations)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B2A4A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Synthetic data / shortcut learning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54864" marT="27432" marB="27432" anchor="ctr">
                    <a:solidFill>
                      <a:srgbClr val="E2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Data / concept drift (new methods, policies)</a:t>
                      </a:r>
                    </a:p>
                  </a:txBody>
                  <a:tcPr marL="73152" marR="54864" marT="27432" marB="27432" anchor="ctr">
                    <a:solidFill>
                      <a:srgbClr val="E2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E2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E2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Prompt injection / adversarial evasion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Automation bias / over-reliance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R8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Group performance gap (fairness)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22833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66C634E9-AF23-37D6-8309-FE6CBC5E7716}"/>
              </a:ext>
            </a:extLst>
          </p:cNvPr>
          <p:cNvSpPr txBox="1"/>
          <p:nvPr/>
        </p:nvSpPr>
        <p:spPr>
          <a:xfrm>
            <a:off x="9329367" y="1640539"/>
            <a:ext cx="1817370" cy="2313656"/>
          </a:xfrm>
          <a:prstGeom prst="rect">
            <a:avLst/>
          </a:prstGeom>
          <a:solidFill>
            <a:schemeClr val="bg1"/>
          </a:solidFill>
          <a:ln w="1079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216000" tIns="216000" rIns="216000" bIns="2160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 err="1">
                <a:solidFill>
                  <a:schemeClr val="tx1">
                    <a:lumMod val="75000"/>
                  </a:schemeClr>
                </a:solidFill>
                <a:latin typeface="Calibri"/>
              </a:rPr>
              <a:t>Red</a:t>
            </a:r>
            <a:r>
              <a:rPr lang="de-DE" sz="160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br>
              <a:rPr lang="de-DE" sz="1600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high </a:t>
            </a:r>
            <a:r>
              <a:rPr lang="de-DE" sz="1600" b="1" dirty="0" err="1">
                <a:solidFill>
                  <a:schemeClr val="tx1">
                    <a:lumMod val="75000"/>
                  </a:schemeClr>
                </a:solidFill>
                <a:latin typeface="Calibri"/>
              </a:rPr>
              <a:t>likelihood</a:t>
            </a:r>
            <a: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 </a:t>
            </a:r>
            <a:b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AND </a:t>
            </a:r>
            <a:b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high </a:t>
            </a:r>
            <a:r>
              <a:rPr lang="de-DE" sz="1600" b="1" dirty="0" err="1">
                <a:solidFill>
                  <a:schemeClr val="tx1">
                    <a:lumMod val="75000"/>
                  </a:schemeClr>
                </a:solidFill>
                <a:latin typeface="Calibri"/>
              </a:rPr>
              <a:t>impact</a:t>
            </a:r>
            <a:endParaRPr lang="de-DE" sz="1600" b="1" dirty="0">
              <a:solidFill>
                <a:schemeClr val="tx1">
                  <a:lumMod val="75000"/>
                </a:schemeClr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b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r>
              <a:rPr lang="de-DE" sz="160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R1, R4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8EF5F92-6C93-E5B9-681D-723471376328}"/>
              </a:ext>
            </a:extLst>
          </p:cNvPr>
          <p:cNvSpPr txBox="1"/>
          <p:nvPr/>
        </p:nvSpPr>
        <p:spPr>
          <a:xfrm>
            <a:off x="9329367" y="4164314"/>
            <a:ext cx="1817370" cy="1990490"/>
          </a:xfrm>
          <a:prstGeom prst="rect">
            <a:avLst/>
          </a:prstGeom>
          <a:solidFill>
            <a:schemeClr val="bg1"/>
          </a:solidFill>
          <a:ln w="107950">
            <a:solidFill>
              <a:srgbClr val="E2EEF2"/>
            </a:solidFill>
          </a:ln>
        </p:spPr>
        <p:txBody>
          <a:bodyPr wrap="square" lIns="216000" tIns="216000" rIns="216000" bIns="2160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Blue: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br>
              <a:rPr lang="de-DE" sz="1600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Drift, but at a high </a:t>
            </a:r>
            <a:r>
              <a:rPr lang="de-DE" sz="1600" b="1" dirty="0" err="1">
                <a:solidFill>
                  <a:schemeClr val="tx1">
                    <a:lumMod val="75000"/>
                  </a:schemeClr>
                </a:solidFill>
                <a:latin typeface="Calibri"/>
              </a:rPr>
              <a:t>cost</a:t>
            </a:r>
            <a:b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br>
              <a:rPr lang="de-DE" sz="1600" b="1" dirty="0">
                <a:solidFill>
                  <a:schemeClr val="tx1">
                    <a:lumMod val="75000"/>
                  </a:schemeClr>
                </a:solidFill>
                <a:latin typeface="Calibri"/>
              </a:rPr>
            </a:br>
            <a:r>
              <a:rPr lang="de-DE" sz="160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R5</a:t>
            </a:r>
          </a:p>
        </p:txBody>
      </p:sp>
    </p:spTree>
    <p:extLst>
      <p:ext uri="{BB962C8B-B14F-4D97-AF65-F5344CB8AC3E}">
        <p14:creationId xmlns:p14="http://schemas.microsoft.com/office/powerpoint/2010/main" val="96284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84CE4-32F0-5CB5-9CE0-FCF21CEF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5DCDB-6B2A-A4EA-B1EF-8E72D299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Risk </a:t>
            </a:r>
            <a:r>
              <a:rPr lang="de-DE" dirty="0" err="1"/>
              <a:t>management</a:t>
            </a:r>
            <a:r>
              <a:rPr lang="de-DE" dirty="0"/>
              <a:t> (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Article</a:t>
            </a:r>
            <a:r>
              <a:rPr lang="de-DE" dirty="0"/>
              <a:t> 9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EU AI Act)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0780B9-B38C-AA83-4BBD-D4C4DCC1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6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D03E0E-4ADA-7011-237A-71CF6BB83A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10.07.2026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BFCBC-D8BB-604C-6B40-6FBE54AA5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3" name="Picture 7" descr="risk_heatmap_en.png">
            <a:extLst>
              <a:ext uri="{FF2B5EF4-FFF2-40B4-BE49-F238E27FC236}">
                <a16:creationId xmlns:a16="http://schemas.microsoft.com/office/drawing/2014/main" id="{28844399-79AF-BD01-F9F2-0053B2A17CD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280" y="1634490"/>
            <a:ext cx="5760720" cy="448056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0277072-8CDB-92D3-3F2D-9570004971EC}"/>
              </a:ext>
            </a:extLst>
          </p:cNvPr>
          <p:cNvSpPr/>
          <p:nvPr/>
        </p:nvSpPr>
        <p:spPr>
          <a:xfrm>
            <a:off x="2894889" y="2171506"/>
            <a:ext cx="464949" cy="464949"/>
          </a:xfrm>
          <a:prstGeom prst="ellipse">
            <a:avLst/>
          </a:prstGeom>
          <a:solidFill>
            <a:srgbClr val="E2EEF2">
              <a:alpha val="4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7356042-9678-EEB6-892D-C7D197835084}"/>
              </a:ext>
            </a:extLst>
          </p:cNvPr>
          <p:cNvSpPr txBox="1"/>
          <p:nvPr/>
        </p:nvSpPr>
        <p:spPr>
          <a:xfrm>
            <a:off x="7366716" y="1640115"/>
            <a:ext cx="22374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rgbClr val="DF4807"/>
                </a:solidFill>
              </a:rPr>
              <a:t>Prioritisation</a:t>
            </a:r>
            <a:br>
              <a:rPr lang="de-DE" b="1" dirty="0">
                <a:solidFill>
                  <a:srgbClr val="DF4807"/>
                </a:solidFill>
              </a:rPr>
            </a:br>
            <a:br>
              <a:rPr lang="de-DE" b="1" dirty="0">
                <a:solidFill>
                  <a:srgbClr val="DF4807"/>
                </a:solidFill>
              </a:rPr>
            </a:br>
            <a:r>
              <a:rPr lang="de-DE" b="1" dirty="0" err="1">
                <a:solidFill>
                  <a:srgbClr val="575756"/>
                </a:solidFill>
              </a:rPr>
              <a:t>We</a:t>
            </a:r>
            <a:r>
              <a:rPr lang="de-DE" b="1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575756"/>
                </a:solidFill>
              </a:rPr>
              <a:t>test</a:t>
            </a:r>
            <a:r>
              <a:rPr lang="de-DE" b="1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575756"/>
                </a:solidFill>
              </a:rPr>
              <a:t>the</a:t>
            </a:r>
            <a:r>
              <a:rPr lang="de-DE" b="1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575756"/>
                </a:solidFill>
              </a:rPr>
              <a:t>costliest</a:t>
            </a:r>
            <a:r>
              <a:rPr lang="de-DE" b="1" dirty="0">
                <a:solidFill>
                  <a:srgbClr val="575756"/>
                </a:solidFill>
              </a:rPr>
              <a:t>, </a:t>
            </a:r>
          </a:p>
          <a:p>
            <a:r>
              <a:rPr lang="de-DE" b="1" dirty="0" err="1">
                <a:solidFill>
                  <a:srgbClr val="575756"/>
                </a:solidFill>
              </a:rPr>
              <a:t>most</a:t>
            </a:r>
            <a:r>
              <a:rPr lang="de-DE" b="1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575756"/>
                </a:solidFill>
              </a:rPr>
              <a:t>likely</a:t>
            </a:r>
            <a:r>
              <a:rPr lang="de-DE" b="1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575756"/>
                </a:solidFill>
              </a:rPr>
              <a:t>risks</a:t>
            </a:r>
            <a:r>
              <a:rPr lang="de-DE" b="1" dirty="0">
                <a:solidFill>
                  <a:srgbClr val="575756"/>
                </a:solidFill>
              </a:rPr>
              <a:t> </a:t>
            </a:r>
            <a:r>
              <a:rPr lang="de-DE" b="1" dirty="0" err="1">
                <a:solidFill>
                  <a:srgbClr val="575756"/>
                </a:solidFill>
              </a:rPr>
              <a:t>first</a:t>
            </a:r>
            <a:r>
              <a:rPr lang="de-DE" b="1" dirty="0">
                <a:solidFill>
                  <a:srgbClr val="575756"/>
                </a:solidFill>
              </a:rPr>
              <a:t>.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D624F71-7A07-F27F-4EC2-F3856242610B}"/>
              </a:ext>
            </a:extLst>
          </p:cNvPr>
          <p:cNvCxnSpPr>
            <a:cxnSpLocks/>
          </p:cNvCxnSpPr>
          <p:nvPr/>
        </p:nvCxnSpPr>
        <p:spPr>
          <a:xfrm flipH="1">
            <a:off x="5749290" y="1868611"/>
            <a:ext cx="1617426" cy="623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8AD25DA-F101-882D-6F32-4070AB384C05}"/>
              </a:ext>
            </a:extLst>
          </p:cNvPr>
          <p:cNvCxnSpPr>
            <a:cxnSpLocks/>
          </p:cNvCxnSpPr>
          <p:nvPr/>
        </p:nvCxnSpPr>
        <p:spPr>
          <a:xfrm flipH="1">
            <a:off x="3406140" y="1868611"/>
            <a:ext cx="3960576" cy="371669"/>
          </a:xfrm>
          <a:prstGeom prst="straightConnector1">
            <a:avLst/>
          </a:prstGeom>
          <a:ln>
            <a:solidFill>
              <a:srgbClr val="00699A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194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720B-060C-4CAA-97E9-986B6C03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XG Boost Standard Framework:-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3A8F5-C49B-4A15-A55E-2B21EAFE4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82456"/>
            <a:ext cx="4685211" cy="3867637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IN" sz="2400" b="1" dirty="0"/>
              <a:t>TF-IDF + </a:t>
            </a:r>
            <a:r>
              <a:rPr lang="en-IN" sz="2400" b="1" dirty="0" err="1"/>
              <a:t>XGBoost</a:t>
            </a:r>
            <a:r>
              <a:rPr lang="en-IN" sz="2400" b="1" dirty="0"/>
              <a:t>.</a:t>
            </a:r>
          </a:p>
          <a:p>
            <a:pPr marL="342900" indent="-342900">
              <a:buAutoNum type="arabicPeriod"/>
            </a:pPr>
            <a:r>
              <a:rPr lang="en-US" sz="2400" b="1" dirty="0"/>
              <a:t>Precision : 0.957 </a:t>
            </a:r>
          </a:p>
          <a:p>
            <a:pPr marL="342900" indent="-342900">
              <a:buAutoNum type="arabicPeriod"/>
            </a:pPr>
            <a:r>
              <a:rPr lang="en-US" sz="2400" b="1" dirty="0"/>
              <a:t>Recall : 0.985 </a:t>
            </a:r>
          </a:p>
          <a:p>
            <a:pPr marL="342900" indent="-342900">
              <a:buAutoNum type="arabicPeriod"/>
            </a:pPr>
            <a:r>
              <a:rPr lang="en-US" sz="2400" b="1" dirty="0"/>
              <a:t>F1 : 0.971 </a:t>
            </a:r>
          </a:p>
          <a:p>
            <a:pPr marL="342900" indent="-342900">
              <a:buAutoNum type="arabicPeriod"/>
            </a:pPr>
            <a:r>
              <a:rPr lang="en-US" sz="2400" b="1" dirty="0"/>
              <a:t>ROC-AUC : 0.997</a:t>
            </a:r>
          </a:p>
          <a:p>
            <a:pPr marL="342900" indent="-342900">
              <a:buAutoNum type="arabicPeriod"/>
            </a:pPr>
            <a:r>
              <a:rPr lang="en-US" sz="2400" b="1" dirty="0"/>
              <a:t>Only 1 red flag missed. (FN = 1)</a:t>
            </a:r>
          </a:p>
          <a:p>
            <a:pPr marL="342900" indent="-342900">
              <a:buAutoNum type="arabicPeriod"/>
            </a:pPr>
            <a:r>
              <a:rPr lang="en-US" sz="2400" b="1" dirty="0"/>
              <a:t>3 over flagged. (FP = 3)</a:t>
            </a:r>
          </a:p>
          <a:p>
            <a:endParaRPr lang="en-IN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B9888-1AE7-42E3-83F7-9B046452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7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B75D5-0E04-4018-81D6-712358AE8D1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7D716-E502-4B92-A699-D2CA7B86C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587FC2-6486-4D69-A6D5-5FA702CE0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578" y="1194062"/>
            <a:ext cx="6248830" cy="52344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798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1396-579B-489E-A6A8-2E75A98F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39" y="173581"/>
            <a:ext cx="9157663" cy="454323"/>
          </a:xfrm>
        </p:spPr>
        <p:txBody>
          <a:bodyPr/>
          <a:lstStyle/>
          <a:p>
            <a:r>
              <a:rPr lang="en-IN" dirty="0"/>
              <a:t>XG Boost ROC and Precision-Recall 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FDA9-D248-4042-B891-746DDFAE8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9" y="4467246"/>
            <a:ext cx="11794732" cy="17897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b="1" dirty="0"/>
              <a:t>AUC as discussed in the previous slide is 0.997 which answers whether if model consistently ranks red flags above compliant proposals regardless of what my threshold is.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If you randomly pick one real Red Flag proposal and one real Compliant proposal from your test set, there is a 99.7% probability that the model gave the Red Flag a higher probability score than the Compliant one.</a:t>
            </a:r>
            <a:endParaRPr lang="en-IN" b="1" dirty="0"/>
          </a:p>
          <a:p>
            <a:r>
              <a:rPr lang="en-IN" b="1" dirty="0"/>
              <a:t>As we push recall higher, </a:t>
            </a:r>
            <a:r>
              <a:rPr lang="en-US" b="1" dirty="0"/>
              <a:t>(catching more violations by lowering the threshold), precision barely drops at all. (Second figure)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C78B8-9A12-4D04-9724-E67F3D52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8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F443D-C965-45D7-9EEE-0EC5DD03DF9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8DADD-9846-44FF-A566-B70372546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CE191-E271-4824-A91E-319281ED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36" y="754158"/>
            <a:ext cx="9443327" cy="3468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474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4E82-4B18-45AC-B460-3E6995B3A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17" y="136525"/>
            <a:ext cx="9157663" cy="541031"/>
          </a:xfrm>
        </p:spPr>
        <p:txBody>
          <a:bodyPr/>
          <a:lstStyle/>
          <a:p>
            <a:r>
              <a:rPr lang="en-IN" dirty="0"/>
              <a:t>XG Boost Risk Framework:-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172CB-3274-442B-909B-041232526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80" y="750628"/>
            <a:ext cx="9158400" cy="4230000"/>
          </a:xfrm>
        </p:spPr>
        <p:txBody>
          <a:bodyPr/>
          <a:lstStyle/>
          <a:p>
            <a:r>
              <a:rPr lang="en-IN" sz="2400" b="1" i="1" u="sng" dirty="0"/>
              <a:t>Risks identified in the Week 1 task:-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00020-31D7-4E15-8E22-FDA7936F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9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D1FA1-020E-4AEB-B285-79292518D8F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45135-F579-4D8A-84E0-5868BAED5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599541-4783-48D9-931D-2E920AA95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79" y="1133604"/>
            <a:ext cx="11673042" cy="37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9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E844-78A6-4799-BB8B-EA51CFB2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42" y="136525"/>
            <a:ext cx="9157663" cy="454323"/>
          </a:xfrm>
        </p:spPr>
        <p:txBody>
          <a:bodyPr/>
          <a:lstStyle/>
          <a:p>
            <a:r>
              <a:rPr lang="en-IN" dirty="0"/>
              <a:t>XG Boost Risk Framework:-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5A67-6B4A-4AE2-9B44-2AEB0F727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07" y="590848"/>
            <a:ext cx="4459180" cy="5765502"/>
          </a:xfrm>
        </p:spPr>
        <p:txBody>
          <a:bodyPr/>
          <a:lstStyle/>
          <a:p>
            <a:r>
              <a:rPr lang="en-US" dirty="0"/>
              <a:t>The approach follows a three-step cycle:-</a:t>
            </a:r>
          </a:p>
          <a:p>
            <a:r>
              <a:rPr lang="en-US" dirty="0"/>
              <a:t>1. Assess :- identify risks by likelihood and impact.</a:t>
            </a:r>
          </a:p>
          <a:p>
            <a:r>
              <a:rPr lang="en-US" dirty="0"/>
              <a:t>2. Mitigate :- define what we are doing about each risk.</a:t>
            </a:r>
          </a:p>
          <a:p>
            <a:r>
              <a:rPr lang="en-US" dirty="0"/>
              <a:t>3. Monitor :- define how we will know if a risk gets worse over time.</a:t>
            </a:r>
          </a:p>
          <a:p>
            <a:r>
              <a:rPr lang="en-IN" dirty="0"/>
              <a:t>4. </a:t>
            </a:r>
            <a:r>
              <a:rPr lang="en-US" dirty="0"/>
              <a:t> X axis = how likely is this risk to occur.</a:t>
            </a:r>
          </a:p>
          <a:p>
            <a:r>
              <a:rPr lang="en-US" dirty="0"/>
              <a:t>5. Y axis = how bad would it be if it did occur.</a:t>
            </a:r>
          </a:p>
          <a:p>
            <a:r>
              <a:rPr lang="en-US" dirty="0"/>
              <a:t>6. Top-right corner = highest priority, act first.</a:t>
            </a:r>
          </a:p>
          <a:p>
            <a:r>
              <a:rPr lang="en-US" dirty="0"/>
              <a:t>7. R1 and R4 sit in the top-right corner, both High likelihood and High impact.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A609D-C0CF-4456-9563-89FD491D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10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DC631-93BA-47F5-9352-8CF5F72715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02C32-4CC2-40B5-B4FB-2CDE090E8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Responsible AI and Data Ethics | Vikrant Singh and Kay Marc Müller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D7A012-FDB1-46F8-AA40-CEB14272B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073" y="343138"/>
            <a:ext cx="7236046" cy="5905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962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0114-1AFF-4CD7-8B79-83C91352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14" y="136525"/>
            <a:ext cx="5054481" cy="411593"/>
          </a:xfrm>
        </p:spPr>
        <p:txBody>
          <a:bodyPr/>
          <a:lstStyle/>
          <a:p>
            <a:r>
              <a:rPr lang="en-IN" dirty="0"/>
              <a:t>XG Boost Fairness Framework:-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28B48C-6C8C-4A52-A0F5-6AAA2F7D9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20" y="1202102"/>
            <a:ext cx="5780522" cy="2811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E61E4-A7DD-47A1-BE16-69A0EA5C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11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D88C4-2FB1-416B-9139-0CDAF6CC32E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9937F-FB78-4CBA-A5BF-8C7A7F8A5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08935-F388-4BD0-966D-24E16CC7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059" y="1202102"/>
            <a:ext cx="5246264" cy="2816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61C3FD-7359-4D00-8F77-CB3E87454F30}"/>
              </a:ext>
            </a:extLst>
          </p:cNvPr>
          <p:cNvSpPr txBox="1"/>
          <p:nvPr/>
        </p:nvSpPr>
        <p:spPr>
          <a:xfrm>
            <a:off x="195614" y="4161034"/>
            <a:ext cx="117840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issue_type</a:t>
            </a:r>
            <a:r>
              <a:rPr lang="en-US" b="1" dirty="0"/>
              <a:t> gaps are small the model treats Bug and Suggestion proposals with similar fairness. No action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ai_method</a:t>
            </a:r>
            <a:r>
              <a:rPr lang="en-US" b="1" dirty="0"/>
              <a:t> shows the largest TPR and FPR gaps this is the group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fairness attention is most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grounded_flag</a:t>
            </a:r>
            <a:r>
              <a:rPr lang="en-US" b="1" dirty="0"/>
              <a:t> has a large selection-rate gap, which is expected by design:-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grounded proposals (real NFR violations) and synthetic proposals have structurally different flagging rates because they were generated differently.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9341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956C-94B0-4190-A8F3-CE746A2B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411593"/>
          </a:xfrm>
        </p:spPr>
        <p:txBody>
          <a:bodyPr/>
          <a:lstStyle/>
          <a:p>
            <a:r>
              <a:rPr lang="en-IN" dirty="0"/>
              <a:t>Logistic Regression Vs. XG Boost:-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A3C79-3BD6-4CC7-9EB8-2B696B81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12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CE859-AB32-427A-AAE9-866AD62DB79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7B5BE-E0E2-413C-8E36-F7D7E9D47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B4E7A-E8F9-4134-9AE2-EEA73F6D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37007"/>
            <a:ext cx="10386769" cy="5041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7334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AAC9-7D66-4EE4-8505-1821360A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421867"/>
          </a:xfrm>
        </p:spPr>
        <p:txBody>
          <a:bodyPr/>
          <a:lstStyle/>
          <a:p>
            <a:r>
              <a:rPr lang="en-IN" dirty="0"/>
              <a:t>Logistic Regression Vs. XG Boost:-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AAA27-31B1-4CE6-BA91-79A4BCDA8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58" y="4889535"/>
            <a:ext cx="10407721" cy="1254411"/>
          </a:xfrm>
        </p:spPr>
        <p:txBody>
          <a:bodyPr/>
          <a:lstStyle/>
          <a:p>
            <a:r>
              <a:rPr lang="en-IN" b="1" dirty="0"/>
              <a:t>RECALL COMPARISON:- </a:t>
            </a:r>
          </a:p>
          <a:p>
            <a:r>
              <a:rPr lang="en-IN" b="1" dirty="0" err="1"/>
              <a:t>XGBoost</a:t>
            </a:r>
            <a:r>
              <a:rPr lang="en-IN" b="1" dirty="0"/>
              <a:t>  : mean = 0.985  |  std = 0.023</a:t>
            </a:r>
          </a:p>
          <a:p>
            <a:r>
              <a:rPr lang="en-IN" b="1" dirty="0" err="1"/>
              <a:t>LogReg</a:t>
            </a:r>
            <a:r>
              <a:rPr lang="en-IN" b="1" dirty="0"/>
              <a:t>   : mean = 0.964  |  std = 0.023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54E40-AD3C-4FDE-B365-709217EB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13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F6DE3-A663-4D81-A363-96FDA2B4D9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10.07.2026</a:t>
            </a:r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AA760-678D-4DB1-866A-6E1B85D9C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Responsible AI and Data Ethics | Vikrant Singh and Kay Marc Müller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E45ED-8618-442C-BE26-2BC2C1E5D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073" y="892888"/>
            <a:ext cx="7952978" cy="38845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8341681"/>
      </p:ext>
    </p:extLst>
  </p:cSld>
  <p:clrMapOvr>
    <a:masterClrMapping/>
  </p:clrMapOvr>
</p:sld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F48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">
      <a:majorFont>
        <a:latin typeface="SRH Display"/>
        <a:ea typeface=""/>
        <a:cs typeface=""/>
      </a:majorFont>
      <a:minorFont>
        <a:latin typeface="SR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Macintosh PowerPoint</Application>
  <PresentationFormat>Breitbild</PresentationFormat>
  <Paragraphs>168</Paragraphs>
  <Slides>13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SRH</vt:lpstr>
      <vt:lpstr>SRH Headline</vt:lpstr>
      <vt:lpstr>SRH Text</vt:lpstr>
      <vt:lpstr>SRH</vt:lpstr>
      <vt:lpstr>Goal 2 The Autonomous Compliance Sentinel  Baseline model · Risk analysis · Fairness analysis</vt:lpstr>
      <vt:lpstr>Four steps to making a decision</vt:lpstr>
      <vt:lpstr>Why use a ML model?</vt:lpstr>
      <vt:lpstr>Three Frameworks</vt:lpstr>
      <vt:lpstr>Risk management (by Article 9 of the EU AI Act)</vt:lpstr>
      <vt:lpstr>Risk management (by Article 9 of the EU AI Act)</vt:lpstr>
      <vt:lpstr>XG Boost Standard Framework:- </vt:lpstr>
      <vt:lpstr>XG Boost ROC and Precision-Recall :- </vt:lpstr>
      <vt:lpstr>XG Boost Risk Framework:- </vt:lpstr>
      <vt:lpstr>XG Boost Risk Framework:- </vt:lpstr>
      <vt:lpstr>XG Boost Fairness Framework:- </vt:lpstr>
      <vt:lpstr>Logistic Regression Vs. XG Boost:- </vt:lpstr>
      <vt:lpstr>Logistic Regression Vs. XG Boost:-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Henrike Voelker</dc:creator>
  <cp:lastModifiedBy>Müller, Kay (Stud SRH-University)</cp:lastModifiedBy>
  <cp:revision>16</cp:revision>
  <dcterms:created xsi:type="dcterms:W3CDTF">2020-06-05T16:20:53Z</dcterms:created>
  <dcterms:modified xsi:type="dcterms:W3CDTF">2026-07-10T13:20:28Z</dcterms:modified>
</cp:coreProperties>
</file>