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23"/>
  </p:notesMasterIdLst>
  <p:sldIdLst>
    <p:sldId id="343" r:id="rId2"/>
    <p:sldId id="346" r:id="rId3"/>
    <p:sldId id="347" r:id="rId4"/>
    <p:sldId id="348" r:id="rId5"/>
    <p:sldId id="349" r:id="rId6"/>
    <p:sldId id="350" r:id="rId7"/>
    <p:sldId id="351" r:id="rId8"/>
    <p:sldId id="358" r:id="rId9"/>
    <p:sldId id="352" r:id="rId10"/>
    <p:sldId id="353" r:id="rId11"/>
    <p:sldId id="354" r:id="rId12"/>
    <p:sldId id="355" r:id="rId13"/>
    <p:sldId id="356" r:id="rId14"/>
    <p:sldId id="357" r:id="rId15"/>
    <p:sldId id="359" r:id="rId16"/>
    <p:sldId id="360" r:id="rId17"/>
    <p:sldId id="361" r:id="rId18"/>
    <p:sldId id="364" r:id="rId19"/>
    <p:sldId id="365" r:id="rId20"/>
    <p:sldId id="363" r:id="rId21"/>
    <p:sldId id="362" r:id="rId2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B-Model-Evaluation" id="{7B1C6A2B-E2BB-4A00-B635-E3692AC80D61}">
          <p14:sldIdLst>
            <p14:sldId id="343"/>
            <p14:sldId id="346"/>
            <p14:sldId id="347"/>
            <p14:sldId id="348"/>
            <p14:sldId id="349"/>
            <p14:sldId id="350"/>
            <p14:sldId id="351"/>
            <p14:sldId id="358"/>
            <p14:sldId id="352"/>
            <p14:sldId id="353"/>
            <p14:sldId id="354"/>
            <p14:sldId id="355"/>
            <p14:sldId id="356"/>
            <p14:sldId id="357"/>
            <p14:sldId id="359"/>
            <p14:sldId id="360"/>
            <p14:sldId id="361"/>
            <p14:sldId id="364"/>
            <p14:sldId id="365"/>
            <p14:sldId id="363"/>
            <p14:sldId id="362"/>
          </p14:sldIdLst>
        </p14:section>
        <p14:section name="HIP" id="{8E6C202D-32A9-4242-9C7F-061CD6AD0586}">
          <p14:sldIdLst/>
        </p14:section>
        <p14:section name="Trust AI" id="{D03DBB28-92F1-40BA-9222-050B2A81EF32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EDEB"/>
    <a:srgbClr val="021E30"/>
    <a:srgbClr val="DF4807"/>
    <a:srgbClr val="2C2E2E"/>
    <a:srgbClr val="000000"/>
    <a:srgbClr val="B92659"/>
    <a:srgbClr val="6D7373"/>
    <a:srgbClr val="0067A0"/>
    <a:srgbClr val="AAA39D"/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C84F41-EA5F-9AA7-01E0-2D263B995387}" v="9" dt="2026-07-03T00:03:06.998"/>
    <p1510:client id="{E41633A7-6D89-969B-A55E-66C1E5C34177}" v="11" dt="2026-07-03T03:27:33.232"/>
  </p1510:revLst>
</p1510:revInfo>
</file>

<file path=ppt/tableStyles.xml><?xml version="1.0" encoding="utf-8"?>
<a:tblStyleLst xmlns:a="http://schemas.openxmlformats.org/drawingml/2006/main" def="{5ACB3F56-7768-405F-84FF-31046667B651}">
  <a:tblStyle styleId="{FEC09086-8A00-4FE0-B5C7-1A88A72B4ECC}" styleName="SRH: Standard-Tabelle">
    <a:wholeTbl>
      <a:tcTxStyle>
        <a:fontRef idx="minor">
          <a:prstClr val="black"/>
        </a:fontRef>
        <a:srgbClr val="2C2E2E"/>
      </a:tcTxStyle>
      <a:tcStyle>
        <a:tcBdr>
          <a:left>
            <a:ln w="6350" cmpd="sng">
              <a:noFill/>
            </a:ln>
          </a:left>
          <a:right>
            <a:ln w="6350" cmpd="sng">
              <a:noFill/>
            </a:ln>
          </a:right>
          <a:top>
            <a:ln w="6350" cmpd="sng">
              <a:noFill/>
            </a:ln>
          </a:top>
          <a:bottom>
            <a:ln w="6350" cmpd="sng">
              <a:noFill/>
            </a:ln>
          </a:bottom>
          <a:insideH>
            <a:ln w="6350" cmpd="sng">
              <a:solidFill>
                <a:schemeClr val="accent1"/>
              </a:solidFill>
            </a:ln>
          </a:insideH>
          <a:insideV>
            <a:ln w="6350" cmpd="sng">
              <a:noFill/>
            </a:ln>
          </a:insideV>
        </a:tcBdr>
        <a:fill>
          <a:noFill/>
        </a:fill>
      </a:tcStyle>
    </a:wholeTbl>
    <a:lastCol>
      <a:tcTxStyle b="off">
        <a:fontRef idx="minor">
          <a:prstClr val="black"/>
        </a:fontRef>
        <a:srgbClr val="2C2E2E"/>
      </a:tcTxStyle>
      <a:tcStyle>
        <a:tcBdr/>
        <a:fill>
          <a:noFill/>
        </a:fill>
      </a:tcStyle>
    </a:lastCol>
    <a:firstCol>
      <a:tcTxStyle b="off">
        <a:fontRef idx="minor">
          <a:prstClr val="black"/>
        </a:fontRef>
        <a:srgbClr val="2C2E2E"/>
      </a:tcTxStyle>
      <a:tcStyle>
        <a:tcBdr/>
        <a:fill>
          <a:noFill/>
        </a:fill>
      </a:tcStyle>
    </a:firstCol>
    <a:lastRow>
      <a:tcTxStyle b="on">
        <a:fontRef idx="minor">
          <a:prstClr val="black"/>
        </a:fontRef>
        <a:srgbClr val="2C2E2E"/>
      </a:tcTxStyle>
      <a:tcStyle>
        <a:tcBdr>
          <a:top>
            <a:ln w="635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>
        <a:fontRef idx="minor">
          <a:prstClr val="black"/>
        </a:fontRef>
        <a:srgbClr val="2C2E2E"/>
      </a:tcTxStyle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ACB3F56-7768-405F-84FF-31046667B651}" styleName="SRH: Für Überschrift">
    <a:wholeTbl>
      <a:tcTxStyle>
        <a:fontRef idx="minor">
          <a:prstClr val="black"/>
        </a:fontRef>
        <a:srgbClr val="2C2E2E"/>
      </a:tcTxStyle>
      <a:tcStyle>
        <a:tcBdr>
          <a:left>
            <a:ln w="6350" cmpd="sng">
              <a:noFill/>
            </a:ln>
          </a:left>
          <a:right>
            <a:ln w="6350" cmpd="sng">
              <a:noFill/>
            </a:ln>
          </a:right>
          <a:top>
            <a:ln w="6350" cmpd="sng">
              <a:noFill/>
            </a:ln>
          </a:top>
          <a:bottom>
            <a:ln w="6350" cmpd="sng">
              <a:noFill/>
            </a:ln>
          </a:bottom>
          <a:insideH>
            <a:ln w="6350" cmpd="sng">
              <a:solidFill>
                <a:schemeClr val="accent1"/>
              </a:solidFill>
            </a:ln>
          </a:insideH>
          <a:insideV>
            <a:ln w="6350" cmpd="sng">
              <a:noFill/>
            </a:ln>
          </a:insideV>
        </a:tcBdr>
        <a:fill>
          <a:noFill/>
        </a:fill>
      </a:tcStyle>
    </a:wholeTbl>
    <a:lastCol>
      <a:tcTxStyle b="off">
        <a:fontRef idx="minor">
          <a:prstClr val="black"/>
        </a:fontRef>
        <a:srgbClr val="2C2E2E"/>
      </a:tcTxStyle>
      <a:tcStyle>
        <a:tcBdr/>
        <a:fill>
          <a:noFill/>
        </a:fill>
      </a:tcStyle>
    </a:lastCol>
    <a:firstCol>
      <a:tcTxStyle b="off">
        <a:fontRef idx="minor">
          <a:prstClr val="black"/>
        </a:fontRef>
        <a:srgbClr val="2C2E2E"/>
      </a:tcTxStyle>
      <a:tcStyle>
        <a:tcBdr/>
        <a:fill>
          <a:noFill/>
        </a:fill>
      </a:tcStyle>
    </a:firstCol>
    <a:lastRow>
      <a:tcTxStyle b="on">
        <a:fontRef idx="minor">
          <a:prstClr val="black"/>
        </a:fontRef>
        <a:srgbClr val="2C2E2E"/>
      </a:tcTxStyle>
      <a:tcStyle>
        <a:tcBdr>
          <a:top>
            <a:ln w="635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>
        <a:fontRef idx="major">
          <a:prstClr val="black"/>
        </a:fontRef>
        <a:srgbClr val="2C2E2E"/>
      </a:tcTxStyle>
      <a:tcStyle>
        <a:tcBdr>
          <a:bottom>
            <a:ln w="635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8D230F3-CF80-4859-8CE7-A43EE81993B5}" styleName="Helle Formatvorlage 1 - Akz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Helle Formatvorlage 1 - Akz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2DE63D5-997A-4646-A377-4702673A728D}" styleName="Helle Formatvorlage 2 - Akz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BDBED569-4797-4DF1-A0F4-6AAB3CD982D8}" styleName="Helle Formatvorlage 3 - Akz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034E78-7F5D-4C2E-B375-FC64B27BC917}" styleName="Dunkle Formatvorlag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12"/>
    <p:restoredTop sz="94577"/>
  </p:normalViewPr>
  <p:slideViewPr>
    <p:cSldViewPr snapToGrid="0">
      <p:cViewPr varScale="1">
        <p:scale>
          <a:sx n="112" d="100"/>
          <a:sy n="112" d="100"/>
        </p:scale>
        <p:origin x="264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ngh, Vikrant (Stud SRH-University)" userId="S::100004638@stud.srh-university.de::977d05a8-87eb-4802-a2a6-6e9ee2a739e7" providerId="AD" clId="Web-{E41633A7-6D89-969B-A55E-66C1E5C34177}"/>
    <pc:docChg chg="addSld delSld modSld sldOrd modSection">
      <pc:chgData name="Singh, Vikrant (Stud SRH-University)" userId="S::100004638@stud.srh-university.de::977d05a8-87eb-4802-a2a6-6e9ee2a739e7" providerId="AD" clId="Web-{E41633A7-6D89-969B-A55E-66C1E5C34177}" dt="2026-07-03T03:27:33.232" v="10"/>
      <pc:docMkLst>
        <pc:docMk/>
      </pc:docMkLst>
      <pc:sldChg chg="addSp delSp modSp">
        <pc:chgData name="Singh, Vikrant (Stud SRH-University)" userId="S::100004638@stud.srh-university.de::977d05a8-87eb-4802-a2a6-6e9ee2a739e7" providerId="AD" clId="Web-{E41633A7-6D89-969B-A55E-66C1E5C34177}" dt="2026-07-03T03:27:21.544" v="8"/>
        <pc:sldMkLst>
          <pc:docMk/>
          <pc:sldMk cId="1610068702" sldId="361"/>
        </pc:sldMkLst>
        <pc:picChg chg="add del mod">
          <ac:chgData name="Singh, Vikrant (Stud SRH-University)" userId="S::100004638@stud.srh-university.de::977d05a8-87eb-4802-a2a6-6e9ee2a739e7" providerId="AD" clId="Web-{E41633A7-6D89-969B-A55E-66C1E5C34177}" dt="2026-07-03T03:27:21.544" v="8"/>
          <ac:picMkLst>
            <pc:docMk/>
            <pc:sldMk cId="1610068702" sldId="361"/>
            <ac:picMk id="5" creationId="{F318429C-C108-A9D1-602F-E412336A9B53}"/>
          </ac:picMkLst>
        </pc:picChg>
      </pc:sldChg>
      <pc:sldChg chg="new del">
        <pc:chgData name="Singh, Vikrant (Stud SRH-University)" userId="S::100004638@stud.srh-university.de::977d05a8-87eb-4802-a2a6-6e9ee2a739e7" providerId="AD" clId="Web-{E41633A7-6D89-969B-A55E-66C1E5C34177}" dt="2026-07-03T03:27:33.232" v="10"/>
        <pc:sldMkLst>
          <pc:docMk/>
          <pc:sldMk cId="1820228293" sldId="364"/>
        </pc:sldMkLst>
      </pc:sldChg>
      <pc:sldChg chg="new del">
        <pc:chgData name="Singh, Vikrant (Stud SRH-University)" userId="S::100004638@stud.srh-university.de::977d05a8-87eb-4802-a2a6-6e9ee2a739e7" providerId="AD" clId="Web-{E41633A7-6D89-969B-A55E-66C1E5C34177}" dt="2026-07-03T03:18:37.148" v="1"/>
        <pc:sldMkLst>
          <pc:docMk/>
          <pc:sldMk cId="2353347369" sldId="364"/>
        </pc:sldMkLst>
      </pc:sldChg>
      <pc:sldChg chg="delSp new del ord">
        <pc:chgData name="Singh, Vikrant (Stud SRH-University)" userId="S::100004638@stud.srh-university.de::977d05a8-87eb-4802-a2a6-6e9ee2a739e7" providerId="AD" clId="Web-{E41633A7-6D89-969B-A55E-66C1E5C34177}" dt="2026-07-03T03:27:15.450" v="6"/>
        <pc:sldMkLst>
          <pc:docMk/>
          <pc:sldMk cId="3869335025" sldId="364"/>
        </pc:sldMkLst>
        <pc:spChg chg="del">
          <ac:chgData name="Singh, Vikrant (Stud SRH-University)" userId="S::100004638@stud.srh-university.de::977d05a8-87eb-4802-a2a6-6e9ee2a739e7" providerId="AD" clId="Web-{E41633A7-6D89-969B-A55E-66C1E5C34177}" dt="2026-07-03T03:19:04.446" v="5"/>
          <ac:spMkLst>
            <pc:docMk/>
            <pc:sldMk cId="3869335025" sldId="364"/>
            <ac:spMk id="2" creationId="{16B795A0-D88B-BBD5-FA77-F37BADE6E383}"/>
          </ac:spMkLst>
        </pc:spChg>
        <pc:spChg chg="del">
          <ac:chgData name="Singh, Vikrant (Stud SRH-University)" userId="S::100004638@stud.srh-university.de::977d05a8-87eb-4802-a2a6-6e9ee2a739e7" providerId="AD" clId="Web-{E41633A7-6D89-969B-A55E-66C1E5C34177}" dt="2026-07-03T03:18:57.945" v="4"/>
          <ac:spMkLst>
            <pc:docMk/>
            <pc:sldMk cId="3869335025" sldId="364"/>
            <ac:spMk id="3" creationId="{0C788EBD-7500-9483-F122-5891B75FA904}"/>
          </ac:spMkLst>
        </pc:spChg>
      </pc:sldChg>
    </pc:docChg>
  </pc:docChgLst>
  <pc:docChgLst>
    <pc:chgData name="Müller, Kay (Stud SRH-University)" userId="S::100006647@stud.srh-university.de::8dbe610a-d0b3-4c00-bab5-11e763e54db5" providerId="AD" clId="Web-{33C84F41-EA5F-9AA7-01E0-2D263B995387}"/>
    <pc:docChg chg="modSld">
      <pc:chgData name="Müller, Kay (Stud SRH-University)" userId="S::100006647@stud.srh-university.de::8dbe610a-d0b3-4c00-bab5-11e763e54db5" providerId="AD" clId="Web-{33C84F41-EA5F-9AA7-01E0-2D263B995387}" dt="2026-07-03T00:03:06.998" v="6"/>
      <pc:docMkLst>
        <pc:docMk/>
      </pc:docMkLst>
      <pc:sldChg chg="modSp">
        <pc:chgData name="Müller, Kay (Stud SRH-University)" userId="S::100006647@stud.srh-university.de::8dbe610a-d0b3-4c00-bab5-11e763e54db5" providerId="AD" clId="Web-{33C84F41-EA5F-9AA7-01E0-2D263B995387}" dt="2026-07-03T00:02:24.871" v="5" actId="20577"/>
        <pc:sldMkLst>
          <pc:docMk/>
          <pc:sldMk cId="3770093192" sldId="346"/>
        </pc:sldMkLst>
        <pc:spChg chg="mod">
          <ac:chgData name="Müller, Kay (Stud SRH-University)" userId="S::100006647@stud.srh-university.de::8dbe610a-d0b3-4c00-bab5-11e763e54db5" providerId="AD" clId="Web-{33C84F41-EA5F-9AA7-01E0-2D263B995387}" dt="2026-07-03T00:02:24.871" v="5" actId="20577"/>
          <ac:spMkLst>
            <pc:docMk/>
            <pc:sldMk cId="3770093192" sldId="346"/>
            <ac:spMk id="19" creationId="{0DD6D308-EAEA-A73C-28F2-2A22990E16B3}"/>
          </ac:spMkLst>
        </pc:spChg>
      </pc:sldChg>
      <pc:sldChg chg="modSp">
        <pc:chgData name="Müller, Kay (Stud SRH-University)" userId="S::100006647@stud.srh-university.de::8dbe610a-d0b3-4c00-bab5-11e763e54db5" providerId="AD" clId="Web-{33C84F41-EA5F-9AA7-01E0-2D263B995387}" dt="2026-07-03T00:03:06.998" v="6"/>
        <pc:sldMkLst>
          <pc:docMk/>
          <pc:sldMk cId="3346316787" sldId="351"/>
        </pc:sldMkLst>
        <pc:spChg chg="mod">
          <ac:chgData name="Müller, Kay (Stud SRH-University)" userId="S::100006647@stud.srh-university.de::8dbe610a-d0b3-4c00-bab5-11e763e54db5" providerId="AD" clId="Web-{33C84F41-EA5F-9AA7-01E0-2D263B995387}" dt="2026-07-03T00:01:31.182" v="2" actId="20577"/>
          <ac:spMkLst>
            <pc:docMk/>
            <pc:sldMk cId="3346316787" sldId="351"/>
            <ac:spMk id="2" creationId="{C6E7C64C-9B5C-2890-9CCF-50266DA16444}"/>
          </ac:spMkLst>
        </pc:spChg>
        <pc:graphicFrameChg chg="modGraphic">
          <ac:chgData name="Müller, Kay (Stud SRH-University)" userId="S::100006647@stud.srh-university.de::8dbe610a-d0b3-4c00-bab5-11e763e54db5" providerId="AD" clId="Web-{33C84F41-EA5F-9AA7-01E0-2D263B995387}" dt="2026-07-03T00:03:06.998" v="6"/>
          <ac:graphicFrameMkLst>
            <pc:docMk/>
            <pc:sldMk cId="3346316787" sldId="351"/>
            <ac:graphicFrameMk id="8" creationId="{0ECE0DAD-D54B-D921-A8AE-5CE63CB94EF9}"/>
          </ac:graphicFrameMkLst>
        </pc:graphicFrameChg>
      </pc:sldChg>
      <pc:sldChg chg="modSp">
        <pc:chgData name="Müller, Kay (Stud SRH-University)" userId="S::100006647@stud.srh-university.de::8dbe610a-d0b3-4c00-bab5-11e763e54db5" providerId="AD" clId="Web-{33C84F41-EA5F-9AA7-01E0-2D263B995387}" dt="2026-07-03T00:01:48.260" v="3"/>
        <pc:sldMkLst>
          <pc:docMk/>
          <pc:sldMk cId="857470055" sldId="360"/>
        </pc:sldMkLst>
        <pc:graphicFrameChg chg="modGraphic">
          <ac:chgData name="Müller, Kay (Stud SRH-University)" userId="S::100006647@stud.srh-university.de::8dbe610a-d0b3-4c00-bab5-11e763e54db5" providerId="AD" clId="Web-{33C84F41-EA5F-9AA7-01E0-2D263B995387}" dt="2026-07-03T00:01:48.260" v="3"/>
          <ac:graphicFrameMkLst>
            <pc:docMk/>
            <pc:sldMk cId="857470055" sldId="360"/>
            <ac:graphicFrameMk id="9" creationId="{C7386BD4-E483-08CD-FA16-D6B5AB70FA64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Mappe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accen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PROMISE_exp!$E$1:$E$12</c:f>
              <c:strCache>
                <c:ptCount val="12"/>
                <c:pt idx="0">
                  <c:v>F</c:v>
                </c:pt>
                <c:pt idx="1">
                  <c:v>SE</c:v>
                </c:pt>
                <c:pt idx="2">
                  <c:v>US</c:v>
                </c:pt>
                <c:pt idx="3">
                  <c:v>O</c:v>
                </c:pt>
                <c:pt idx="4">
                  <c:v>PE</c:v>
                </c:pt>
                <c:pt idx="5">
                  <c:v>LF</c:v>
                </c:pt>
                <c:pt idx="6">
                  <c:v>A</c:v>
                </c:pt>
                <c:pt idx="7">
                  <c:v>MN</c:v>
                </c:pt>
                <c:pt idx="8">
                  <c:v>SC</c:v>
                </c:pt>
                <c:pt idx="9">
                  <c:v>FT</c:v>
                </c:pt>
                <c:pt idx="10">
                  <c:v>L</c:v>
                </c:pt>
                <c:pt idx="11">
                  <c:v>PO</c:v>
                </c:pt>
              </c:strCache>
            </c:strRef>
          </c:cat>
          <c:val>
            <c:numRef>
              <c:f>PROMISE_exp!$F$1:$F$12</c:f>
              <c:numCache>
                <c:formatCode>General</c:formatCode>
                <c:ptCount val="12"/>
                <c:pt idx="0">
                  <c:v>444</c:v>
                </c:pt>
                <c:pt idx="1">
                  <c:v>125</c:v>
                </c:pt>
                <c:pt idx="2">
                  <c:v>85</c:v>
                </c:pt>
                <c:pt idx="3">
                  <c:v>77</c:v>
                </c:pt>
                <c:pt idx="4">
                  <c:v>67</c:v>
                </c:pt>
                <c:pt idx="5">
                  <c:v>49</c:v>
                </c:pt>
                <c:pt idx="6">
                  <c:v>31</c:v>
                </c:pt>
                <c:pt idx="7">
                  <c:v>24</c:v>
                </c:pt>
                <c:pt idx="8">
                  <c:v>22</c:v>
                </c:pt>
                <c:pt idx="9">
                  <c:v>18</c:v>
                </c:pt>
                <c:pt idx="10">
                  <c:v>15</c:v>
                </c:pt>
                <c:pt idx="11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BC8-F946-8620-4D05BFE67E6D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41"/>
        <c:axId val="122988160"/>
        <c:axId val="163250176"/>
      </c:barChart>
      <c:catAx>
        <c:axId val="1229881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solidFill>
            <a:schemeClr val="bg1"/>
          </a:solidFill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pPr>
            <a:endParaRPr lang="de-DE"/>
          </a:p>
        </c:txPr>
        <c:crossAx val="163250176"/>
        <c:crosses val="autoZero"/>
        <c:auto val="1"/>
        <c:lblAlgn val="ctr"/>
        <c:lblOffset val="100"/>
        <c:noMultiLvlLbl val="0"/>
      </c:catAx>
      <c:valAx>
        <c:axId val="16325017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229881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style1.xml><?xml version="1.0" encoding="utf-8"?>
<cs:chartStyle xmlns:cs="http://schemas.microsoft.com/office/drawing/2012/chartStyle" xmlns:a="http://schemas.openxmlformats.org/drawingml/2006/main" id="20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>
      <a:effectLst/>
    </cs:defRPr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68000">
            <a:schemeClr val="lt1">
              <a:lumMod val="85000"/>
            </a:schemeClr>
          </a:gs>
          <a:gs pos="100000">
            <a:schemeClr val="lt1"/>
          </a:gs>
        </a:gsLst>
        <a:lin ang="5400000" scaled="1"/>
        <a:tileRect/>
      </a:gra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lt1"/>
    </cs:fontRef>
    <cs:spPr/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gradFill>
          <a:gsLst>
            <a:gs pos="0">
              <a:schemeClr val="phClr"/>
            </a:gs>
            <a:gs pos="100000">
              <a:schemeClr val="phClr">
                <a:lumMod val="84000"/>
              </a:schemeClr>
            </a:gs>
          </a:gsLst>
          <a:lin ang="5400000" scaled="1"/>
        </a:gra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dk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kern="1200">
      <a:effectLst/>
    </cs:defRPr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dk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7A3E2A-35AE-479C-B172-30C9CAEEE094}" type="datetimeFigureOut">
              <a:rPr lang="de-DE" smtClean="0"/>
              <a:t>03.07.26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191045-FCBB-4EC9-AB5F-AA4CFDEA61C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7728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Logo Farb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Bildplatzhalter 67">
            <a:extLst>
              <a:ext uri="{FF2B5EF4-FFF2-40B4-BE49-F238E27FC236}">
                <a16:creationId xmlns:a16="http://schemas.microsoft.com/office/drawing/2014/main" id="{C0838F9B-9AC4-4B9F-B75C-3598A1CE340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0" y="0"/>
            <a:ext cx="12192000" cy="6858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888B086-C83B-42E9-9F00-760DD26801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168" y="4256282"/>
            <a:ext cx="7401024" cy="1048109"/>
          </a:xfr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153482C-77B3-40C5-ADC7-6EF2A1FA5A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168" y="1079233"/>
            <a:ext cx="7401024" cy="3018316"/>
          </a:xfrm>
        </p:spPr>
        <p:txBody>
          <a:bodyPr lIns="0" tIns="0" rIns="0" bIns="0" anchor="b"/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D8668922-7D09-4DBB-8A0A-0493EE73B4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652820" y="622144"/>
            <a:ext cx="1985963" cy="553513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defRPr sz="1550" b="1">
                <a:solidFill>
                  <a:schemeClr val="bg1"/>
                </a:solidFill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defRPr sz="1550" b="1">
                <a:solidFill>
                  <a:schemeClr val="bg1"/>
                </a:solidFill>
              </a:defRPr>
            </a:lvl2pPr>
            <a:lvl3pPr marL="0" indent="0">
              <a:lnSpc>
                <a:spcPct val="94000"/>
              </a:lnSpc>
              <a:buNone/>
              <a:defRPr sz="1550" b="1">
                <a:solidFill>
                  <a:schemeClr val="bg1"/>
                </a:solidFill>
              </a:defRPr>
            </a:lvl3pPr>
            <a:lvl4pPr>
              <a:lnSpc>
                <a:spcPct val="94000"/>
              </a:lnSpc>
              <a:spcBef>
                <a:spcPts val="0"/>
              </a:spcBef>
              <a:defRPr sz="1550" b="1">
                <a:solidFill>
                  <a:schemeClr val="bg1"/>
                </a:solidFill>
              </a:defRPr>
            </a:lvl4pPr>
            <a:lvl5pPr>
              <a:lnSpc>
                <a:spcPct val="94000"/>
              </a:lnSpc>
              <a:spcBef>
                <a:spcPts val="0"/>
              </a:spcBef>
              <a:defRPr sz="1550" b="1">
                <a:solidFill>
                  <a:schemeClr val="bg1"/>
                </a:solidFill>
              </a:defRPr>
            </a:lvl5pPr>
            <a:lvl6pPr>
              <a:lnSpc>
                <a:spcPct val="94000"/>
              </a:lnSpc>
              <a:spcBef>
                <a:spcPts val="0"/>
              </a:spcBef>
              <a:defRPr sz="1550">
                <a:solidFill>
                  <a:schemeClr val="bg1"/>
                </a:solidFill>
              </a:defRPr>
            </a:lvl6pPr>
            <a:lvl7pPr>
              <a:lnSpc>
                <a:spcPct val="94000"/>
              </a:lnSpc>
              <a:spcBef>
                <a:spcPts val="0"/>
              </a:spcBef>
              <a:defRPr sz="1550">
                <a:solidFill>
                  <a:schemeClr val="bg1"/>
                </a:solidFill>
                <a:latin typeface="+mn-lt"/>
              </a:defRPr>
            </a:lvl7pPr>
            <a:lvl8pPr>
              <a:lnSpc>
                <a:spcPct val="94000"/>
              </a:lnSpc>
              <a:spcBef>
                <a:spcPts val="0"/>
              </a:spcBef>
              <a:defRPr sz="1550">
                <a:solidFill>
                  <a:schemeClr val="bg1"/>
                </a:solidFill>
                <a:latin typeface="+mn-lt"/>
              </a:defRPr>
            </a:lvl8pPr>
            <a:lvl9pPr>
              <a:lnSpc>
                <a:spcPct val="94000"/>
              </a:lnSpc>
              <a:spcBef>
                <a:spcPts val="0"/>
              </a:spcBef>
              <a:defRPr sz="1550"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709334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Logo weiß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Bildplatzhalter 67">
            <a:extLst>
              <a:ext uri="{FF2B5EF4-FFF2-40B4-BE49-F238E27FC236}">
                <a16:creationId xmlns:a16="http://schemas.microsoft.com/office/drawing/2014/main" id="{C0838F9B-9AC4-4B9F-B75C-3598A1CE340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0" y="0"/>
            <a:ext cx="12192000" cy="6858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888B086-C83B-42E9-9F00-760DD26801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168" y="4256282"/>
            <a:ext cx="7401024" cy="1048109"/>
          </a:xfr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153482C-77B3-40C5-ADC7-6EF2A1FA5A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168" y="1079233"/>
            <a:ext cx="7401024" cy="3018316"/>
          </a:xfrm>
        </p:spPr>
        <p:txBody>
          <a:bodyPr lIns="0" tIns="0" rIns="0" bIns="0" anchor="b"/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D8668922-7D09-4DBB-8A0A-0493EE73B4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652820" y="622144"/>
            <a:ext cx="1985963" cy="553513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defRPr sz="1550" b="1">
                <a:solidFill>
                  <a:schemeClr val="bg1"/>
                </a:solidFill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defRPr sz="1550" b="1">
                <a:solidFill>
                  <a:schemeClr val="bg1"/>
                </a:solidFill>
              </a:defRPr>
            </a:lvl2pPr>
            <a:lvl3pPr marL="0" indent="0">
              <a:lnSpc>
                <a:spcPct val="94000"/>
              </a:lnSpc>
              <a:buNone/>
              <a:defRPr sz="1550" b="1">
                <a:solidFill>
                  <a:schemeClr val="bg1"/>
                </a:solidFill>
              </a:defRPr>
            </a:lvl3pPr>
            <a:lvl4pPr>
              <a:lnSpc>
                <a:spcPct val="94000"/>
              </a:lnSpc>
              <a:spcBef>
                <a:spcPts val="0"/>
              </a:spcBef>
              <a:defRPr sz="1550" b="1">
                <a:solidFill>
                  <a:schemeClr val="bg1"/>
                </a:solidFill>
              </a:defRPr>
            </a:lvl4pPr>
            <a:lvl5pPr>
              <a:lnSpc>
                <a:spcPct val="94000"/>
              </a:lnSpc>
              <a:spcBef>
                <a:spcPts val="0"/>
              </a:spcBef>
              <a:defRPr sz="1550" b="1">
                <a:solidFill>
                  <a:schemeClr val="bg1"/>
                </a:solidFill>
              </a:defRPr>
            </a:lvl5pPr>
            <a:lvl6pPr>
              <a:lnSpc>
                <a:spcPct val="94000"/>
              </a:lnSpc>
              <a:spcBef>
                <a:spcPts val="0"/>
              </a:spcBef>
              <a:defRPr sz="1550">
                <a:solidFill>
                  <a:schemeClr val="bg1"/>
                </a:solidFill>
              </a:defRPr>
            </a:lvl6pPr>
            <a:lvl7pPr>
              <a:lnSpc>
                <a:spcPct val="94000"/>
              </a:lnSpc>
              <a:spcBef>
                <a:spcPts val="0"/>
              </a:spcBef>
              <a:defRPr sz="1550">
                <a:solidFill>
                  <a:schemeClr val="bg1"/>
                </a:solidFill>
                <a:latin typeface="+mn-lt"/>
              </a:defRPr>
            </a:lvl7pPr>
            <a:lvl8pPr>
              <a:lnSpc>
                <a:spcPct val="94000"/>
              </a:lnSpc>
              <a:spcBef>
                <a:spcPts val="0"/>
              </a:spcBef>
              <a:defRPr sz="1550">
                <a:solidFill>
                  <a:schemeClr val="bg1"/>
                </a:solidFill>
                <a:latin typeface="+mn-lt"/>
              </a:defRPr>
            </a:lvl8pPr>
            <a:lvl9pPr>
              <a:lnSpc>
                <a:spcPct val="94000"/>
              </a:lnSpc>
              <a:spcBef>
                <a:spcPts val="0"/>
              </a:spcBef>
              <a:defRPr sz="1550"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srh Logo">
            <a:extLst>
              <a:ext uri="{FF2B5EF4-FFF2-40B4-BE49-F238E27FC236}">
                <a16:creationId xmlns:a16="http://schemas.microsoft.com/office/drawing/2014/main" id="{E2C8FFD0-489D-45A2-BC98-F4AC2B86D4D2}"/>
              </a:ext>
            </a:extLst>
          </p:cNvPr>
          <p:cNvSpPr>
            <a:spLocks noGrp="1"/>
          </p:cNvSpPr>
          <p:nvPr>
            <p:ph type="dgm" sz="quarter" idx="16"/>
          </p:nvPr>
        </p:nvSpPr>
        <p:spPr>
          <a:xfrm>
            <a:off x="630000" y="458084"/>
            <a:ext cx="948335" cy="733815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00">
                <a:noFill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0683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Logo-Fragment">
            <a:extLst>
              <a:ext uri="{FF2B5EF4-FFF2-40B4-BE49-F238E27FC236}">
                <a16:creationId xmlns:a16="http://schemas.microsoft.com/office/drawing/2014/main" id="{4E1C69AA-DE75-47AF-A9EE-1D16FC11535A}"/>
              </a:ext>
            </a:extLst>
          </p:cNvPr>
          <p:cNvSpPr/>
          <p:nvPr userDrawn="1"/>
        </p:nvSpPr>
        <p:spPr>
          <a:xfrm>
            <a:off x="8202787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‹Nr.›</a:t>
            </a:fld>
            <a:endParaRPr lang="de-DE"/>
          </a:p>
        </p:txBody>
      </p:sp>
      <p:sp>
        <p:nvSpPr>
          <p:cNvPr id="90" name="Thema 10">
            <a:extLst>
              <a:ext uri="{FF2B5EF4-FFF2-40B4-BE49-F238E27FC236}">
                <a16:creationId xmlns:a16="http://schemas.microsoft.com/office/drawing/2014/main" id="{CC6F2213-38FE-4FAE-8DAA-719F27FB208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773464" y="4854251"/>
            <a:ext cx="5053358" cy="70064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20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0">
                <a:solidFill>
                  <a:schemeClr val="tx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Thema</a:t>
            </a:r>
          </a:p>
          <a:p>
            <a:pPr lvl="1"/>
            <a:r>
              <a:rPr lang="de-DE"/>
              <a:t>Beschreibung</a:t>
            </a:r>
          </a:p>
        </p:txBody>
      </p:sp>
      <p:sp>
        <p:nvSpPr>
          <p:cNvPr id="91" name="Zahl Thema 10">
            <a:extLst>
              <a:ext uri="{FF2B5EF4-FFF2-40B4-BE49-F238E27FC236}">
                <a16:creationId xmlns:a16="http://schemas.microsoft.com/office/drawing/2014/main" id="{1E5FEF8A-F472-4107-8E27-82DD9F98DE8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76000" y="4854251"/>
            <a:ext cx="425604" cy="70064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20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1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88" name="Thema 9">
            <a:extLst>
              <a:ext uri="{FF2B5EF4-FFF2-40B4-BE49-F238E27FC236}">
                <a16:creationId xmlns:a16="http://schemas.microsoft.com/office/drawing/2014/main" id="{6E4AF8F3-89A8-4F9B-BA9E-56F9D85ACB6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773464" y="4072689"/>
            <a:ext cx="5053358" cy="70064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20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0">
                <a:solidFill>
                  <a:schemeClr val="tx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Thema</a:t>
            </a:r>
          </a:p>
          <a:p>
            <a:pPr lvl="1"/>
            <a:r>
              <a:rPr lang="de-DE"/>
              <a:t>Beschreibung</a:t>
            </a:r>
          </a:p>
        </p:txBody>
      </p:sp>
      <p:sp>
        <p:nvSpPr>
          <p:cNvPr id="89" name="Zahl Thema 9">
            <a:extLst>
              <a:ext uri="{FF2B5EF4-FFF2-40B4-BE49-F238E27FC236}">
                <a16:creationId xmlns:a16="http://schemas.microsoft.com/office/drawing/2014/main" id="{8176477D-061A-4734-9BB4-8EB4EA7D518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76000" y="4072689"/>
            <a:ext cx="425604" cy="70064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20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1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86" name="Thema 8">
            <a:extLst>
              <a:ext uri="{FF2B5EF4-FFF2-40B4-BE49-F238E27FC236}">
                <a16:creationId xmlns:a16="http://schemas.microsoft.com/office/drawing/2014/main" id="{DEB7B7BA-4EF3-4596-A8B9-6AF9FA83C6D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773464" y="3291126"/>
            <a:ext cx="5053358" cy="70064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20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0">
                <a:solidFill>
                  <a:schemeClr val="tx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Thema</a:t>
            </a:r>
          </a:p>
          <a:p>
            <a:pPr lvl="1"/>
            <a:r>
              <a:rPr lang="de-DE"/>
              <a:t>Beschreibung</a:t>
            </a:r>
          </a:p>
        </p:txBody>
      </p:sp>
      <p:sp>
        <p:nvSpPr>
          <p:cNvPr id="87" name="Zahl Thema 8">
            <a:extLst>
              <a:ext uri="{FF2B5EF4-FFF2-40B4-BE49-F238E27FC236}">
                <a16:creationId xmlns:a16="http://schemas.microsoft.com/office/drawing/2014/main" id="{8B5B5752-05E3-4E86-89B5-81394C15F4F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76000" y="3291126"/>
            <a:ext cx="425604" cy="70064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20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1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82" name="Thema 7">
            <a:extLst>
              <a:ext uri="{FF2B5EF4-FFF2-40B4-BE49-F238E27FC236}">
                <a16:creationId xmlns:a16="http://schemas.microsoft.com/office/drawing/2014/main" id="{ECB4B40B-F372-42B2-A209-9BCB1059062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773464" y="2509563"/>
            <a:ext cx="5053358" cy="70064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20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0">
                <a:solidFill>
                  <a:schemeClr val="tx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Thema</a:t>
            </a:r>
          </a:p>
          <a:p>
            <a:pPr lvl="1"/>
            <a:r>
              <a:rPr lang="de-DE"/>
              <a:t>Beschreibung</a:t>
            </a:r>
          </a:p>
        </p:txBody>
      </p:sp>
      <p:sp>
        <p:nvSpPr>
          <p:cNvPr id="83" name="Zahl Thema 7">
            <a:extLst>
              <a:ext uri="{FF2B5EF4-FFF2-40B4-BE49-F238E27FC236}">
                <a16:creationId xmlns:a16="http://schemas.microsoft.com/office/drawing/2014/main" id="{B198888A-6AE9-48B6-99AF-A970F8D311A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76000" y="2509563"/>
            <a:ext cx="425604" cy="70064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20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1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81" name="Thema 6">
            <a:extLst>
              <a:ext uri="{FF2B5EF4-FFF2-40B4-BE49-F238E27FC236}">
                <a16:creationId xmlns:a16="http://schemas.microsoft.com/office/drawing/2014/main" id="{B486ACC7-67B9-4B39-9EBF-88C3C35A4D1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773464" y="1728000"/>
            <a:ext cx="5053358" cy="70064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20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0">
                <a:solidFill>
                  <a:schemeClr val="tx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Thema</a:t>
            </a:r>
          </a:p>
          <a:p>
            <a:pPr lvl="1"/>
            <a:r>
              <a:rPr lang="de-DE"/>
              <a:t>Beschreibung</a:t>
            </a:r>
          </a:p>
        </p:txBody>
      </p:sp>
      <p:sp>
        <p:nvSpPr>
          <p:cNvPr id="80" name="Zahl Thema 6">
            <a:extLst>
              <a:ext uri="{FF2B5EF4-FFF2-40B4-BE49-F238E27FC236}">
                <a16:creationId xmlns:a16="http://schemas.microsoft.com/office/drawing/2014/main" id="{E307C616-82CC-4ADA-AE7F-E4DF024560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76000" y="1728000"/>
            <a:ext cx="425604" cy="70064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20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1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79" name="Thema 5">
            <a:extLst>
              <a:ext uri="{FF2B5EF4-FFF2-40B4-BE49-F238E27FC236}">
                <a16:creationId xmlns:a16="http://schemas.microsoft.com/office/drawing/2014/main" id="{5676FF1B-A5EC-4512-842C-E5CA0050FD8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62642" y="4854251"/>
            <a:ext cx="5053358" cy="70064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20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0">
                <a:solidFill>
                  <a:schemeClr val="tx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Thema</a:t>
            </a:r>
          </a:p>
          <a:p>
            <a:pPr lvl="1"/>
            <a:r>
              <a:rPr lang="de-DE"/>
              <a:t>Beschreibung</a:t>
            </a:r>
          </a:p>
        </p:txBody>
      </p:sp>
      <p:sp>
        <p:nvSpPr>
          <p:cNvPr id="78" name="Zahl Thema 5">
            <a:extLst>
              <a:ext uri="{FF2B5EF4-FFF2-40B4-BE49-F238E27FC236}">
                <a16:creationId xmlns:a16="http://schemas.microsoft.com/office/drawing/2014/main" id="{A4D68514-EBB8-4602-81C1-9A5D352969D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59400" y="4854251"/>
            <a:ext cx="425604" cy="70064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20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1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77" name="Thema 4">
            <a:extLst>
              <a:ext uri="{FF2B5EF4-FFF2-40B4-BE49-F238E27FC236}">
                <a16:creationId xmlns:a16="http://schemas.microsoft.com/office/drawing/2014/main" id="{3D37BC6F-D5CD-478E-BB54-34CB4BB84C8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62642" y="4072689"/>
            <a:ext cx="5053358" cy="70064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20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0">
                <a:solidFill>
                  <a:schemeClr val="tx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Thema</a:t>
            </a:r>
          </a:p>
          <a:p>
            <a:pPr lvl="1"/>
            <a:r>
              <a:rPr lang="de-DE"/>
              <a:t>Beschreibung</a:t>
            </a:r>
          </a:p>
        </p:txBody>
      </p:sp>
      <p:sp>
        <p:nvSpPr>
          <p:cNvPr id="76" name="Zahl Thema 4">
            <a:extLst>
              <a:ext uri="{FF2B5EF4-FFF2-40B4-BE49-F238E27FC236}">
                <a16:creationId xmlns:a16="http://schemas.microsoft.com/office/drawing/2014/main" id="{84A15981-DDE4-4111-85F8-DBD9D59082C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9400" y="4072689"/>
            <a:ext cx="425604" cy="70064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20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1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75" name="Thema 3">
            <a:extLst>
              <a:ext uri="{FF2B5EF4-FFF2-40B4-BE49-F238E27FC236}">
                <a16:creationId xmlns:a16="http://schemas.microsoft.com/office/drawing/2014/main" id="{20D0653C-5C34-4011-9A8C-EA212508A3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62642" y="3291126"/>
            <a:ext cx="5053358" cy="70064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20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0">
                <a:solidFill>
                  <a:schemeClr val="tx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Thema</a:t>
            </a:r>
          </a:p>
          <a:p>
            <a:pPr lvl="1"/>
            <a:r>
              <a:rPr lang="de-DE"/>
              <a:t>Beschreibung</a:t>
            </a:r>
          </a:p>
        </p:txBody>
      </p:sp>
      <p:sp>
        <p:nvSpPr>
          <p:cNvPr id="74" name="Zahl Thema 3">
            <a:extLst>
              <a:ext uri="{FF2B5EF4-FFF2-40B4-BE49-F238E27FC236}">
                <a16:creationId xmlns:a16="http://schemas.microsoft.com/office/drawing/2014/main" id="{719C4090-1909-4C92-9601-6C7EE6377DE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9400" y="3291126"/>
            <a:ext cx="425604" cy="70064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20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1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71" name="Thema 2">
            <a:extLst>
              <a:ext uri="{FF2B5EF4-FFF2-40B4-BE49-F238E27FC236}">
                <a16:creationId xmlns:a16="http://schemas.microsoft.com/office/drawing/2014/main" id="{F4A45600-E5D3-4BCB-99B4-7B6ED053EF9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62642" y="2509563"/>
            <a:ext cx="5053358" cy="70064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20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0">
                <a:solidFill>
                  <a:schemeClr val="tx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Thema</a:t>
            </a:r>
          </a:p>
          <a:p>
            <a:pPr lvl="1"/>
            <a:r>
              <a:rPr lang="de-DE"/>
              <a:t>Beschreibung</a:t>
            </a:r>
          </a:p>
        </p:txBody>
      </p:sp>
      <p:sp>
        <p:nvSpPr>
          <p:cNvPr id="70" name="Zahl Thema 2">
            <a:extLst>
              <a:ext uri="{FF2B5EF4-FFF2-40B4-BE49-F238E27FC236}">
                <a16:creationId xmlns:a16="http://schemas.microsoft.com/office/drawing/2014/main" id="{46686522-ADC7-4AB0-8104-D7BFD494AC4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9400" y="2509563"/>
            <a:ext cx="425604" cy="70064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20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1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40" name="Thema 1">
            <a:extLst>
              <a:ext uri="{FF2B5EF4-FFF2-40B4-BE49-F238E27FC236}">
                <a16:creationId xmlns:a16="http://schemas.microsoft.com/office/drawing/2014/main" id="{41C038E3-A911-4FFC-8F4E-9A1653D7B45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62642" y="1728000"/>
            <a:ext cx="5053358" cy="70064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20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0">
                <a:solidFill>
                  <a:schemeClr val="tx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Thema</a:t>
            </a:r>
          </a:p>
          <a:p>
            <a:pPr lvl="1"/>
            <a:r>
              <a:rPr lang="de-DE"/>
              <a:t>Beschreibung</a:t>
            </a:r>
          </a:p>
        </p:txBody>
      </p:sp>
      <p:sp>
        <p:nvSpPr>
          <p:cNvPr id="9" name="Zahl Thema 1">
            <a:extLst>
              <a:ext uri="{FF2B5EF4-FFF2-40B4-BE49-F238E27FC236}">
                <a16:creationId xmlns:a16="http://schemas.microsoft.com/office/drawing/2014/main" id="{E2ADF3CF-F60D-4ECF-8E7F-2DD46C6380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400" y="1728000"/>
            <a:ext cx="425604" cy="70064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20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1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Gliederung</a:t>
            </a:r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FA1D8E86-48B3-E816-82F0-8ACCB5C820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7645" y="6356350"/>
            <a:ext cx="874559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03.07.2026</a:t>
            </a:r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1B55D9B1-6938-AFAF-346B-965D43342A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19842" y="6356350"/>
            <a:ext cx="649569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SRH –  </a:t>
            </a:r>
            <a:r>
              <a:rPr lang="de-DE" dirty="0" err="1"/>
              <a:t>Responsible</a:t>
            </a:r>
            <a:r>
              <a:rPr lang="de-DE" dirty="0"/>
              <a:t> AI and Data </a:t>
            </a:r>
            <a:r>
              <a:rPr lang="de-DE" dirty="0" err="1"/>
              <a:t>Ethics</a:t>
            </a:r>
            <a:r>
              <a:rPr lang="de-DE" dirty="0"/>
              <a:t> | </a:t>
            </a:r>
            <a:r>
              <a:rPr lang="de-DE" dirty="0" err="1"/>
              <a:t>Vikrant</a:t>
            </a:r>
            <a:r>
              <a:rPr lang="de-DE" dirty="0"/>
              <a:t> Singh and Kay Marc Müller</a:t>
            </a:r>
          </a:p>
        </p:txBody>
      </p:sp>
    </p:spTree>
    <p:extLst>
      <p:ext uri="{BB962C8B-B14F-4D97-AF65-F5344CB8AC3E}">
        <p14:creationId xmlns:p14="http://schemas.microsoft.com/office/powerpoint/2010/main" val="1628624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Logo-Fragment">
            <a:extLst>
              <a:ext uri="{FF2B5EF4-FFF2-40B4-BE49-F238E27FC236}">
                <a16:creationId xmlns:a16="http://schemas.microsoft.com/office/drawing/2014/main" id="{4E1C69AA-DE75-47AF-A9EE-1D16FC11535A}"/>
              </a:ext>
            </a:extLst>
          </p:cNvPr>
          <p:cNvSpPr/>
          <p:nvPr/>
        </p:nvSpPr>
        <p:spPr>
          <a:xfrm>
            <a:off x="8202787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9CD8CBF-B7AC-48B2-BDFF-74D2CFF5B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400" y="1728000"/>
            <a:ext cx="9158400" cy="423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Datumsplatzhalter 3">
            <a:extLst>
              <a:ext uri="{FF2B5EF4-FFF2-40B4-BE49-F238E27FC236}">
                <a16:creationId xmlns:a16="http://schemas.microsoft.com/office/drawing/2014/main" id="{0F48DE78-FCE3-AAE7-2C8B-2D4140448A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7645" y="6356350"/>
            <a:ext cx="874559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03.07.2026</a:t>
            </a:r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4C8AE983-E700-9F1D-EE99-D456A92F9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19842" y="6356350"/>
            <a:ext cx="649569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SRH –  </a:t>
            </a:r>
            <a:r>
              <a:rPr lang="de-DE" dirty="0" err="1"/>
              <a:t>Responsible</a:t>
            </a:r>
            <a:r>
              <a:rPr lang="de-DE" dirty="0"/>
              <a:t> AI and Data </a:t>
            </a:r>
            <a:r>
              <a:rPr lang="de-DE" dirty="0" err="1"/>
              <a:t>Ethics</a:t>
            </a:r>
            <a:r>
              <a:rPr lang="de-DE" dirty="0"/>
              <a:t> | </a:t>
            </a:r>
            <a:r>
              <a:rPr lang="de-DE" dirty="0" err="1"/>
              <a:t>Vikrant</a:t>
            </a:r>
            <a:r>
              <a:rPr lang="de-DE" dirty="0"/>
              <a:t> Singh and Kay Marc Müller</a:t>
            </a:r>
          </a:p>
        </p:txBody>
      </p:sp>
    </p:spTree>
    <p:extLst>
      <p:ext uri="{BB962C8B-B14F-4D97-AF65-F5344CB8AC3E}">
        <p14:creationId xmlns:p14="http://schemas.microsoft.com/office/powerpoint/2010/main" val="2042231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Zwischenfolie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7CDE787C-B484-481E-84CF-7E94E81D5B0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6858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4F12EBF-CF8F-4714-BEE0-30A106490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616530"/>
            <a:ext cx="7642812" cy="2516885"/>
          </a:xfrm>
        </p:spPr>
        <p:txBody>
          <a:bodyPr lIns="0" tIns="0" rIns="0" bIns="0" anchor="b">
            <a:noAutofit/>
          </a:bodyPr>
          <a:lstStyle>
            <a:lvl1pPr>
              <a:lnSpc>
                <a:spcPct val="98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C31F2D7-A605-4420-9965-A99A8E0A74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000" y="3124788"/>
            <a:ext cx="7642812" cy="2516885"/>
          </a:xfrm>
        </p:spPr>
        <p:txBody>
          <a:bodyPr>
            <a:noAutofit/>
          </a:bodyPr>
          <a:lstStyle>
            <a:lvl1pPr marL="0" indent="0">
              <a:lnSpc>
                <a:spcPct val="98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SRH Headline" panose="020B0603020204020204" pitchFamily="34" charset="0"/>
                <a:ea typeface="SRH Headline" panose="020B0603020204020204" pitchFamily="34" charset="0"/>
                <a:cs typeface="SRH Headline" panose="020B0603020204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409AB51-B591-4F5B-967E-95DBFDF1A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75B144D-941B-4DFC-AF5F-0416193D12E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0" name="SmartArt-Platzhalter 14">
            <a:extLst>
              <a:ext uri="{FF2B5EF4-FFF2-40B4-BE49-F238E27FC236}">
                <a16:creationId xmlns:a16="http://schemas.microsoft.com/office/drawing/2014/main" id="{861189CF-B82F-42F8-9B1E-3E5A50EC559C}"/>
              </a:ext>
            </a:extLst>
          </p:cNvPr>
          <p:cNvSpPr>
            <a:spLocks noGrp="1"/>
          </p:cNvSpPr>
          <p:nvPr>
            <p:ph type="dgm" sz="quarter" idx="16"/>
          </p:nvPr>
        </p:nvSpPr>
        <p:spPr>
          <a:xfrm>
            <a:off x="10877358" y="358969"/>
            <a:ext cx="950656" cy="737079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00">
                <a:noFill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9735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folie warm grey">
    <p:bg>
      <p:bgPr>
        <a:solidFill>
          <a:schemeClr val="bg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BC706C0E-3E99-43D1-A3F5-7E7AF3744A83}"/>
              </a:ext>
            </a:extLst>
          </p:cNvPr>
          <p:cNvSpPr/>
          <p:nvPr userDrawn="1"/>
        </p:nvSpPr>
        <p:spPr>
          <a:xfrm>
            <a:off x="8202787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1">
              <a:alpha val="25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4F12EBF-CF8F-4714-BEE0-30A106490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2191181"/>
            <a:ext cx="9896808" cy="1406038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8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C31F2D7-A605-4420-9965-A99A8E0A743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60000" y="3597219"/>
            <a:ext cx="4255132" cy="2622606"/>
          </a:xfrm>
        </p:spPr>
        <p:txBody>
          <a:bodyPr>
            <a:noAutofit/>
          </a:bodyPr>
          <a:lstStyle>
            <a:lvl1pPr marL="0" indent="0">
              <a:lnSpc>
                <a:spcPct val="98000"/>
              </a:lnSpc>
              <a:spcBef>
                <a:spcPts val="0"/>
              </a:spcBef>
              <a:buNone/>
              <a:defRPr sz="20000" b="1">
                <a:solidFill>
                  <a:schemeClr val="accent1"/>
                </a:solidFill>
                <a:latin typeface="SRH Headline" panose="020B0603020204020204" pitchFamily="34" charset="0"/>
                <a:ea typeface="SRH Headline" panose="020B0603020204020204" pitchFamily="34" charset="0"/>
                <a:cs typeface="SRH Headline" panose="020B0603020204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01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409AB51-B591-4F5B-967E-95DBFDF1A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6D7373"/>
                </a:solidFill>
              </a:defRPr>
            </a:lvl1pPr>
          </a:lstStyle>
          <a:p>
            <a:fld id="{075B144D-941B-4DFC-AF5F-0416193D12EC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20778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folie farbi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F12EBF-CF8F-4714-BEE0-30A106490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2191181"/>
            <a:ext cx="9896808" cy="1406038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8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C31F2D7-A605-4420-9965-A99A8E0A743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60000" y="3597219"/>
            <a:ext cx="4255132" cy="2622606"/>
          </a:xfrm>
        </p:spPr>
        <p:txBody>
          <a:bodyPr>
            <a:noAutofit/>
          </a:bodyPr>
          <a:lstStyle>
            <a:lvl1pPr marL="0" indent="0">
              <a:lnSpc>
                <a:spcPct val="98000"/>
              </a:lnSpc>
              <a:spcBef>
                <a:spcPts val="0"/>
              </a:spcBef>
              <a:buNone/>
              <a:defRPr sz="20000" b="1">
                <a:solidFill>
                  <a:schemeClr val="bg1"/>
                </a:solidFill>
                <a:latin typeface="SRH Headline" panose="020B0603020204020204" pitchFamily="34" charset="0"/>
                <a:ea typeface="SRH Headline" panose="020B0603020204020204" pitchFamily="34" charset="0"/>
                <a:cs typeface="SRH Headline" panose="020B0603020204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01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409AB51-B591-4F5B-967E-95DBFDF1A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75B144D-941B-4DFC-AF5F-0416193D12EC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C0A000BE-D89F-4CF2-9153-4F676346A0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77358" y="358969"/>
            <a:ext cx="950656" cy="737079"/>
          </a:xfrm>
          <a:prstGeom prst="rect">
            <a:avLst/>
          </a:prstGeom>
        </p:spPr>
      </p:pic>
      <p:sp>
        <p:nvSpPr>
          <p:cNvPr id="9" name="Freihandform: Form 8">
            <a:extLst>
              <a:ext uri="{FF2B5EF4-FFF2-40B4-BE49-F238E27FC236}">
                <a16:creationId xmlns:a16="http://schemas.microsoft.com/office/drawing/2014/main" id="{951B6F9D-DB24-44F1-8ACB-F1C8797BDAFF}"/>
              </a:ext>
            </a:extLst>
          </p:cNvPr>
          <p:cNvSpPr/>
          <p:nvPr userDrawn="1"/>
        </p:nvSpPr>
        <p:spPr>
          <a:xfrm>
            <a:off x="8212024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  <a:alpha val="2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67981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folie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BC706C0E-3E99-43D1-A3F5-7E7AF3744A83}"/>
              </a:ext>
            </a:extLst>
          </p:cNvPr>
          <p:cNvSpPr/>
          <p:nvPr userDrawn="1"/>
        </p:nvSpPr>
        <p:spPr>
          <a:xfrm>
            <a:off x="8202787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4F12EBF-CF8F-4714-BEE0-30A106490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2191181"/>
            <a:ext cx="9896808" cy="1406038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8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C31F2D7-A605-4420-9965-A99A8E0A743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60000" y="3597219"/>
            <a:ext cx="4255132" cy="2622606"/>
          </a:xfrm>
        </p:spPr>
        <p:txBody>
          <a:bodyPr>
            <a:noAutofit/>
          </a:bodyPr>
          <a:lstStyle>
            <a:lvl1pPr marL="0" indent="0">
              <a:lnSpc>
                <a:spcPct val="98000"/>
              </a:lnSpc>
              <a:spcBef>
                <a:spcPts val="0"/>
              </a:spcBef>
              <a:buNone/>
              <a:defRPr sz="20000" b="1">
                <a:solidFill>
                  <a:schemeClr val="accent1"/>
                </a:solidFill>
                <a:latin typeface="SRH Headline" panose="020B0603020204020204" pitchFamily="34" charset="0"/>
                <a:ea typeface="SRH Headline" panose="020B0603020204020204" pitchFamily="34" charset="0"/>
                <a:cs typeface="SRH Headline" panose="020B0603020204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/>
              <a:t>01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409AB51-B591-4F5B-967E-95DBFDF1A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6D7373"/>
                </a:solidFill>
              </a:defRPr>
            </a:lvl1pPr>
          </a:lstStyle>
          <a:p>
            <a:fld id="{075B144D-941B-4DFC-AF5F-0416193D12E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Datumsplatzhalter 3">
            <a:extLst>
              <a:ext uri="{FF2B5EF4-FFF2-40B4-BE49-F238E27FC236}">
                <a16:creationId xmlns:a16="http://schemas.microsoft.com/office/drawing/2014/main" id="{FA5BE219-D217-4C6A-423B-1420FC4072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7645" y="6356350"/>
            <a:ext cx="874559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03.07.2026</a:t>
            </a:r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1D257A07-4D71-A3F0-EA4C-B16D733B2E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19842" y="6356350"/>
            <a:ext cx="649569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SRH –  </a:t>
            </a:r>
            <a:r>
              <a:rPr lang="de-DE" dirty="0" err="1"/>
              <a:t>Responsible</a:t>
            </a:r>
            <a:r>
              <a:rPr lang="de-DE" dirty="0"/>
              <a:t> AI and Data </a:t>
            </a:r>
            <a:r>
              <a:rPr lang="de-DE" dirty="0" err="1"/>
              <a:t>Ethics</a:t>
            </a:r>
            <a:r>
              <a:rPr lang="de-DE" dirty="0"/>
              <a:t> | </a:t>
            </a:r>
            <a:r>
              <a:rPr lang="de-DE" dirty="0" err="1"/>
              <a:t>Vikrant</a:t>
            </a:r>
            <a:r>
              <a:rPr lang="de-DE" dirty="0"/>
              <a:t> Singh and Kay Marc Müller</a:t>
            </a:r>
          </a:p>
        </p:txBody>
      </p:sp>
    </p:spTree>
    <p:extLst>
      <p:ext uri="{BB962C8B-B14F-4D97-AF65-F5344CB8AC3E}">
        <p14:creationId xmlns:p14="http://schemas.microsoft.com/office/powerpoint/2010/main" val="3830544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folie Statements,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A89DF183-E411-4BC5-A0BE-9BB3970575D4}"/>
              </a:ext>
            </a:extLst>
          </p:cNvPr>
          <p:cNvSpPr/>
          <p:nvPr userDrawn="1"/>
        </p:nvSpPr>
        <p:spPr>
          <a:xfrm>
            <a:off x="8202787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4F12EBF-CF8F-4714-BEE0-30A106490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2329132"/>
            <a:ext cx="11472946" cy="3980844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8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409AB51-B591-4F5B-967E-95DBFDF1A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6D7373"/>
                </a:solidFill>
              </a:defRPr>
            </a:lvl1pPr>
          </a:lstStyle>
          <a:p>
            <a:fld id="{075B144D-941B-4DFC-AF5F-0416193D12E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88AD4846-DF0E-F7DC-B779-40736A5B02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7645" y="6356350"/>
            <a:ext cx="874559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03.07.2026</a:t>
            </a:r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BBF6C5F2-7C5B-01BD-2A39-609D9C28FA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19842" y="6356350"/>
            <a:ext cx="649569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SRH –  </a:t>
            </a:r>
            <a:r>
              <a:rPr lang="de-DE" dirty="0" err="1"/>
              <a:t>Responsible</a:t>
            </a:r>
            <a:r>
              <a:rPr lang="de-DE" dirty="0"/>
              <a:t> AI and Data </a:t>
            </a:r>
            <a:r>
              <a:rPr lang="de-DE" dirty="0" err="1"/>
              <a:t>Ethics</a:t>
            </a:r>
            <a:r>
              <a:rPr lang="de-DE" dirty="0"/>
              <a:t> | </a:t>
            </a:r>
            <a:r>
              <a:rPr lang="de-DE" dirty="0" err="1"/>
              <a:t>Vikrant</a:t>
            </a:r>
            <a:r>
              <a:rPr lang="de-DE" dirty="0"/>
              <a:t> Singh and Kay Marc Müller</a:t>
            </a:r>
          </a:p>
        </p:txBody>
      </p:sp>
    </p:spTree>
    <p:extLst>
      <p:ext uri="{BB962C8B-B14F-4D97-AF65-F5344CB8AC3E}">
        <p14:creationId xmlns:p14="http://schemas.microsoft.com/office/powerpoint/2010/main" val="1259107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Zwischenfolie Statements, Farb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A89DF183-E411-4BC5-A0BE-9BB3970575D4}"/>
              </a:ext>
            </a:extLst>
          </p:cNvPr>
          <p:cNvSpPr/>
          <p:nvPr userDrawn="1"/>
        </p:nvSpPr>
        <p:spPr>
          <a:xfrm>
            <a:off x="8212024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  <a:alpha val="2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4F12EBF-CF8F-4714-BEE0-30A106490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2329132"/>
            <a:ext cx="11472946" cy="3980844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8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409AB51-B591-4F5B-967E-95DBFDF1A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75B144D-941B-4DFC-AF5F-0416193D12EC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BBB8731D-4AC9-4D2E-9335-0D0C7773E29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77358" y="358969"/>
            <a:ext cx="950656" cy="737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304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Text, 1/2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platzhalter 10">
            <a:extLst>
              <a:ext uri="{FF2B5EF4-FFF2-40B4-BE49-F238E27FC236}">
                <a16:creationId xmlns:a16="http://schemas.microsoft.com/office/drawing/2014/main" id="{3210823F-C337-45F6-8F6B-044DECDD1A8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999" y="0"/>
            <a:ext cx="6096000" cy="6858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29" name="Zeichen" hidden="1">
            <a:extLst>
              <a:ext uri="{FF2B5EF4-FFF2-40B4-BE49-F238E27FC236}">
                <a16:creationId xmlns:a16="http://schemas.microsoft.com/office/drawing/2014/main" id="{4E1C69AA-DE75-47AF-A9EE-1D16FC11535A}"/>
              </a:ext>
            </a:extLst>
          </p:cNvPr>
          <p:cNvSpPr/>
          <p:nvPr/>
        </p:nvSpPr>
        <p:spPr>
          <a:xfrm>
            <a:off x="8202787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58969"/>
            <a:ext cx="5367600" cy="83509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D6E0015B-B602-441F-BCCE-3C0B8EED050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7644" y="1728000"/>
            <a:ext cx="5367600" cy="423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‹Nr.›</a:t>
            </a:fld>
            <a:endParaRPr lang="de-DE"/>
          </a:p>
        </p:txBody>
      </p:sp>
      <p:sp>
        <p:nvSpPr>
          <p:cNvPr id="15" name="SmartArt-Platzhalter 14">
            <a:extLst>
              <a:ext uri="{FF2B5EF4-FFF2-40B4-BE49-F238E27FC236}">
                <a16:creationId xmlns:a16="http://schemas.microsoft.com/office/drawing/2014/main" id="{1542430D-7D46-45F4-82FB-B364BE702A78}"/>
              </a:ext>
            </a:extLst>
          </p:cNvPr>
          <p:cNvSpPr>
            <a:spLocks noGrp="1"/>
          </p:cNvSpPr>
          <p:nvPr>
            <p:ph type="dgm" sz="quarter" idx="16"/>
          </p:nvPr>
        </p:nvSpPr>
        <p:spPr>
          <a:xfrm>
            <a:off x="10877358" y="358969"/>
            <a:ext cx="950656" cy="737079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00">
                <a:noFill/>
              </a:defRPr>
            </a:lvl1pPr>
          </a:lstStyle>
          <a:p>
            <a:endParaRPr lang="de-DE"/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518128D0-8B12-8123-C40E-4514BBE8A2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7645" y="6356350"/>
            <a:ext cx="68497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03.07.2026</a:t>
            </a:r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0A653920-3840-4C7B-E6AF-4FDF182F1B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19842" y="6356350"/>
            <a:ext cx="4315414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SRH –  </a:t>
            </a:r>
            <a:r>
              <a:rPr lang="de-DE" dirty="0" err="1"/>
              <a:t>Responsible</a:t>
            </a:r>
            <a:r>
              <a:rPr lang="de-DE" dirty="0"/>
              <a:t> AI and Data </a:t>
            </a:r>
            <a:r>
              <a:rPr lang="de-DE" dirty="0" err="1"/>
              <a:t>Ethics</a:t>
            </a:r>
            <a:r>
              <a:rPr lang="de-DE" dirty="0"/>
              <a:t> | </a:t>
            </a:r>
            <a:r>
              <a:rPr lang="de-DE" dirty="0" err="1"/>
              <a:t>Vikrant</a:t>
            </a:r>
            <a:r>
              <a:rPr lang="de-DE" dirty="0"/>
              <a:t> Singh and Kay Marc Müller</a:t>
            </a:r>
          </a:p>
        </p:txBody>
      </p:sp>
    </p:spTree>
    <p:extLst>
      <p:ext uri="{BB962C8B-B14F-4D97-AF65-F5344CB8AC3E}">
        <p14:creationId xmlns:p14="http://schemas.microsoft.com/office/powerpoint/2010/main" val="27128504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 Text, 1/3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Zeichen" hidden="1">
            <a:extLst>
              <a:ext uri="{FF2B5EF4-FFF2-40B4-BE49-F238E27FC236}">
                <a16:creationId xmlns:a16="http://schemas.microsoft.com/office/drawing/2014/main" id="{4E1C69AA-DE75-47AF-A9EE-1D16FC11535A}"/>
              </a:ext>
            </a:extLst>
          </p:cNvPr>
          <p:cNvSpPr/>
          <p:nvPr/>
        </p:nvSpPr>
        <p:spPr>
          <a:xfrm>
            <a:off x="8202787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58969"/>
            <a:ext cx="9165600" cy="83509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D6E0015B-B602-441F-BCCE-3C0B8EED050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7644" y="1728000"/>
            <a:ext cx="7520556" cy="423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‹Nr.›</a:t>
            </a:fld>
            <a:endParaRPr lang="de-DE"/>
          </a:p>
        </p:txBody>
      </p:sp>
      <p:sp>
        <p:nvSpPr>
          <p:cNvPr id="14" name="Bildplatzhalter 10">
            <a:extLst>
              <a:ext uri="{FF2B5EF4-FFF2-40B4-BE49-F238E27FC236}">
                <a16:creationId xmlns:a16="http://schemas.microsoft.com/office/drawing/2014/main" id="{0B42F015-4444-4B37-93BC-1B2A7278A9B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248200" y="1728000"/>
            <a:ext cx="3584400" cy="4230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4BAC2144-94D4-6D8A-09E8-D74D0C0138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7645" y="6356350"/>
            <a:ext cx="874559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03.07.2026</a:t>
            </a:r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D833DA4B-8F97-93AA-8744-9479FD1A7B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19842" y="6356350"/>
            <a:ext cx="649569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SRH –  </a:t>
            </a:r>
            <a:r>
              <a:rPr lang="de-DE" dirty="0" err="1"/>
              <a:t>Responsible</a:t>
            </a:r>
            <a:r>
              <a:rPr lang="de-DE" dirty="0"/>
              <a:t> AI and Data </a:t>
            </a:r>
            <a:r>
              <a:rPr lang="de-DE" dirty="0" err="1"/>
              <a:t>Ethics</a:t>
            </a:r>
            <a:r>
              <a:rPr lang="de-DE" dirty="0"/>
              <a:t> | </a:t>
            </a:r>
            <a:r>
              <a:rPr lang="de-DE" dirty="0" err="1"/>
              <a:t>Vikrant</a:t>
            </a:r>
            <a:r>
              <a:rPr lang="de-DE" dirty="0"/>
              <a:t> Singh and Kay Marc Müller</a:t>
            </a:r>
          </a:p>
        </p:txBody>
      </p:sp>
    </p:spTree>
    <p:extLst>
      <p:ext uri="{BB962C8B-B14F-4D97-AF65-F5344CB8AC3E}">
        <p14:creationId xmlns:p14="http://schemas.microsoft.com/office/powerpoint/2010/main" val="3407540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/3 Text, 1/3 Bild im Anschni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Zeichen" hidden="1">
            <a:extLst>
              <a:ext uri="{FF2B5EF4-FFF2-40B4-BE49-F238E27FC236}">
                <a16:creationId xmlns:a16="http://schemas.microsoft.com/office/drawing/2014/main" id="{4E1C69AA-DE75-47AF-A9EE-1D16FC11535A}"/>
              </a:ext>
            </a:extLst>
          </p:cNvPr>
          <p:cNvSpPr/>
          <p:nvPr/>
        </p:nvSpPr>
        <p:spPr>
          <a:xfrm>
            <a:off x="8202787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58969"/>
            <a:ext cx="9165600" cy="83509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D6E0015B-B602-441F-BCCE-3C0B8EED050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7644" y="1728000"/>
            <a:ext cx="7520556" cy="423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‹Nr.›</a:t>
            </a:fld>
            <a:endParaRPr lang="de-DE"/>
          </a:p>
        </p:txBody>
      </p:sp>
      <p:sp>
        <p:nvSpPr>
          <p:cNvPr id="14" name="Bildplatzhalter 10">
            <a:extLst>
              <a:ext uri="{FF2B5EF4-FFF2-40B4-BE49-F238E27FC236}">
                <a16:creationId xmlns:a16="http://schemas.microsoft.com/office/drawing/2014/main" id="{0B42F015-4444-4B37-93BC-1B2A7278A9B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248200" y="1728000"/>
            <a:ext cx="3943800" cy="4230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0B736549-604D-8A12-52C2-3CE2C7930A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7645" y="6356350"/>
            <a:ext cx="874559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03.07.2026</a:t>
            </a:r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D2620FD4-1E87-2DB2-995E-D1ECB6BEF7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19842" y="6356350"/>
            <a:ext cx="649569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SRH –  </a:t>
            </a:r>
            <a:r>
              <a:rPr lang="de-DE" dirty="0" err="1"/>
              <a:t>Responsible</a:t>
            </a:r>
            <a:r>
              <a:rPr lang="de-DE" dirty="0"/>
              <a:t> AI and Data </a:t>
            </a:r>
            <a:r>
              <a:rPr lang="de-DE" dirty="0" err="1"/>
              <a:t>Ethics</a:t>
            </a:r>
            <a:r>
              <a:rPr lang="de-DE" dirty="0"/>
              <a:t> | </a:t>
            </a:r>
            <a:r>
              <a:rPr lang="de-DE" dirty="0" err="1"/>
              <a:t>Vikrant</a:t>
            </a:r>
            <a:r>
              <a:rPr lang="de-DE" dirty="0"/>
              <a:t> Singh and Kay Marc Müller</a:t>
            </a:r>
          </a:p>
        </p:txBody>
      </p:sp>
    </p:spTree>
    <p:extLst>
      <p:ext uri="{BB962C8B-B14F-4D97-AF65-F5344CB8AC3E}">
        <p14:creationId xmlns:p14="http://schemas.microsoft.com/office/powerpoint/2010/main" val="2745283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1 Inhalt auf warm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7269AF68-988A-4253-A129-3A4AAE090308}"/>
              </a:ext>
            </a:extLst>
          </p:cNvPr>
          <p:cNvSpPr/>
          <p:nvPr userDrawn="1"/>
        </p:nvSpPr>
        <p:spPr>
          <a:xfrm>
            <a:off x="0" y="1406106"/>
            <a:ext cx="12192000" cy="545189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Freihandform: Form 28">
            <a:extLst>
              <a:ext uri="{FF2B5EF4-FFF2-40B4-BE49-F238E27FC236}">
                <a16:creationId xmlns:a16="http://schemas.microsoft.com/office/drawing/2014/main" id="{4E1C69AA-DE75-47AF-A9EE-1D16FC11535A}"/>
              </a:ext>
            </a:extLst>
          </p:cNvPr>
          <p:cNvSpPr/>
          <p:nvPr/>
        </p:nvSpPr>
        <p:spPr>
          <a:xfrm>
            <a:off x="8202787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rgbClr val="E6E3E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999" y="358969"/>
            <a:ext cx="9158400" cy="83509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11897A1-EA56-4E00-87BD-78D97639AC3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9400" y="1728000"/>
            <a:ext cx="9158400" cy="423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‹Nr.›</a:t>
            </a:fld>
            <a:endParaRPr lang="de-DE"/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B774B464-D0A5-FF4E-BF4C-060D0E5234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7645" y="6356350"/>
            <a:ext cx="874559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03.07.2026</a:t>
            </a:r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EE0E8A12-E39D-AC12-0184-CBBA3E63D2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19842" y="6356350"/>
            <a:ext cx="649569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SRH –  </a:t>
            </a:r>
            <a:r>
              <a:rPr lang="de-DE" dirty="0" err="1"/>
              <a:t>Responsible</a:t>
            </a:r>
            <a:r>
              <a:rPr lang="de-DE" dirty="0"/>
              <a:t> AI and Data </a:t>
            </a:r>
            <a:r>
              <a:rPr lang="de-DE" dirty="0" err="1"/>
              <a:t>Ethics</a:t>
            </a:r>
            <a:r>
              <a:rPr lang="de-DE" dirty="0"/>
              <a:t> | </a:t>
            </a:r>
            <a:r>
              <a:rPr lang="de-DE" dirty="0" err="1"/>
              <a:t>Vikrant</a:t>
            </a:r>
            <a:r>
              <a:rPr lang="de-DE" dirty="0"/>
              <a:t> Singh and Kay Marc Müller</a:t>
            </a:r>
          </a:p>
        </p:txBody>
      </p:sp>
    </p:spTree>
    <p:extLst>
      <p:ext uri="{BB962C8B-B14F-4D97-AF65-F5344CB8AC3E}">
        <p14:creationId xmlns:p14="http://schemas.microsoft.com/office/powerpoint/2010/main" val="40512226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me auf warm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17DB8FB4-2383-45B9-9AE6-EBC2F37106BB}"/>
              </a:ext>
            </a:extLst>
          </p:cNvPr>
          <p:cNvSpPr/>
          <p:nvPr userDrawn="1"/>
        </p:nvSpPr>
        <p:spPr>
          <a:xfrm>
            <a:off x="0" y="1406106"/>
            <a:ext cx="12192000" cy="545189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Diagrammplatzhalter 8">
            <a:extLst>
              <a:ext uri="{FF2B5EF4-FFF2-40B4-BE49-F238E27FC236}">
                <a16:creationId xmlns:a16="http://schemas.microsoft.com/office/drawing/2014/main" id="{255DC5E6-3687-4930-935D-6959AEFDD585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2047627" y="1944000"/>
            <a:ext cx="3868373" cy="3204000"/>
          </a:xfr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‹Nr.›</a:t>
            </a:fld>
            <a:endParaRPr lang="de-DE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0DA6BB21-4596-46E1-A515-1F684F164C8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47627" y="5212773"/>
            <a:ext cx="3868373" cy="738842"/>
          </a:xfrm>
        </p:spPr>
        <p:txBody>
          <a:bodyPr/>
          <a:lstStyle>
            <a:lvl1pPr algn="ctr">
              <a:spcBef>
                <a:spcPts val="0"/>
              </a:spcBef>
              <a:defRPr sz="1400" b="0">
                <a:solidFill>
                  <a:schemeClr val="tx1"/>
                </a:solidFill>
              </a:defRPr>
            </a:lvl1pPr>
            <a:lvl2pPr>
              <a:defRPr sz="1400"/>
            </a:lvl2pPr>
            <a:lvl3pPr marL="0" indent="0">
              <a:buNone/>
              <a:defRPr sz="1400" b="0">
                <a:solidFill>
                  <a:srgbClr val="2C2E2E"/>
                </a:solidFill>
              </a:defRPr>
            </a:lvl3pPr>
            <a:lvl4pPr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4pPr>
            <a:lvl5pPr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5pPr>
            <a:lvl6pPr>
              <a:lnSpc>
                <a:spcPct val="110000"/>
              </a:lnSpc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6pPr>
            <a:lvl7pPr>
              <a:lnSpc>
                <a:spcPct val="110000"/>
              </a:lnSpc>
              <a:spcBef>
                <a:spcPts val="0"/>
              </a:spcBef>
              <a:defRPr sz="1400" b="0">
                <a:solidFill>
                  <a:srgbClr val="2C2E2E"/>
                </a:solidFill>
                <a:latin typeface="+mn-lt"/>
              </a:defRPr>
            </a:lvl7pPr>
            <a:lvl8pPr>
              <a:lnSpc>
                <a:spcPct val="110000"/>
              </a:lnSpc>
              <a:spcBef>
                <a:spcPts val="0"/>
              </a:spcBef>
              <a:defRPr sz="1400" b="0">
                <a:solidFill>
                  <a:srgbClr val="2C2E2E"/>
                </a:solidFill>
                <a:latin typeface="+mn-lt"/>
              </a:defRPr>
            </a:lvl8pPr>
            <a:lvl9pPr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8" name="Textplatzhalter 17">
            <a:extLst>
              <a:ext uri="{FF2B5EF4-FFF2-40B4-BE49-F238E27FC236}">
                <a16:creationId xmlns:a16="http://schemas.microsoft.com/office/drawing/2014/main" id="{03911FAF-8E7F-48D9-B333-619FD953D2D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76000" y="5212773"/>
            <a:ext cx="3868373" cy="738842"/>
          </a:xfrm>
        </p:spPr>
        <p:txBody>
          <a:bodyPr/>
          <a:lstStyle>
            <a:lvl1pPr algn="ctr">
              <a:spcBef>
                <a:spcPts val="0"/>
              </a:spcBef>
              <a:defRPr sz="1400" b="0">
                <a:solidFill>
                  <a:schemeClr val="tx1"/>
                </a:solidFill>
              </a:defRPr>
            </a:lvl1pPr>
            <a:lvl2pPr>
              <a:defRPr sz="1400"/>
            </a:lvl2pPr>
            <a:lvl3pPr marL="0" indent="0">
              <a:buNone/>
              <a:defRPr sz="1400" b="0">
                <a:solidFill>
                  <a:srgbClr val="2C2E2E"/>
                </a:solidFill>
              </a:defRPr>
            </a:lvl3pPr>
            <a:lvl4pPr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4pPr>
            <a:lvl5pPr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5pPr>
            <a:lvl6pPr>
              <a:lnSpc>
                <a:spcPct val="110000"/>
              </a:lnSpc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6pPr>
            <a:lvl7pPr>
              <a:lnSpc>
                <a:spcPct val="110000"/>
              </a:lnSpc>
              <a:spcBef>
                <a:spcPts val="0"/>
              </a:spcBef>
              <a:defRPr sz="1400" b="0">
                <a:solidFill>
                  <a:srgbClr val="2C2E2E"/>
                </a:solidFill>
                <a:latin typeface="+mn-lt"/>
              </a:defRPr>
            </a:lvl7pPr>
            <a:lvl8pPr>
              <a:lnSpc>
                <a:spcPct val="110000"/>
              </a:lnSpc>
              <a:spcBef>
                <a:spcPts val="0"/>
              </a:spcBef>
              <a:defRPr sz="1400" b="0">
                <a:solidFill>
                  <a:srgbClr val="2C2E2E"/>
                </a:solidFill>
                <a:latin typeface="+mn-lt"/>
              </a:defRPr>
            </a:lvl8pPr>
            <a:lvl9pPr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Diagrammplatzhalter 8">
            <a:extLst>
              <a:ext uri="{FF2B5EF4-FFF2-40B4-BE49-F238E27FC236}">
                <a16:creationId xmlns:a16="http://schemas.microsoft.com/office/drawing/2014/main" id="{82F84FDF-40D0-4981-B1F5-E20639CEDD2E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6276000" y="1944000"/>
            <a:ext cx="3868373" cy="3204000"/>
          </a:xfrm>
        </p:spPr>
        <p:txBody>
          <a:bodyPr/>
          <a:lstStyle/>
          <a:p>
            <a:endParaRPr lang="de-DE"/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B56BD7DF-D3F8-4249-ED9A-656605A30C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7645" y="6356350"/>
            <a:ext cx="874559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03.07.2026</a:t>
            </a:r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2D957E07-FA7D-00E4-F81F-F349B9475A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19842" y="6356350"/>
            <a:ext cx="649569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SRH –  </a:t>
            </a:r>
            <a:r>
              <a:rPr lang="de-DE" dirty="0" err="1"/>
              <a:t>Responsible</a:t>
            </a:r>
            <a:r>
              <a:rPr lang="de-DE" dirty="0"/>
              <a:t> AI and Data </a:t>
            </a:r>
            <a:r>
              <a:rPr lang="de-DE" dirty="0" err="1"/>
              <a:t>Ethics</a:t>
            </a:r>
            <a:r>
              <a:rPr lang="de-DE" dirty="0"/>
              <a:t> | </a:t>
            </a:r>
            <a:r>
              <a:rPr lang="de-DE" dirty="0" err="1"/>
              <a:t>Vikrant</a:t>
            </a:r>
            <a:r>
              <a:rPr lang="de-DE" dirty="0"/>
              <a:t> Singh and Kay Marc Müller</a:t>
            </a:r>
          </a:p>
        </p:txBody>
      </p:sp>
    </p:spTree>
    <p:extLst>
      <p:ext uri="{BB962C8B-B14F-4D97-AF65-F5344CB8AC3E}">
        <p14:creationId xmlns:p14="http://schemas.microsoft.com/office/powerpoint/2010/main" val="23075483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 auf warm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17DB8FB4-2383-45B9-9AE6-EBC2F37106BB}"/>
              </a:ext>
            </a:extLst>
          </p:cNvPr>
          <p:cNvSpPr/>
          <p:nvPr userDrawn="1"/>
        </p:nvSpPr>
        <p:spPr>
          <a:xfrm>
            <a:off x="0" y="1406106"/>
            <a:ext cx="12192000" cy="545189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8" name="Tabellenplatzhalter 7">
            <a:extLst>
              <a:ext uri="{FF2B5EF4-FFF2-40B4-BE49-F238E27FC236}">
                <a16:creationId xmlns:a16="http://schemas.microsoft.com/office/drawing/2014/main" id="{F255DF77-CD01-4D1B-BC9A-507F01212649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359999" y="2874044"/>
            <a:ext cx="9158400" cy="2325712"/>
          </a:xfr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Tabellenplatzhalter 6">
            <a:extLst>
              <a:ext uri="{FF2B5EF4-FFF2-40B4-BE49-F238E27FC236}">
                <a16:creationId xmlns:a16="http://schemas.microsoft.com/office/drawing/2014/main" id="{8722EC19-EBD0-46D7-BE18-A0FF5FD1E390}"/>
              </a:ext>
            </a:extLst>
          </p:cNvPr>
          <p:cNvSpPr>
            <a:spLocks noGrp="1"/>
          </p:cNvSpPr>
          <p:nvPr>
            <p:ph type="tbl" sz="quarter" idx="18"/>
          </p:nvPr>
        </p:nvSpPr>
        <p:spPr>
          <a:xfrm>
            <a:off x="359999" y="1728000"/>
            <a:ext cx="9158400" cy="780950"/>
          </a:xfrm>
        </p:spPr>
        <p:txBody>
          <a:bodyPr/>
          <a:lstStyle/>
          <a:p>
            <a:endParaRPr lang="de-DE"/>
          </a:p>
        </p:txBody>
      </p:sp>
      <p:sp>
        <p:nvSpPr>
          <p:cNvPr id="12" name="Textplatzhalter 17">
            <a:extLst>
              <a:ext uri="{FF2B5EF4-FFF2-40B4-BE49-F238E27FC236}">
                <a16:creationId xmlns:a16="http://schemas.microsoft.com/office/drawing/2014/main" id="{5FF8A264-794E-45B1-A549-AD3AD03960D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9998" y="5463555"/>
            <a:ext cx="9158400" cy="494333"/>
          </a:xfrm>
        </p:spPr>
        <p:txBody>
          <a:bodyPr anchor="b"/>
          <a:lstStyle>
            <a:lvl1pPr algn="l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  <a:lvl2pPr>
              <a:defRPr sz="1400"/>
            </a:lvl2pPr>
            <a:lvl3pPr marL="0" indent="0">
              <a:buNone/>
              <a:defRPr sz="1400" b="0">
                <a:solidFill>
                  <a:srgbClr val="2C2E2E"/>
                </a:solidFill>
              </a:defRPr>
            </a:lvl3pPr>
            <a:lvl4pPr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4pPr>
            <a:lvl5pPr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5pPr>
            <a:lvl6pPr>
              <a:lnSpc>
                <a:spcPct val="110000"/>
              </a:lnSpc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6pPr>
            <a:lvl7pPr>
              <a:lnSpc>
                <a:spcPct val="110000"/>
              </a:lnSpc>
              <a:spcBef>
                <a:spcPts val="0"/>
              </a:spcBef>
              <a:defRPr sz="1400" b="0">
                <a:solidFill>
                  <a:srgbClr val="2C2E2E"/>
                </a:solidFill>
                <a:latin typeface="+mn-lt"/>
              </a:defRPr>
            </a:lvl7pPr>
            <a:lvl8pPr>
              <a:lnSpc>
                <a:spcPct val="110000"/>
              </a:lnSpc>
              <a:spcBef>
                <a:spcPts val="0"/>
              </a:spcBef>
              <a:defRPr sz="1400" b="0">
                <a:solidFill>
                  <a:srgbClr val="2C2E2E"/>
                </a:solidFill>
                <a:latin typeface="+mn-lt"/>
              </a:defRPr>
            </a:lvl8pPr>
            <a:lvl9pPr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A421DB95-AAB9-F03D-AC58-AF71FE0221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7645" y="6356350"/>
            <a:ext cx="874559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03.07.2026</a:t>
            </a:r>
          </a:p>
        </p:txBody>
      </p:sp>
      <p:sp>
        <p:nvSpPr>
          <p:cNvPr id="9" name="Fußzeilenplatzhalter 4">
            <a:extLst>
              <a:ext uri="{FF2B5EF4-FFF2-40B4-BE49-F238E27FC236}">
                <a16:creationId xmlns:a16="http://schemas.microsoft.com/office/drawing/2014/main" id="{AB31D063-1102-0A4E-CA05-4476EBFB0F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19842" y="6356350"/>
            <a:ext cx="649569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SRH –  </a:t>
            </a:r>
            <a:r>
              <a:rPr lang="de-DE" dirty="0" err="1"/>
              <a:t>Responsible</a:t>
            </a:r>
            <a:r>
              <a:rPr lang="de-DE" dirty="0"/>
              <a:t> AI and Data </a:t>
            </a:r>
            <a:r>
              <a:rPr lang="de-DE" dirty="0" err="1"/>
              <a:t>Ethics</a:t>
            </a:r>
            <a:r>
              <a:rPr lang="de-DE" dirty="0"/>
              <a:t> | </a:t>
            </a:r>
            <a:r>
              <a:rPr lang="de-DE" dirty="0" err="1"/>
              <a:t>Vikrant</a:t>
            </a:r>
            <a:r>
              <a:rPr lang="de-DE" dirty="0"/>
              <a:t> Singh and Kay Marc Müller</a:t>
            </a:r>
          </a:p>
        </p:txBody>
      </p:sp>
    </p:spTree>
    <p:extLst>
      <p:ext uri="{BB962C8B-B14F-4D97-AF65-F5344CB8AC3E}">
        <p14:creationId xmlns:p14="http://schemas.microsoft.com/office/powerpoint/2010/main" val="41119898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 auf wei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8" name="Tabellenplatzhalter 7">
            <a:extLst>
              <a:ext uri="{FF2B5EF4-FFF2-40B4-BE49-F238E27FC236}">
                <a16:creationId xmlns:a16="http://schemas.microsoft.com/office/drawing/2014/main" id="{F255DF77-CD01-4D1B-BC9A-507F01212649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359999" y="2874044"/>
            <a:ext cx="9158400" cy="2325712"/>
          </a:xfr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Tabellenplatzhalter 6">
            <a:extLst>
              <a:ext uri="{FF2B5EF4-FFF2-40B4-BE49-F238E27FC236}">
                <a16:creationId xmlns:a16="http://schemas.microsoft.com/office/drawing/2014/main" id="{8722EC19-EBD0-46D7-BE18-A0FF5FD1E390}"/>
              </a:ext>
            </a:extLst>
          </p:cNvPr>
          <p:cNvSpPr>
            <a:spLocks noGrp="1"/>
          </p:cNvSpPr>
          <p:nvPr>
            <p:ph type="tbl" sz="quarter" idx="18"/>
          </p:nvPr>
        </p:nvSpPr>
        <p:spPr>
          <a:xfrm>
            <a:off x="359999" y="1728000"/>
            <a:ext cx="9158400" cy="780950"/>
          </a:xfrm>
        </p:spPr>
        <p:txBody>
          <a:bodyPr/>
          <a:lstStyle/>
          <a:p>
            <a:endParaRPr lang="de-DE"/>
          </a:p>
        </p:txBody>
      </p:sp>
      <p:sp>
        <p:nvSpPr>
          <p:cNvPr id="12" name="Textplatzhalter 17">
            <a:extLst>
              <a:ext uri="{FF2B5EF4-FFF2-40B4-BE49-F238E27FC236}">
                <a16:creationId xmlns:a16="http://schemas.microsoft.com/office/drawing/2014/main" id="{5FF8A264-794E-45B1-A549-AD3AD03960D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9998" y="5463555"/>
            <a:ext cx="9158400" cy="494333"/>
          </a:xfrm>
        </p:spPr>
        <p:txBody>
          <a:bodyPr anchor="b"/>
          <a:lstStyle>
            <a:lvl1pPr algn="l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  <a:lvl2pPr>
              <a:defRPr sz="1400"/>
            </a:lvl2pPr>
            <a:lvl3pPr marL="0" indent="0">
              <a:buNone/>
              <a:defRPr sz="1400" b="0">
                <a:solidFill>
                  <a:srgbClr val="2C2E2E"/>
                </a:solidFill>
              </a:defRPr>
            </a:lvl3pPr>
            <a:lvl4pPr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4pPr>
            <a:lvl5pPr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5pPr>
            <a:lvl6pPr>
              <a:lnSpc>
                <a:spcPct val="110000"/>
              </a:lnSpc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6pPr>
            <a:lvl7pPr>
              <a:lnSpc>
                <a:spcPct val="110000"/>
              </a:lnSpc>
              <a:spcBef>
                <a:spcPts val="0"/>
              </a:spcBef>
              <a:defRPr sz="1400" b="0">
                <a:solidFill>
                  <a:srgbClr val="2C2E2E"/>
                </a:solidFill>
                <a:latin typeface="+mn-lt"/>
              </a:defRPr>
            </a:lvl7pPr>
            <a:lvl8pPr>
              <a:lnSpc>
                <a:spcPct val="110000"/>
              </a:lnSpc>
              <a:spcBef>
                <a:spcPts val="0"/>
              </a:spcBef>
              <a:defRPr sz="1400" b="0">
                <a:solidFill>
                  <a:srgbClr val="2C2E2E"/>
                </a:solidFill>
                <a:latin typeface="+mn-lt"/>
              </a:defRPr>
            </a:lvl8pPr>
            <a:lvl9pPr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F0190861-E54A-9EAD-DE47-37428828CD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7645" y="6356350"/>
            <a:ext cx="874559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03.07.2026</a:t>
            </a:r>
          </a:p>
        </p:txBody>
      </p:sp>
      <p:sp>
        <p:nvSpPr>
          <p:cNvPr id="9" name="Fußzeilenplatzhalter 4">
            <a:extLst>
              <a:ext uri="{FF2B5EF4-FFF2-40B4-BE49-F238E27FC236}">
                <a16:creationId xmlns:a16="http://schemas.microsoft.com/office/drawing/2014/main" id="{14A812D4-3677-38CD-4892-A631545656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19842" y="6356350"/>
            <a:ext cx="649569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SRH –  </a:t>
            </a:r>
            <a:r>
              <a:rPr lang="de-DE" dirty="0" err="1"/>
              <a:t>Responsible</a:t>
            </a:r>
            <a:r>
              <a:rPr lang="de-DE" dirty="0"/>
              <a:t> AI and Data </a:t>
            </a:r>
            <a:r>
              <a:rPr lang="de-DE" dirty="0" err="1"/>
              <a:t>Ethics</a:t>
            </a:r>
            <a:r>
              <a:rPr lang="de-DE" dirty="0"/>
              <a:t> | </a:t>
            </a:r>
            <a:r>
              <a:rPr lang="de-DE" dirty="0" err="1"/>
              <a:t>Vikrant</a:t>
            </a:r>
            <a:r>
              <a:rPr lang="de-DE" dirty="0"/>
              <a:t> Singh and Kay Marc Müller</a:t>
            </a:r>
          </a:p>
        </p:txBody>
      </p:sp>
    </p:spTree>
    <p:extLst>
      <p:ext uri="{BB962C8B-B14F-4D97-AF65-F5344CB8AC3E}">
        <p14:creationId xmlns:p14="http://schemas.microsoft.com/office/powerpoint/2010/main" val="19172641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 und Text auf warm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17DB8FB4-2383-45B9-9AE6-EBC2F37106BB}"/>
              </a:ext>
            </a:extLst>
          </p:cNvPr>
          <p:cNvSpPr/>
          <p:nvPr userDrawn="1"/>
        </p:nvSpPr>
        <p:spPr>
          <a:xfrm>
            <a:off x="0" y="1406106"/>
            <a:ext cx="12192000" cy="545189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8" name="Tabellenplatzhalter 7">
            <a:extLst>
              <a:ext uri="{FF2B5EF4-FFF2-40B4-BE49-F238E27FC236}">
                <a16:creationId xmlns:a16="http://schemas.microsoft.com/office/drawing/2014/main" id="{F255DF77-CD01-4D1B-BC9A-507F01212649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360000" y="2874044"/>
            <a:ext cx="7528801" cy="2325712"/>
          </a:xfr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Tabellenplatzhalter 6">
            <a:extLst>
              <a:ext uri="{FF2B5EF4-FFF2-40B4-BE49-F238E27FC236}">
                <a16:creationId xmlns:a16="http://schemas.microsoft.com/office/drawing/2014/main" id="{8722EC19-EBD0-46D7-BE18-A0FF5FD1E390}"/>
              </a:ext>
            </a:extLst>
          </p:cNvPr>
          <p:cNvSpPr>
            <a:spLocks noGrp="1"/>
          </p:cNvSpPr>
          <p:nvPr>
            <p:ph type="tbl" sz="quarter" idx="18"/>
          </p:nvPr>
        </p:nvSpPr>
        <p:spPr>
          <a:xfrm>
            <a:off x="360000" y="1728000"/>
            <a:ext cx="7528801" cy="780950"/>
          </a:xfrm>
        </p:spPr>
        <p:txBody>
          <a:bodyPr/>
          <a:lstStyle/>
          <a:p>
            <a:endParaRPr lang="de-DE"/>
          </a:p>
        </p:txBody>
      </p:sp>
      <p:sp>
        <p:nvSpPr>
          <p:cNvPr id="12" name="Textplatzhalter 17">
            <a:extLst>
              <a:ext uri="{FF2B5EF4-FFF2-40B4-BE49-F238E27FC236}">
                <a16:creationId xmlns:a16="http://schemas.microsoft.com/office/drawing/2014/main" id="{5FF8A264-794E-45B1-A549-AD3AD03960D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9998" y="5463554"/>
            <a:ext cx="7528802" cy="493200"/>
          </a:xfrm>
        </p:spPr>
        <p:txBody>
          <a:bodyPr anchor="b"/>
          <a:lstStyle>
            <a:lvl1pPr algn="l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  <a:lvl2pPr>
              <a:defRPr sz="1400"/>
            </a:lvl2pPr>
            <a:lvl3pPr marL="0" indent="0">
              <a:buNone/>
              <a:defRPr sz="1400" b="0">
                <a:solidFill>
                  <a:srgbClr val="2C2E2E"/>
                </a:solidFill>
              </a:defRPr>
            </a:lvl3pPr>
            <a:lvl4pPr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4pPr>
            <a:lvl5pPr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5pPr>
            <a:lvl6pPr>
              <a:lnSpc>
                <a:spcPct val="110000"/>
              </a:lnSpc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6pPr>
            <a:lvl7pPr>
              <a:lnSpc>
                <a:spcPct val="110000"/>
              </a:lnSpc>
              <a:spcBef>
                <a:spcPts val="0"/>
              </a:spcBef>
              <a:defRPr sz="1400" b="0">
                <a:solidFill>
                  <a:srgbClr val="2C2E2E"/>
                </a:solidFill>
                <a:latin typeface="+mn-lt"/>
              </a:defRPr>
            </a:lvl7pPr>
            <a:lvl8pPr>
              <a:lnSpc>
                <a:spcPct val="110000"/>
              </a:lnSpc>
              <a:spcBef>
                <a:spcPts val="0"/>
              </a:spcBef>
              <a:defRPr sz="1400" b="0">
                <a:solidFill>
                  <a:srgbClr val="2C2E2E"/>
                </a:solidFill>
                <a:latin typeface="+mn-lt"/>
              </a:defRPr>
            </a:lvl8pPr>
            <a:lvl9pPr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C96CA32A-ADBA-47A3-8757-69DCD77F6EE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48800" y="1728000"/>
            <a:ext cx="3584400" cy="423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2FBEE152-EDF5-90EC-9FD7-6D3C70FA77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7645" y="6356350"/>
            <a:ext cx="874559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03.07.2026</a:t>
            </a:r>
          </a:p>
        </p:txBody>
      </p:sp>
      <p:sp>
        <p:nvSpPr>
          <p:cNvPr id="9" name="Fußzeilenplatzhalter 4">
            <a:extLst>
              <a:ext uri="{FF2B5EF4-FFF2-40B4-BE49-F238E27FC236}">
                <a16:creationId xmlns:a16="http://schemas.microsoft.com/office/drawing/2014/main" id="{E7D0CC61-209F-568C-89D6-23B3A5FC4F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19842" y="6356350"/>
            <a:ext cx="649569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SRH –  </a:t>
            </a:r>
            <a:r>
              <a:rPr lang="de-DE" dirty="0" err="1"/>
              <a:t>Responsible</a:t>
            </a:r>
            <a:r>
              <a:rPr lang="de-DE" dirty="0"/>
              <a:t> AI and Data </a:t>
            </a:r>
            <a:r>
              <a:rPr lang="de-DE" dirty="0" err="1"/>
              <a:t>Ethics</a:t>
            </a:r>
            <a:r>
              <a:rPr lang="de-DE" dirty="0"/>
              <a:t> | </a:t>
            </a:r>
            <a:r>
              <a:rPr lang="de-DE" dirty="0" err="1"/>
              <a:t>Vikrant</a:t>
            </a:r>
            <a:r>
              <a:rPr lang="de-DE" dirty="0"/>
              <a:t> Singh and Kay Marc Müller</a:t>
            </a:r>
          </a:p>
        </p:txBody>
      </p:sp>
    </p:spTree>
    <p:extLst>
      <p:ext uri="{BB962C8B-B14F-4D97-AF65-F5344CB8AC3E}">
        <p14:creationId xmlns:p14="http://schemas.microsoft.com/office/powerpoint/2010/main" val="34353983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 und Text auf wei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8" name="Tabellenplatzhalter 7">
            <a:extLst>
              <a:ext uri="{FF2B5EF4-FFF2-40B4-BE49-F238E27FC236}">
                <a16:creationId xmlns:a16="http://schemas.microsoft.com/office/drawing/2014/main" id="{F255DF77-CD01-4D1B-BC9A-507F01212649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360000" y="2874044"/>
            <a:ext cx="7528801" cy="2325712"/>
          </a:xfrm>
        </p:spPr>
        <p:txBody>
          <a:bodyPr/>
          <a:lstStyle>
            <a:lvl1pPr>
              <a:defRPr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Tabellenplatzhalter 6">
            <a:extLst>
              <a:ext uri="{FF2B5EF4-FFF2-40B4-BE49-F238E27FC236}">
                <a16:creationId xmlns:a16="http://schemas.microsoft.com/office/drawing/2014/main" id="{8722EC19-EBD0-46D7-BE18-A0FF5FD1E390}"/>
              </a:ext>
            </a:extLst>
          </p:cNvPr>
          <p:cNvSpPr>
            <a:spLocks noGrp="1"/>
          </p:cNvSpPr>
          <p:nvPr>
            <p:ph type="tbl" sz="quarter" idx="18"/>
          </p:nvPr>
        </p:nvSpPr>
        <p:spPr>
          <a:xfrm>
            <a:off x="360000" y="1728000"/>
            <a:ext cx="7528801" cy="780950"/>
          </a:xfrm>
        </p:spPr>
        <p:txBody>
          <a:bodyPr/>
          <a:lstStyle>
            <a:lvl1pPr>
              <a:defRPr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endParaRPr lang="de-DE"/>
          </a:p>
        </p:txBody>
      </p:sp>
      <p:sp>
        <p:nvSpPr>
          <p:cNvPr id="12" name="Textplatzhalter 17">
            <a:extLst>
              <a:ext uri="{FF2B5EF4-FFF2-40B4-BE49-F238E27FC236}">
                <a16:creationId xmlns:a16="http://schemas.microsoft.com/office/drawing/2014/main" id="{5FF8A264-794E-45B1-A549-AD3AD03960D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9998" y="5463554"/>
            <a:ext cx="7528802" cy="493200"/>
          </a:xfrm>
        </p:spPr>
        <p:txBody>
          <a:bodyPr anchor="b"/>
          <a:lstStyle>
            <a:lvl1pPr algn="l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  <a:lvl2pPr>
              <a:defRPr sz="1400"/>
            </a:lvl2pPr>
            <a:lvl3pPr marL="0" indent="0">
              <a:buNone/>
              <a:defRPr sz="1400" b="0">
                <a:solidFill>
                  <a:srgbClr val="2C2E2E"/>
                </a:solidFill>
              </a:defRPr>
            </a:lvl3pPr>
            <a:lvl4pPr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4pPr>
            <a:lvl5pPr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5pPr>
            <a:lvl6pPr>
              <a:lnSpc>
                <a:spcPct val="110000"/>
              </a:lnSpc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6pPr>
            <a:lvl7pPr>
              <a:lnSpc>
                <a:spcPct val="110000"/>
              </a:lnSpc>
              <a:spcBef>
                <a:spcPts val="0"/>
              </a:spcBef>
              <a:defRPr sz="1400" b="0">
                <a:solidFill>
                  <a:srgbClr val="2C2E2E"/>
                </a:solidFill>
                <a:latin typeface="+mn-lt"/>
              </a:defRPr>
            </a:lvl7pPr>
            <a:lvl8pPr>
              <a:lnSpc>
                <a:spcPct val="110000"/>
              </a:lnSpc>
              <a:spcBef>
                <a:spcPts val="0"/>
              </a:spcBef>
              <a:defRPr sz="1400" b="0">
                <a:solidFill>
                  <a:srgbClr val="2C2E2E"/>
                </a:solidFill>
                <a:latin typeface="+mn-lt"/>
              </a:defRPr>
            </a:lvl8pPr>
            <a:lvl9pPr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C96CA32A-ADBA-47A3-8757-69DCD77F6EE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48800" y="1728000"/>
            <a:ext cx="3584400" cy="423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FF89B70E-FD1A-55C6-6F0A-A6D44978F3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7645" y="6356350"/>
            <a:ext cx="874559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03.07.2026</a:t>
            </a:r>
          </a:p>
        </p:txBody>
      </p:sp>
      <p:sp>
        <p:nvSpPr>
          <p:cNvPr id="9" name="Fußzeilenplatzhalter 4">
            <a:extLst>
              <a:ext uri="{FF2B5EF4-FFF2-40B4-BE49-F238E27FC236}">
                <a16:creationId xmlns:a16="http://schemas.microsoft.com/office/drawing/2014/main" id="{0D20E58A-8EEA-9A92-3EDA-66CD4D8A52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19842" y="6356350"/>
            <a:ext cx="649569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SRH –  </a:t>
            </a:r>
            <a:r>
              <a:rPr lang="de-DE" dirty="0" err="1"/>
              <a:t>Responsible</a:t>
            </a:r>
            <a:r>
              <a:rPr lang="de-DE" dirty="0"/>
              <a:t> AI and Data </a:t>
            </a:r>
            <a:r>
              <a:rPr lang="de-DE" dirty="0" err="1"/>
              <a:t>Ethics</a:t>
            </a:r>
            <a:r>
              <a:rPr lang="de-DE" dirty="0"/>
              <a:t> | </a:t>
            </a:r>
            <a:r>
              <a:rPr lang="de-DE" dirty="0" err="1"/>
              <a:t>Vikrant</a:t>
            </a:r>
            <a:r>
              <a:rPr lang="de-DE" dirty="0"/>
              <a:t> Singh and Kay Marc Müller</a:t>
            </a:r>
          </a:p>
        </p:txBody>
      </p:sp>
    </p:spTree>
    <p:extLst>
      <p:ext uri="{BB962C8B-B14F-4D97-AF65-F5344CB8AC3E}">
        <p14:creationId xmlns:p14="http://schemas.microsoft.com/office/powerpoint/2010/main" val="14647360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000F0B-E229-41CB-A4F2-F8C9A6397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5AD5931-23CA-4583-B798-7C917D232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‹Nr.›</a:t>
            </a:fld>
            <a:endParaRPr lang="de-DE"/>
          </a:p>
        </p:txBody>
      </p:sp>
      <p:sp>
        <p:nvSpPr>
          <p:cNvPr id="6" name="Datumsplatzhalter 3">
            <a:extLst>
              <a:ext uri="{FF2B5EF4-FFF2-40B4-BE49-F238E27FC236}">
                <a16:creationId xmlns:a16="http://schemas.microsoft.com/office/drawing/2014/main" id="{56005E4B-63EA-BD82-0400-20A8B2178D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7645" y="6356350"/>
            <a:ext cx="874559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03.07.2026</a:t>
            </a:r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E67B0677-8ADB-0216-DF46-617E3C51EC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19842" y="6356350"/>
            <a:ext cx="649569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SRH –  </a:t>
            </a:r>
            <a:r>
              <a:rPr lang="de-DE" dirty="0" err="1"/>
              <a:t>Responsible</a:t>
            </a:r>
            <a:r>
              <a:rPr lang="de-DE" dirty="0"/>
              <a:t> AI and Data </a:t>
            </a:r>
            <a:r>
              <a:rPr lang="de-DE" dirty="0" err="1"/>
              <a:t>Ethics</a:t>
            </a:r>
            <a:r>
              <a:rPr lang="de-DE" dirty="0"/>
              <a:t> | </a:t>
            </a:r>
            <a:r>
              <a:rPr lang="de-DE" dirty="0" err="1"/>
              <a:t>Vikrant</a:t>
            </a:r>
            <a:r>
              <a:rPr lang="de-DE" dirty="0"/>
              <a:t> Singh and Kay Marc Müller</a:t>
            </a:r>
          </a:p>
        </p:txBody>
      </p:sp>
    </p:spTree>
    <p:extLst>
      <p:ext uri="{BB962C8B-B14F-4D97-AF65-F5344CB8AC3E}">
        <p14:creationId xmlns:p14="http://schemas.microsoft.com/office/powerpoint/2010/main" val="14532709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5FDE75B-FF1F-416F-A307-21032D741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‹Nr.›</a:t>
            </a:fld>
            <a:endParaRPr lang="de-DE"/>
          </a:p>
        </p:txBody>
      </p:sp>
      <p:sp>
        <p:nvSpPr>
          <p:cNvPr id="5" name="Datumsplatzhalter 3">
            <a:extLst>
              <a:ext uri="{FF2B5EF4-FFF2-40B4-BE49-F238E27FC236}">
                <a16:creationId xmlns:a16="http://schemas.microsoft.com/office/drawing/2014/main" id="{02378864-6FF9-B4E3-E785-4390023F31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7645" y="6356350"/>
            <a:ext cx="874559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03.07.2026</a:t>
            </a:r>
          </a:p>
        </p:txBody>
      </p:sp>
      <p:sp>
        <p:nvSpPr>
          <p:cNvPr id="6" name="Fußzeilenplatzhalter 4">
            <a:extLst>
              <a:ext uri="{FF2B5EF4-FFF2-40B4-BE49-F238E27FC236}">
                <a16:creationId xmlns:a16="http://schemas.microsoft.com/office/drawing/2014/main" id="{98A80BBB-BBEE-889E-8B0E-2E31C79B56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19842" y="6356350"/>
            <a:ext cx="649569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SRH –  </a:t>
            </a:r>
            <a:r>
              <a:rPr lang="de-DE" dirty="0" err="1"/>
              <a:t>Responsible</a:t>
            </a:r>
            <a:r>
              <a:rPr lang="de-DE" dirty="0"/>
              <a:t> AI and Data </a:t>
            </a:r>
            <a:r>
              <a:rPr lang="de-DE" dirty="0" err="1"/>
              <a:t>Ethics</a:t>
            </a:r>
            <a:r>
              <a:rPr lang="de-DE" dirty="0"/>
              <a:t> | </a:t>
            </a:r>
            <a:r>
              <a:rPr lang="de-DE" dirty="0" err="1"/>
              <a:t>Vikrant</a:t>
            </a:r>
            <a:r>
              <a:rPr lang="de-DE" dirty="0"/>
              <a:t> Singh and Kay Marc Müller</a:t>
            </a:r>
          </a:p>
        </p:txBody>
      </p:sp>
    </p:spTree>
    <p:extLst>
      <p:ext uri="{BB962C8B-B14F-4D97-AF65-F5344CB8AC3E}">
        <p14:creationId xmlns:p14="http://schemas.microsoft.com/office/powerpoint/2010/main" val="27005264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A89DF183-E411-4BC5-A0BE-9BB3970575D4}"/>
              </a:ext>
            </a:extLst>
          </p:cNvPr>
          <p:cNvSpPr/>
          <p:nvPr userDrawn="1"/>
        </p:nvSpPr>
        <p:spPr>
          <a:xfrm>
            <a:off x="8202787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148E321B-0FFD-42B0-B89F-0A148F81F82A}"/>
              </a:ext>
            </a:extLst>
          </p:cNvPr>
          <p:cNvSpPr txBox="1"/>
          <p:nvPr userDrawn="1"/>
        </p:nvSpPr>
        <p:spPr>
          <a:xfrm>
            <a:off x="360000" y="1891862"/>
            <a:ext cx="7455532" cy="208104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de-DE" sz="4800" b="1">
                <a:solidFill>
                  <a:schemeClr val="tx1"/>
                </a:solidFill>
                <a:latin typeface="SRH Headline" panose="020B0603020204020204" pitchFamily="34" charset="0"/>
                <a:ea typeface="SRH Headline" panose="020B0603020204020204" pitchFamily="34" charset="0"/>
                <a:cs typeface="SRH Headline" panose="020B0603020204020204" pitchFamily="34" charset="0"/>
              </a:rPr>
              <a:t>Vielen Dank für Ihre </a:t>
            </a:r>
            <a:br>
              <a:rPr lang="de-DE" sz="4800" b="1">
                <a:solidFill>
                  <a:schemeClr val="tx1"/>
                </a:solidFill>
                <a:latin typeface="SRH Headline" panose="020B0603020204020204" pitchFamily="34" charset="0"/>
                <a:ea typeface="SRH Headline" panose="020B0603020204020204" pitchFamily="34" charset="0"/>
                <a:cs typeface="SRH Headline" panose="020B0603020204020204" pitchFamily="34" charset="0"/>
              </a:rPr>
            </a:br>
            <a:r>
              <a:rPr lang="de-DE" sz="4800" b="1">
                <a:solidFill>
                  <a:schemeClr val="tx1"/>
                </a:solidFill>
                <a:latin typeface="SRH Headline" panose="020B0603020204020204" pitchFamily="34" charset="0"/>
                <a:ea typeface="SRH Headline" panose="020B0603020204020204" pitchFamily="34" charset="0"/>
                <a:cs typeface="SRH Headline" panose="020B0603020204020204" pitchFamily="34" charset="0"/>
              </a:rPr>
              <a:t>Aufmerksamkeit!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4089409A-B58C-4672-A297-06D68AFA2FF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0000" y="4881435"/>
            <a:ext cx="4630928" cy="1272029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1200" b="1"/>
            </a:lvl2pPr>
            <a:lvl3pPr marL="0" indent="0">
              <a:lnSpc>
                <a:spcPct val="100000"/>
              </a:lnSpc>
              <a:buNone/>
              <a:defRPr sz="1200" b="1">
                <a:solidFill>
                  <a:srgbClr val="2C2E2E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rgbClr val="2C2E2E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rgbClr val="2C2E2E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rgbClr val="2C2E2E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rgbClr val="2C2E2E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rgbClr val="2C2E2E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rgbClr val="2C2E2E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97760349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ontakt Farb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feld 11">
            <a:extLst>
              <a:ext uri="{FF2B5EF4-FFF2-40B4-BE49-F238E27FC236}">
                <a16:creationId xmlns:a16="http://schemas.microsoft.com/office/drawing/2014/main" id="{148E321B-0FFD-42B0-B89F-0A148F81F82A}"/>
              </a:ext>
            </a:extLst>
          </p:cNvPr>
          <p:cNvSpPr txBox="1"/>
          <p:nvPr userDrawn="1"/>
        </p:nvSpPr>
        <p:spPr>
          <a:xfrm>
            <a:off x="360000" y="1891862"/>
            <a:ext cx="7455532" cy="208104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de-DE" sz="4800" b="1">
                <a:solidFill>
                  <a:schemeClr val="bg1"/>
                </a:solidFill>
                <a:latin typeface="SRH Headline" panose="020B0603020204020204" pitchFamily="34" charset="0"/>
                <a:ea typeface="SRH Headline" panose="020B0603020204020204" pitchFamily="34" charset="0"/>
                <a:cs typeface="SRH Headline" panose="020B0603020204020204" pitchFamily="34" charset="0"/>
              </a:rPr>
              <a:t>Vielen Dank für Ihre </a:t>
            </a:r>
            <a:br>
              <a:rPr lang="de-DE" sz="4800" b="1">
                <a:solidFill>
                  <a:schemeClr val="bg1"/>
                </a:solidFill>
                <a:latin typeface="SRH Headline" panose="020B0603020204020204" pitchFamily="34" charset="0"/>
                <a:ea typeface="SRH Headline" panose="020B0603020204020204" pitchFamily="34" charset="0"/>
                <a:cs typeface="SRH Headline" panose="020B0603020204020204" pitchFamily="34" charset="0"/>
              </a:rPr>
            </a:br>
            <a:r>
              <a:rPr lang="de-DE" sz="4800" b="1">
                <a:solidFill>
                  <a:schemeClr val="bg1"/>
                </a:solidFill>
                <a:latin typeface="SRH Headline" panose="020B0603020204020204" pitchFamily="34" charset="0"/>
                <a:ea typeface="SRH Headline" panose="020B0603020204020204" pitchFamily="34" charset="0"/>
                <a:cs typeface="SRH Headline" panose="020B0603020204020204" pitchFamily="34" charset="0"/>
              </a:rPr>
              <a:t>Aufmerksamkeit!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4089409A-B58C-4672-A297-06D68AFA2FF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0000" y="4881435"/>
            <a:ext cx="4630928" cy="12708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 b="1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buNone/>
              <a:defRPr sz="1200" b="1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AD93ACF1-E5AA-4FCA-9C8B-47AAB1BA68EF}"/>
              </a:ext>
            </a:extLst>
          </p:cNvPr>
          <p:cNvSpPr/>
          <p:nvPr userDrawn="1"/>
        </p:nvSpPr>
        <p:spPr>
          <a:xfrm>
            <a:off x="8212024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  <a:alpha val="2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6E066742-228D-427F-905A-967890648B2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77358" y="358969"/>
            <a:ext cx="950656" cy="737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778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072B7B4-27E0-4F7C-BEF9-A2BE5E461A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6737" y="6364924"/>
            <a:ext cx="680085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55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fld id="{075B144D-941B-4DFC-AF5F-0416193D12E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9DB9242-2198-4F50-9940-0EBA7C6A7F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7645" y="6356350"/>
            <a:ext cx="874559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03.07.2026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DAD1664-878F-4F30-B2A4-1377B1AD93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19842" y="6356350"/>
            <a:ext cx="649569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SRH –  </a:t>
            </a:r>
            <a:r>
              <a:rPr lang="de-DE" dirty="0" err="1"/>
              <a:t>Responsible</a:t>
            </a:r>
            <a:r>
              <a:rPr lang="de-DE" dirty="0"/>
              <a:t> AI and Data </a:t>
            </a:r>
            <a:r>
              <a:rPr lang="de-DE" dirty="0" err="1"/>
              <a:t>Ethics</a:t>
            </a:r>
            <a:r>
              <a:rPr lang="de-DE" dirty="0"/>
              <a:t> | </a:t>
            </a:r>
            <a:r>
              <a:rPr lang="de-DE" dirty="0" err="1"/>
              <a:t>Vikrant</a:t>
            </a:r>
            <a:r>
              <a:rPr lang="de-DE" dirty="0"/>
              <a:t> Singh and Kay Marc Müller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3CA1C0B-8B72-4C84-BAB1-FEBDDAC945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9400" y="1728000"/>
            <a:ext cx="9157663" cy="4230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err="1"/>
              <a:t>Copy</a:t>
            </a:r>
            <a:r>
              <a:rPr lang="de-DE"/>
              <a:t> 18 Pt.</a:t>
            </a:r>
          </a:p>
          <a:p>
            <a:pPr lvl="1"/>
            <a:r>
              <a:rPr lang="de-DE" err="1"/>
              <a:t>Copy</a:t>
            </a:r>
            <a:r>
              <a:rPr lang="de-DE"/>
              <a:t> mit </a:t>
            </a:r>
            <a:r>
              <a:rPr lang="de-DE" err="1"/>
              <a:t>Bulletpoint</a:t>
            </a:r>
            <a:r>
              <a:rPr lang="de-DE"/>
              <a:t> 18 Pt.</a:t>
            </a:r>
          </a:p>
          <a:p>
            <a:pPr lvl="2"/>
            <a:r>
              <a:rPr lang="de-DE" err="1"/>
              <a:t>Copy</a:t>
            </a:r>
            <a:r>
              <a:rPr lang="de-DE"/>
              <a:t> mit </a:t>
            </a:r>
            <a:r>
              <a:rPr lang="de-DE" err="1"/>
              <a:t>Bulletpoint</a:t>
            </a:r>
            <a:r>
              <a:rPr lang="de-DE"/>
              <a:t>, eingerückt 16 Pt.</a:t>
            </a:r>
          </a:p>
          <a:p>
            <a:pPr lvl="3"/>
            <a:r>
              <a:rPr lang="de-DE"/>
              <a:t>Zwischenüberschrift 20 Pt. </a:t>
            </a:r>
            <a:r>
              <a:rPr lang="de-DE" err="1"/>
              <a:t>Bold</a:t>
            </a:r>
            <a:endParaRPr lang="de-DE"/>
          </a:p>
          <a:p>
            <a:pPr lvl="4"/>
            <a:r>
              <a:rPr lang="de-DE"/>
              <a:t>Einleitungstext 20 Pt. </a:t>
            </a:r>
            <a:r>
              <a:rPr lang="de-DE" err="1"/>
              <a:t>Bold</a:t>
            </a:r>
            <a:endParaRPr lang="de-DE"/>
          </a:p>
          <a:p>
            <a:pPr lvl="5"/>
            <a:r>
              <a:rPr lang="de-DE" err="1"/>
              <a:t>Subline</a:t>
            </a:r>
            <a:r>
              <a:rPr lang="de-DE"/>
              <a:t> 24 Pt.</a:t>
            </a:r>
          </a:p>
          <a:p>
            <a:pPr lvl="6"/>
            <a:r>
              <a:rPr lang="de-DE"/>
              <a:t>Statements!</a:t>
            </a:r>
          </a:p>
          <a:p>
            <a:pPr lvl="7"/>
            <a:r>
              <a:rPr lang="de-DE"/>
              <a:t>SRH </a:t>
            </a:r>
          </a:p>
          <a:p>
            <a:pPr lvl="8"/>
            <a:r>
              <a:rPr lang="de-DE"/>
              <a:t>Quelle</a:t>
            </a: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2B4C745-B760-4320-98AD-BE2F6A54E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58969"/>
            <a:ext cx="9157663" cy="835093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2" name="Freihandform: Form 11">
            <a:extLst>
              <a:ext uri="{FF2B5EF4-FFF2-40B4-BE49-F238E27FC236}">
                <a16:creationId xmlns:a16="http://schemas.microsoft.com/office/drawing/2014/main" id="{E5453D28-3A12-4B40-BDC5-01A066B0461A}"/>
              </a:ext>
            </a:extLst>
          </p:cNvPr>
          <p:cNvSpPr/>
          <p:nvPr/>
        </p:nvSpPr>
        <p:spPr>
          <a:xfrm>
            <a:off x="10878555" y="361156"/>
            <a:ext cx="948335" cy="733815"/>
          </a:xfrm>
          <a:custGeom>
            <a:avLst/>
            <a:gdLst>
              <a:gd name="connsiteX0" fmla="*/ 619905 w 948335"/>
              <a:gd name="connsiteY0" fmla="*/ 599045 h 733815"/>
              <a:gd name="connsiteX1" fmla="*/ 708360 w 948335"/>
              <a:gd name="connsiteY1" fmla="*/ 599045 h 733815"/>
              <a:gd name="connsiteX2" fmla="*/ 708360 w 948335"/>
              <a:gd name="connsiteY2" fmla="*/ 175 h 733815"/>
              <a:gd name="connsiteX3" fmla="*/ 619905 w 948335"/>
              <a:gd name="connsiteY3" fmla="*/ 175 h 733815"/>
              <a:gd name="connsiteX4" fmla="*/ 619905 w 948335"/>
              <a:gd name="connsiteY4" fmla="*/ 599045 h 733815"/>
              <a:gd name="connsiteX5" fmla="*/ 811823 w 948335"/>
              <a:gd name="connsiteY5" fmla="*/ 196963 h 733815"/>
              <a:gd name="connsiteX6" fmla="*/ 753805 w 948335"/>
              <a:gd name="connsiteY6" fmla="*/ 199399 h 733815"/>
              <a:gd name="connsiteX7" fmla="*/ 753805 w 948335"/>
              <a:gd name="connsiteY7" fmla="*/ 281323 h 733815"/>
              <a:gd name="connsiteX8" fmla="*/ 860105 w 948335"/>
              <a:gd name="connsiteY8" fmla="*/ 364907 h 733815"/>
              <a:gd name="connsiteX9" fmla="*/ 860105 w 948335"/>
              <a:gd name="connsiteY9" fmla="*/ 599045 h 733815"/>
              <a:gd name="connsiteX10" fmla="*/ 948560 w 948335"/>
              <a:gd name="connsiteY10" fmla="*/ 599045 h 733815"/>
              <a:gd name="connsiteX11" fmla="*/ 948560 w 948335"/>
              <a:gd name="connsiteY11" fmla="*/ 353981 h 733815"/>
              <a:gd name="connsiteX12" fmla="*/ 811823 w 948335"/>
              <a:gd name="connsiteY12" fmla="*/ 196963 h 733815"/>
              <a:gd name="connsiteX13" fmla="*/ 208777 w 948335"/>
              <a:gd name="connsiteY13" fmla="*/ 199800 h 733815"/>
              <a:gd name="connsiteX14" fmla="*/ 72849 w 948335"/>
              <a:gd name="connsiteY14" fmla="*/ 366560 h 733815"/>
              <a:gd name="connsiteX15" fmla="*/ 72849 w 948335"/>
              <a:gd name="connsiteY15" fmla="*/ 567022 h 733815"/>
              <a:gd name="connsiteX16" fmla="*/ 225 w 948335"/>
              <a:gd name="connsiteY16" fmla="*/ 651830 h 733815"/>
              <a:gd name="connsiteX17" fmla="*/ 225 w 948335"/>
              <a:gd name="connsiteY17" fmla="*/ 732932 h 733815"/>
              <a:gd name="connsiteX18" fmla="*/ 25376 w 948335"/>
              <a:gd name="connsiteY18" fmla="*/ 733742 h 733815"/>
              <a:gd name="connsiteX19" fmla="*/ 161297 w 948335"/>
              <a:gd name="connsiteY19" fmla="*/ 566989 h 733815"/>
              <a:gd name="connsiteX20" fmla="*/ 161297 w 948335"/>
              <a:gd name="connsiteY20" fmla="*/ 366527 h 733815"/>
              <a:gd name="connsiteX21" fmla="*/ 233520 w 948335"/>
              <a:gd name="connsiteY21" fmla="*/ 281732 h 733815"/>
              <a:gd name="connsiteX22" fmla="*/ 233520 w 948335"/>
              <a:gd name="connsiteY22" fmla="*/ 200209 h 733815"/>
              <a:gd name="connsiteX23" fmla="*/ 208777 w 948335"/>
              <a:gd name="connsiteY23" fmla="*/ 199800 h 733815"/>
              <a:gd name="connsiteX24" fmla="*/ 480210 w 948335"/>
              <a:gd name="connsiteY24" fmla="*/ 199800 h 733815"/>
              <a:gd name="connsiteX25" fmla="*/ 344283 w 948335"/>
              <a:gd name="connsiteY25" fmla="*/ 366560 h 733815"/>
              <a:gd name="connsiteX26" fmla="*/ 344283 w 948335"/>
              <a:gd name="connsiteY26" fmla="*/ 599045 h 733815"/>
              <a:gd name="connsiteX27" fmla="*/ 432731 w 948335"/>
              <a:gd name="connsiteY27" fmla="*/ 599045 h 733815"/>
              <a:gd name="connsiteX28" fmla="*/ 432731 w 948335"/>
              <a:gd name="connsiteY28" fmla="*/ 366527 h 733815"/>
              <a:gd name="connsiteX29" fmla="*/ 505362 w 948335"/>
              <a:gd name="connsiteY29" fmla="*/ 281732 h 733815"/>
              <a:gd name="connsiteX30" fmla="*/ 505362 w 948335"/>
              <a:gd name="connsiteY30" fmla="*/ 200209 h 733815"/>
              <a:gd name="connsiteX31" fmla="*/ 480210 w 948335"/>
              <a:gd name="connsiteY31" fmla="*/ 199800 h 733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948335" h="733815">
                <a:moveTo>
                  <a:pt x="619905" y="599045"/>
                </a:moveTo>
                <a:lnTo>
                  <a:pt x="708360" y="599045"/>
                </a:lnTo>
                <a:lnTo>
                  <a:pt x="708360" y="175"/>
                </a:lnTo>
                <a:lnTo>
                  <a:pt x="619905" y="175"/>
                </a:lnTo>
                <a:lnTo>
                  <a:pt x="619905" y="599045"/>
                </a:lnTo>
                <a:close/>
                <a:moveTo>
                  <a:pt x="811823" y="196963"/>
                </a:moveTo>
                <a:cubicBezTo>
                  <a:pt x="795196" y="196154"/>
                  <a:pt x="774500" y="196963"/>
                  <a:pt x="753805" y="199399"/>
                </a:cubicBezTo>
                <a:lnTo>
                  <a:pt x="753805" y="281323"/>
                </a:lnTo>
                <a:cubicBezTo>
                  <a:pt x="831702" y="281323"/>
                  <a:pt x="860105" y="292732"/>
                  <a:pt x="860105" y="364907"/>
                </a:cubicBezTo>
                <a:lnTo>
                  <a:pt x="860105" y="599045"/>
                </a:lnTo>
                <a:lnTo>
                  <a:pt x="948560" y="599045"/>
                </a:lnTo>
                <a:lnTo>
                  <a:pt x="948560" y="353981"/>
                </a:lnTo>
                <a:cubicBezTo>
                  <a:pt x="948560" y="263505"/>
                  <a:pt x="897033" y="200209"/>
                  <a:pt x="811823" y="196963"/>
                </a:cubicBezTo>
                <a:close/>
                <a:moveTo>
                  <a:pt x="208777" y="199800"/>
                </a:moveTo>
                <a:cubicBezTo>
                  <a:pt x="114634" y="204671"/>
                  <a:pt x="72849" y="267152"/>
                  <a:pt x="72849" y="366560"/>
                </a:cubicBezTo>
                <a:lnTo>
                  <a:pt x="72849" y="567022"/>
                </a:lnTo>
                <a:cubicBezTo>
                  <a:pt x="72849" y="625455"/>
                  <a:pt x="61073" y="650613"/>
                  <a:pt x="225" y="651830"/>
                </a:cubicBezTo>
                <a:lnTo>
                  <a:pt x="225" y="732932"/>
                </a:lnTo>
                <a:cubicBezTo>
                  <a:pt x="7525" y="734156"/>
                  <a:pt x="19288" y="734156"/>
                  <a:pt x="25376" y="733742"/>
                </a:cubicBezTo>
                <a:cubicBezTo>
                  <a:pt x="119907" y="728068"/>
                  <a:pt x="161297" y="665179"/>
                  <a:pt x="161297" y="566989"/>
                </a:cubicBezTo>
                <a:lnTo>
                  <a:pt x="161297" y="366527"/>
                </a:lnTo>
                <a:cubicBezTo>
                  <a:pt x="161297" y="307693"/>
                  <a:pt x="172257" y="282943"/>
                  <a:pt x="233520" y="281732"/>
                </a:cubicBezTo>
                <a:lnTo>
                  <a:pt x="233520" y="200209"/>
                </a:lnTo>
                <a:cubicBezTo>
                  <a:pt x="226622" y="199399"/>
                  <a:pt x="214859" y="199399"/>
                  <a:pt x="208777" y="199800"/>
                </a:cubicBezTo>
                <a:close/>
                <a:moveTo>
                  <a:pt x="480210" y="199800"/>
                </a:moveTo>
                <a:cubicBezTo>
                  <a:pt x="386483" y="204671"/>
                  <a:pt x="344283" y="267560"/>
                  <a:pt x="344283" y="366560"/>
                </a:cubicBezTo>
                <a:lnTo>
                  <a:pt x="344283" y="599045"/>
                </a:lnTo>
                <a:lnTo>
                  <a:pt x="432731" y="599045"/>
                </a:lnTo>
                <a:lnTo>
                  <a:pt x="432731" y="366527"/>
                </a:lnTo>
                <a:cubicBezTo>
                  <a:pt x="432731" y="308094"/>
                  <a:pt x="444507" y="282943"/>
                  <a:pt x="505362" y="281732"/>
                </a:cubicBezTo>
                <a:lnTo>
                  <a:pt x="505362" y="200209"/>
                </a:lnTo>
                <a:cubicBezTo>
                  <a:pt x="498055" y="199399"/>
                  <a:pt x="486292" y="199399"/>
                  <a:pt x="480210" y="199800"/>
                </a:cubicBezTo>
                <a:close/>
              </a:path>
            </a:pathLst>
          </a:custGeom>
          <a:solidFill>
            <a:schemeClr val="accent1"/>
          </a:solidFill>
          <a:ln w="6638" cap="flat">
            <a:noFill/>
            <a:prstDash val="solid"/>
            <a:round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98669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49" r:id="rId2"/>
    <p:sldLayoutId id="2147483676" r:id="rId3"/>
    <p:sldLayoutId id="2147483650" r:id="rId4"/>
    <p:sldLayoutId id="2147483651" r:id="rId5"/>
    <p:sldLayoutId id="2147483666" r:id="rId6"/>
    <p:sldLayoutId id="2147483686" r:id="rId7"/>
    <p:sldLayoutId id="2147483667" r:id="rId8"/>
    <p:sldLayoutId id="2147483664" r:id="rId9"/>
    <p:sldLayoutId id="2147483665" r:id="rId10"/>
    <p:sldLayoutId id="2147483661" r:id="rId11"/>
    <p:sldLayoutId id="2147483671" r:id="rId12"/>
    <p:sldLayoutId id="2147483672" r:id="rId13"/>
    <p:sldLayoutId id="2147483678" r:id="rId14"/>
    <p:sldLayoutId id="2147483673" r:id="rId15"/>
    <p:sldLayoutId id="2147483677" r:id="rId16"/>
    <p:sldLayoutId id="2147483683" r:id="rId17"/>
    <p:sldLayoutId id="2147483680" r:id="rId18"/>
    <p:sldLayoutId id="2147483684" r:id="rId19"/>
    <p:sldLayoutId id="2147483654" r:id="rId20"/>
    <p:sldLayoutId id="2147483655" r:id="rId21"/>
    <p:sldLayoutId id="2147483681" r:id="rId22"/>
    <p:sldLayoutId id="2147483682" r:id="rId23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000" b="1" kern="1200">
          <a:solidFill>
            <a:schemeClr val="tx1"/>
          </a:solidFill>
          <a:latin typeface="SRH Headline" panose="020B0603020204020204" pitchFamily="34" charset="0"/>
          <a:ea typeface="SRH Headline" panose="020B0603020204020204" pitchFamily="34" charset="0"/>
          <a:cs typeface="SRH Headline" panose="020B0603020204020204" pitchFamily="34" charset="0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200"/>
        </a:spcBef>
        <a:buFont typeface="Arial" panose="020B0604020202020204" pitchFamily="34" charset="0"/>
        <a:buNone/>
        <a:defRPr sz="1800" b="0" kern="1200">
          <a:solidFill>
            <a:schemeClr val="tx1"/>
          </a:solidFill>
          <a:latin typeface="SRH Text" panose="020B0503020204020204" pitchFamily="34" charset="0"/>
          <a:ea typeface="SRH Text" panose="020B0503020204020204" pitchFamily="34" charset="0"/>
          <a:cs typeface="SRH Text" panose="020B0503020204020204" pitchFamily="34" charset="0"/>
        </a:defRPr>
      </a:lvl1pPr>
      <a:lvl2pPr marL="360000" indent="-360000" algn="l" defTabSz="914400" rtl="0" eaLnBrk="1" latinLnBrk="0" hangingPunct="1">
        <a:lnSpc>
          <a:spcPct val="110000"/>
        </a:lnSpc>
        <a:spcBef>
          <a:spcPts val="1200"/>
        </a:spcBef>
        <a:spcAft>
          <a:spcPts val="0"/>
        </a:spcAft>
        <a:buClr>
          <a:schemeClr val="accent1"/>
        </a:buClr>
        <a:buFont typeface="SRH" panose="020B0503020204020204" pitchFamily="34" charset="0"/>
        <a:buChar char="—"/>
        <a:defRPr sz="1800" b="0" kern="1200">
          <a:solidFill>
            <a:schemeClr val="tx1"/>
          </a:solidFill>
          <a:latin typeface="SRH Text" panose="020B0503020204020204" pitchFamily="34" charset="0"/>
          <a:ea typeface="SRH Text" panose="020B0503020204020204" pitchFamily="34" charset="0"/>
          <a:cs typeface="SRH Text" panose="020B0503020204020204" pitchFamily="34" charset="0"/>
        </a:defRPr>
      </a:lvl2pPr>
      <a:lvl3pPr marL="720000" indent="-360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SRH" panose="020B0503020204020204" pitchFamily="34" charset="0"/>
        <a:buChar char="—"/>
        <a:defRPr sz="1600" b="0" kern="1200">
          <a:solidFill>
            <a:schemeClr val="tx1"/>
          </a:solidFill>
          <a:latin typeface="SRH Text" panose="020B0503020204020204" pitchFamily="34" charset="0"/>
          <a:ea typeface="SRH Text" panose="020B0503020204020204" pitchFamily="34" charset="0"/>
          <a:cs typeface="SRH Text" panose="020B0503020204020204" pitchFamily="34" charset="0"/>
        </a:defRPr>
      </a:lvl3pPr>
      <a:lvl4pPr marL="0" indent="0" algn="l" defTabSz="914400" rtl="0" eaLnBrk="1" latinLnBrk="0" hangingPunct="1">
        <a:lnSpc>
          <a:spcPct val="110000"/>
        </a:lnSpc>
        <a:spcBef>
          <a:spcPts val="2400"/>
        </a:spcBef>
        <a:buFont typeface="SRH" panose="020B0503020204020204" pitchFamily="34" charset="0"/>
        <a:buNone/>
        <a:defRPr sz="2000" b="1" kern="1200">
          <a:solidFill>
            <a:schemeClr val="accent1"/>
          </a:solidFill>
          <a:latin typeface="SRH Text" panose="020B0503020204020204" pitchFamily="34" charset="0"/>
          <a:ea typeface="SRH Text" panose="020B0503020204020204" pitchFamily="34" charset="0"/>
          <a:cs typeface="SRH Text" panose="020B0503020204020204" pitchFamily="34" charset="0"/>
        </a:defRPr>
      </a:lvl4pPr>
      <a:lvl5pPr marL="0" indent="0" algn="l" defTabSz="914400" rtl="0" eaLnBrk="1" latinLnBrk="0" hangingPunct="1">
        <a:lnSpc>
          <a:spcPct val="110000"/>
        </a:lnSpc>
        <a:spcBef>
          <a:spcPts val="1200"/>
        </a:spcBef>
        <a:buFont typeface="SRH" panose="020B0503020204020204" pitchFamily="34" charset="0"/>
        <a:buNone/>
        <a:defRPr sz="2000" b="1" kern="1200">
          <a:solidFill>
            <a:schemeClr val="tx1"/>
          </a:solidFill>
          <a:latin typeface="SRH Headline" panose="020B0603020204020204" pitchFamily="34" charset="0"/>
          <a:ea typeface="SRH Headline" panose="020B0603020204020204" pitchFamily="34" charset="0"/>
          <a:cs typeface="SRH Headline" panose="020B0603020204020204" pitchFamily="34" charset="0"/>
        </a:defRPr>
      </a:lvl5pPr>
      <a:lvl6pPr marL="0" indent="0" algn="l" defTabSz="914400" rtl="0" eaLnBrk="1" latinLnBrk="0" hangingPunct="1">
        <a:lnSpc>
          <a:spcPct val="110000"/>
        </a:lnSpc>
        <a:spcBef>
          <a:spcPts val="1200"/>
        </a:spcBef>
        <a:buFont typeface="Arial" panose="020B0604020202020204" pitchFamily="34" charset="0"/>
        <a:buNone/>
        <a:defRPr sz="2400" b="0" kern="1200">
          <a:solidFill>
            <a:schemeClr val="tx1"/>
          </a:solidFill>
          <a:latin typeface="SRH Headline" panose="020B0603020204020204" pitchFamily="34" charset="0"/>
          <a:ea typeface="SRH Headline" panose="020B0603020204020204" pitchFamily="34" charset="0"/>
          <a:cs typeface="SRH Headline" panose="020B0603020204020204" pitchFamily="34" charset="0"/>
        </a:defRPr>
      </a:lvl6pPr>
      <a:lvl7pPr marL="0" indent="0" algn="l" defTabSz="914400" rtl="0" eaLnBrk="1" latinLnBrk="0" hangingPunct="1">
        <a:lnSpc>
          <a:spcPct val="98000"/>
        </a:lnSpc>
        <a:spcBef>
          <a:spcPts val="1200"/>
        </a:spcBef>
        <a:buFont typeface="Arial" panose="020B0604020202020204" pitchFamily="34" charset="0"/>
        <a:buNone/>
        <a:defRPr sz="4800" b="1" kern="1200">
          <a:solidFill>
            <a:schemeClr val="accent1"/>
          </a:solidFill>
          <a:latin typeface="SRH Headline" panose="020B0603020204020204" pitchFamily="34" charset="0"/>
          <a:ea typeface="SRH Headline" panose="020B0603020204020204" pitchFamily="34" charset="0"/>
          <a:cs typeface="SRH Headline" panose="020B0603020204020204" pitchFamily="34" charset="0"/>
        </a:defRPr>
      </a:lvl7pPr>
      <a:lvl8pPr marL="0" indent="0" algn="l" defTabSz="914400" rtl="0" eaLnBrk="1" latinLnBrk="0" hangingPunct="1">
        <a:lnSpc>
          <a:spcPct val="98000"/>
        </a:lnSpc>
        <a:spcBef>
          <a:spcPts val="1200"/>
        </a:spcBef>
        <a:buFont typeface="Arial" panose="020B0604020202020204" pitchFamily="34" charset="0"/>
        <a:buNone/>
        <a:defRPr sz="2000" b="1" kern="1200">
          <a:solidFill>
            <a:schemeClr val="tx1"/>
          </a:solidFill>
          <a:latin typeface="SRH Text" panose="020B0503020204020204" pitchFamily="34" charset="0"/>
          <a:ea typeface="SRH Text" panose="020B0503020204020204" pitchFamily="34" charset="0"/>
          <a:cs typeface="SRH Text" panose="020B0503020204020204" pitchFamily="34" charset="0"/>
        </a:defRPr>
      </a:lvl8pPr>
      <a:lvl9pPr marL="0" indent="0" algn="l" defTabSz="914400" rtl="0" eaLnBrk="1" latinLnBrk="0" hangingPunct="1">
        <a:lnSpc>
          <a:spcPct val="110000"/>
        </a:lnSpc>
        <a:spcBef>
          <a:spcPts val="600"/>
        </a:spcBef>
        <a:buFont typeface="Arial" panose="020B0604020202020204" pitchFamily="34" charset="0"/>
        <a:buNone/>
        <a:defRPr sz="1200" b="0" kern="1200">
          <a:solidFill>
            <a:schemeClr val="tx1"/>
          </a:solidFill>
          <a:latin typeface="SRH Text" panose="020B0503020204020204" pitchFamily="34" charset="0"/>
          <a:ea typeface="SRH Text" panose="020B0503020204020204" pitchFamily="34" charset="0"/>
          <a:cs typeface="SRH Text" panose="020B0503020204020204" pitchFamily="34" charset="0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226" userDrawn="1">
          <p15:clr>
            <a:srgbClr val="F26B43"/>
          </p15:clr>
        </p15:guide>
        <p15:guide id="4" pos="7453" userDrawn="1">
          <p15:clr>
            <a:srgbClr val="F26B43"/>
          </p15:clr>
        </p15:guide>
        <p15:guide id="5" orient="horz" userDrawn="1">
          <p15:clr>
            <a:srgbClr val="F26B43"/>
          </p15:clr>
        </p15:guide>
        <p15:guide id="6" orient="horz" pos="4320" userDrawn="1">
          <p15:clr>
            <a:srgbClr val="F26B43"/>
          </p15:clr>
        </p15:guide>
        <p15:guide id="7" orient="horz" pos="1088" userDrawn="1">
          <p15:clr>
            <a:srgbClr val="F26B43"/>
          </p15:clr>
        </p15:guide>
        <p15:guide id="8" orient="horz" pos="3753" userDrawn="1">
          <p15:clr>
            <a:srgbClr val="F26B43"/>
          </p15:clr>
        </p15:guide>
        <p15:guide id="9" orient="horz" pos="690" userDrawn="1">
          <p15:clr>
            <a:srgbClr val="F26B43"/>
          </p15:clr>
        </p15:guide>
        <p15:guide id="10" pos="599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BB0378-C26E-AB17-21B7-398B7D1B9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0" dirty="0"/>
              <a:t>Goal 1</a:t>
            </a:r>
            <a:br>
              <a:rPr lang="de-DE" dirty="0"/>
            </a:br>
            <a:r>
              <a:rPr lang="de-DE" dirty="0"/>
              <a:t>The </a:t>
            </a:r>
            <a:r>
              <a:rPr lang="de-DE" dirty="0" err="1"/>
              <a:t>Autonomous</a:t>
            </a:r>
            <a:r>
              <a:rPr lang="de-DE" dirty="0"/>
              <a:t> Compliance Sentinel</a:t>
            </a:r>
            <a:br>
              <a:rPr lang="de-DE" dirty="0"/>
            </a:br>
            <a:br>
              <a:rPr lang="de-DE" dirty="0"/>
            </a:br>
            <a:r>
              <a:rPr lang="de-DE" sz="3200" b="0" dirty="0"/>
              <a:t>Data </a:t>
            </a:r>
            <a:r>
              <a:rPr lang="de-DE" sz="3200" b="0" dirty="0" err="1"/>
              <a:t>analysis</a:t>
            </a:r>
            <a:r>
              <a:rPr lang="de-DE" sz="3200" b="0" dirty="0"/>
              <a:t> · </a:t>
            </a:r>
            <a:r>
              <a:rPr lang="de-DE" sz="3200" b="0" dirty="0" err="1"/>
              <a:t>Planning</a:t>
            </a:r>
            <a:r>
              <a:rPr lang="de-DE" sz="3200" b="0" dirty="0"/>
              <a:t> · Architecture · </a:t>
            </a:r>
            <a:r>
              <a:rPr lang="de-DE" sz="3200" b="0" dirty="0" err="1"/>
              <a:t>Regulatory</a:t>
            </a:r>
            <a:r>
              <a:rPr lang="de-DE" sz="3200" b="0" dirty="0"/>
              <a:t> </a:t>
            </a:r>
            <a:r>
              <a:rPr lang="de-DE" sz="3200" b="0" dirty="0" err="1"/>
              <a:t>matters</a:t>
            </a:r>
            <a:endParaRPr lang="de-DE" b="0" dirty="0"/>
          </a:p>
        </p:txBody>
      </p:sp>
    </p:spTree>
    <p:extLst>
      <p:ext uri="{BB962C8B-B14F-4D97-AF65-F5344CB8AC3E}">
        <p14:creationId xmlns:p14="http://schemas.microsoft.com/office/powerpoint/2010/main" val="4287810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A6A58944-1A83-3DF8-6600-3B8E5033C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2</a:t>
            </a:fld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224663B9-429F-1992-5A2C-1F53F58C37C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de-DE" dirty="0" err="1">
                <a:solidFill>
                  <a:srgbClr val="575756"/>
                </a:solidFill>
              </a:rPr>
              <a:t>Step</a:t>
            </a:r>
            <a:r>
              <a:rPr lang="de-DE" dirty="0">
                <a:solidFill>
                  <a:srgbClr val="575756"/>
                </a:solidFill>
              </a:rPr>
              <a:t> 4: </a:t>
            </a:r>
            <a:r>
              <a:rPr lang="de-DE" dirty="0" err="1">
                <a:solidFill>
                  <a:srgbClr val="575756"/>
                </a:solidFill>
              </a:rPr>
              <a:t>Regulatory</a:t>
            </a:r>
            <a:r>
              <a:rPr lang="de-DE" dirty="0">
                <a:solidFill>
                  <a:srgbClr val="575756"/>
                </a:solidFill>
              </a:rPr>
              <a:t> </a:t>
            </a:r>
            <a:r>
              <a:rPr lang="de-DE" dirty="0" err="1">
                <a:solidFill>
                  <a:srgbClr val="575756"/>
                </a:solidFill>
              </a:rPr>
              <a:t>matters</a:t>
            </a:r>
            <a:endParaRPr lang="de-DE" dirty="0">
              <a:solidFill>
                <a:srgbClr val="575756"/>
              </a:solidFill>
            </a:endParaRPr>
          </a:p>
          <a:p>
            <a:endParaRPr lang="de-DE" dirty="0"/>
          </a:p>
          <a:p>
            <a:endParaRPr lang="de-DE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1FA3CDC-BAC2-5A67-156D-60347D74E42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de-DE" dirty="0"/>
              <a:t>07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86C66F54-5FA9-4C26-D7C1-A73B018D870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de-DE" dirty="0" err="1">
                <a:solidFill>
                  <a:srgbClr val="575756"/>
                </a:solidFill>
              </a:rPr>
              <a:t>Step</a:t>
            </a:r>
            <a:r>
              <a:rPr lang="de-DE" dirty="0">
                <a:solidFill>
                  <a:srgbClr val="575756"/>
                </a:solidFill>
              </a:rPr>
              <a:t> 3: Architecture</a:t>
            </a:r>
          </a:p>
          <a:p>
            <a:endParaRPr lang="de-DE" dirty="0"/>
          </a:p>
          <a:p>
            <a:endParaRPr lang="de-DE" dirty="0"/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F213C0CE-C1AD-FD5D-11D5-47428D01E71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de-DE" dirty="0"/>
              <a:t>06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C7A4E484-842A-62E2-A18A-2F5A9053E0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de-DE" dirty="0" err="1">
                <a:solidFill>
                  <a:srgbClr val="575756"/>
                </a:solidFill>
              </a:rPr>
              <a:t>Step</a:t>
            </a:r>
            <a:r>
              <a:rPr lang="de-DE" dirty="0">
                <a:solidFill>
                  <a:srgbClr val="575756"/>
                </a:solidFill>
              </a:rPr>
              <a:t> 2: </a:t>
            </a:r>
            <a:r>
              <a:rPr lang="de-DE" dirty="0" err="1">
                <a:solidFill>
                  <a:srgbClr val="575756"/>
                </a:solidFill>
              </a:rPr>
              <a:t>Planning</a:t>
            </a:r>
            <a:endParaRPr lang="de-DE" dirty="0">
              <a:solidFill>
                <a:srgbClr val="575756"/>
              </a:solidFill>
            </a:endParaRPr>
          </a:p>
          <a:p>
            <a:endParaRPr lang="de-DE" dirty="0"/>
          </a:p>
          <a:p>
            <a:endParaRPr lang="de-DE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8FE3EDEC-C86E-3C63-6145-6E14F04C6A7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de-DE" dirty="0"/>
              <a:t>05</a:t>
            </a:r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72B741D6-7935-C9B2-447E-AF7872C4292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de-DE" dirty="0" err="1">
                <a:solidFill>
                  <a:srgbClr val="575756"/>
                </a:solidFill>
              </a:rPr>
              <a:t>Step</a:t>
            </a:r>
            <a:r>
              <a:rPr lang="de-DE" dirty="0">
                <a:solidFill>
                  <a:srgbClr val="575756"/>
                </a:solidFill>
              </a:rPr>
              <a:t> 1: </a:t>
            </a:r>
            <a:r>
              <a:rPr lang="de-DE" dirty="0" err="1">
                <a:solidFill>
                  <a:srgbClr val="575756"/>
                </a:solidFill>
              </a:rPr>
              <a:t>analysis</a:t>
            </a:r>
            <a:endParaRPr lang="de-DE" dirty="0">
              <a:solidFill>
                <a:srgbClr val="575756"/>
              </a:solidFill>
            </a:endParaRPr>
          </a:p>
          <a:p>
            <a:endParaRPr lang="de-DE" dirty="0"/>
          </a:p>
          <a:p>
            <a:endParaRPr lang="de-DE" dirty="0"/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E3499524-0FA6-F20F-E112-07EC0437A9D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de-DE" dirty="0"/>
              <a:t>04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98DBB9BC-58C9-A00C-1F12-836E6491DB6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de-DE" dirty="0">
                <a:solidFill>
                  <a:srgbClr val="575756"/>
                </a:solidFill>
              </a:rPr>
              <a:t>The Task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8C77C2B3-8A29-E082-F74A-AE1BCED4917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de-DE" dirty="0"/>
              <a:t>03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0DD6D308-EAEA-A73C-28F2-2A22990E16B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de-DE" dirty="0">
                <a:solidFill>
                  <a:srgbClr val="575756"/>
                </a:solidFill>
                <a:latin typeface="SRH Text"/>
              </a:rPr>
              <a:t>Data </a:t>
            </a:r>
            <a:r>
              <a:rPr lang="de-DE" dirty="0" err="1">
                <a:solidFill>
                  <a:srgbClr val="575756"/>
                </a:solidFill>
                <a:latin typeface="SRH Text"/>
              </a:rPr>
              <a:t>basis</a:t>
            </a:r>
            <a:r>
              <a:rPr lang="de-DE" dirty="0">
                <a:solidFill>
                  <a:srgbClr val="575756"/>
                </a:solidFill>
                <a:latin typeface="SRH Text"/>
              </a:rPr>
              <a:t>: </a:t>
            </a:r>
            <a:r>
              <a:rPr lang="de-DE" dirty="0" err="1">
                <a:solidFill>
                  <a:srgbClr val="575756"/>
                </a:solidFill>
                <a:latin typeface="SRH Text"/>
              </a:rPr>
              <a:t>two</a:t>
            </a:r>
            <a:r>
              <a:rPr lang="de-DE" dirty="0">
                <a:solidFill>
                  <a:srgbClr val="575756"/>
                </a:solidFill>
                <a:latin typeface="SRH Text"/>
              </a:rPr>
              <a:t> real-</a:t>
            </a:r>
            <a:r>
              <a:rPr lang="de-DE" dirty="0" err="1">
                <a:solidFill>
                  <a:srgbClr val="575756"/>
                </a:solidFill>
                <a:latin typeface="SRH Text"/>
              </a:rPr>
              <a:t>world</a:t>
            </a:r>
            <a:r>
              <a:rPr lang="de-DE" dirty="0">
                <a:solidFill>
                  <a:srgbClr val="575756"/>
                </a:solidFill>
                <a:latin typeface="SRH Text"/>
              </a:rPr>
              <a:t> </a:t>
            </a:r>
            <a:r>
              <a:rPr lang="de-DE" dirty="0" err="1">
                <a:solidFill>
                  <a:srgbClr val="575756"/>
                </a:solidFill>
                <a:latin typeface="SRH Text"/>
              </a:rPr>
              <a:t>sources</a:t>
            </a:r>
            <a:endParaRPr lang="de-DE" dirty="0">
              <a:solidFill>
                <a:srgbClr val="575756"/>
              </a:solidFill>
              <a:latin typeface="SRH Text"/>
            </a:endParaRPr>
          </a:p>
          <a:p>
            <a:endParaRPr lang="de-DE" dirty="0"/>
          </a:p>
          <a:p>
            <a:endParaRPr lang="de-DE" dirty="0"/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24283AB7-7B31-81BF-5C04-9F9413390F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 dirty="0"/>
              <a:t>02</a:t>
            </a:r>
          </a:p>
        </p:txBody>
      </p:sp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FBB68579-4D3E-B7A7-AE63-9F1FA14BB45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>
                <a:solidFill>
                  <a:srgbClr val="575756"/>
                </a:solidFill>
              </a:rPr>
              <a:t>Project </a:t>
            </a:r>
            <a:r>
              <a:rPr lang="de-DE" dirty="0" err="1">
                <a:solidFill>
                  <a:srgbClr val="575756"/>
                </a:solidFill>
              </a:rPr>
              <a:t>idea</a:t>
            </a:r>
            <a:endParaRPr lang="de-DE" dirty="0">
              <a:solidFill>
                <a:srgbClr val="575756"/>
              </a:solidFill>
            </a:endParaRPr>
          </a:p>
        </p:txBody>
      </p:sp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D3B7B56B-B8F6-1813-176E-1404CB09C3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01</a:t>
            </a:r>
          </a:p>
        </p:txBody>
      </p:sp>
      <p:sp>
        <p:nvSpPr>
          <p:cNvPr id="23" name="Titel 22">
            <a:extLst>
              <a:ext uri="{FF2B5EF4-FFF2-40B4-BE49-F238E27FC236}">
                <a16:creationId xmlns:a16="http://schemas.microsoft.com/office/drawing/2014/main" id="{D8D44293-565A-420F-A02B-F59F13E59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</a:t>
            </a:r>
          </a:p>
        </p:txBody>
      </p:sp>
      <p:sp>
        <p:nvSpPr>
          <p:cNvPr id="24" name="Datumsplatzhalter 23">
            <a:extLst>
              <a:ext uri="{FF2B5EF4-FFF2-40B4-BE49-F238E27FC236}">
                <a16:creationId xmlns:a16="http://schemas.microsoft.com/office/drawing/2014/main" id="{3E38CE85-E46E-578F-FECD-92E4352349C0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de-DE"/>
              <a:t>03.07.2026</a:t>
            </a:r>
            <a:endParaRPr lang="de-DE" dirty="0"/>
          </a:p>
        </p:txBody>
      </p:sp>
      <p:sp>
        <p:nvSpPr>
          <p:cNvPr id="25" name="Fußzeilenplatzhalter 24">
            <a:extLst>
              <a:ext uri="{FF2B5EF4-FFF2-40B4-BE49-F238E27FC236}">
                <a16:creationId xmlns:a16="http://schemas.microsoft.com/office/drawing/2014/main" id="{45BC2849-F6F0-DBE8-E573-BCC709FD60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SRH –  Responsible AI and Data Ethics | Vikrant Singh and Kay Marc Müller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70093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769DE6-682A-6879-03C1-F5F5EBFC8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Project </a:t>
            </a:r>
            <a:r>
              <a:rPr lang="de-DE" dirty="0" err="1"/>
              <a:t>idea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5E088AF-4EFD-94F6-6309-95F7C0BE64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Autonomous</a:t>
            </a:r>
            <a:r>
              <a:rPr lang="de-DE" dirty="0"/>
              <a:t> Compliance Sentinel, a </a:t>
            </a:r>
            <a:r>
              <a:rPr lang="de-DE" dirty="0" err="1"/>
              <a:t>responsible</a:t>
            </a:r>
            <a:r>
              <a:rPr lang="de-DE" dirty="0"/>
              <a:t> AI </a:t>
            </a:r>
            <a:r>
              <a:rPr lang="de-DE" dirty="0" err="1"/>
              <a:t>agent</a:t>
            </a:r>
            <a:r>
              <a:rPr lang="de-DE" dirty="0"/>
              <a:t> </a:t>
            </a:r>
            <a:r>
              <a:rPr lang="de-DE" dirty="0" err="1"/>
              <a:t>that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automatically</a:t>
            </a:r>
            <a:r>
              <a:rPr lang="de-DE" dirty="0"/>
              <a:t> </a:t>
            </a:r>
            <a:r>
              <a:rPr lang="de-DE" dirty="0" err="1"/>
              <a:t>monitors</a:t>
            </a:r>
            <a:r>
              <a:rPr lang="de-DE" dirty="0"/>
              <a:t> </a:t>
            </a:r>
            <a:r>
              <a:rPr lang="de-DE" dirty="0" err="1"/>
              <a:t>project</a:t>
            </a:r>
            <a:r>
              <a:rPr lang="de-DE" dirty="0"/>
              <a:t> </a:t>
            </a:r>
            <a:r>
              <a:rPr lang="de-DE" dirty="0" err="1"/>
              <a:t>proposals</a:t>
            </a:r>
            <a:r>
              <a:rPr lang="de-DE" dirty="0"/>
              <a:t> in </a:t>
            </a:r>
            <a:r>
              <a:rPr lang="de-DE" b="1" dirty="0" err="1">
                <a:solidFill>
                  <a:srgbClr val="DF4807"/>
                </a:solidFill>
              </a:rPr>
              <a:t>Confluence</a:t>
            </a:r>
            <a:r>
              <a:rPr lang="de-DE" b="1" dirty="0">
                <a:solidFill>
                  <a:srgbClr val="DF4807"/>
                </a:solidFill>
              </a:rPr>
              <a:t>/Jira</a:t>
            </a:r>
            <a:r>
              <a:rPr lang="de-DE" dirty="0"/>
              <a:t>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checks</a:t>
            </a:r>
            <a:r>
              <a:rPr lang="de-DE" dirty="0"/>
              <a:t> </a:t>
            </a:r>
            <a:r>
              <a:rPr lang="de-DE" dirty="0" err="1"/>
              <a:t>them</a:t>
            </a:r>
            <a:r>
              <a:rPr lang="de-DE" dirty="0"/>
              <a:t> </a:t>
            </a:r>
            <a:r>
              <a:rPr lang="de-DE" dirty="0" err="1"/>
              <a:t>against</a:t>
            </a:r>
            <a:r>
              <a:rPr lang="de-DE" dirty="0"/>
              <a:t> internal </a:t>
            </a:r>
            <a:r>
              <a:rPr lang="de-DE" b="1" dirty="0" err="1">
                <a:solidFill>
                  <a:srgbClr val="DF4807"/>
                </a:solidFill>
              </a:rPr>
              <a:t>Responsible</a:t>
            </a:r>
            <a:r>
              <a:rPr lang="de-DE" b="1" dirty="0">
                <a:solidFill>
                  <a:srgbClr val="DF4807"/>
                </a:solidFill>
              </a:rPr>
              <a:t> AI </a:t>
            </a:r>
            <a:r>
              <a:rPr lang="de-DE" b="1" dirty="0" err="1">
                <a:solidFill>
                  <a:srgbClr val="DF4807"/>
                </a:solidFill>
              </a:rPr>
              <a:t>guidelines</a:t>
            </a:r>
            <a:r>
              <a:rPr lang="de-DE" dirty="0"/>
              <a:t>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identifies</a:t>
            </a:r>
            <a:r>
              <a:rPr lang="de-DE" dirty="0"/>
              <a:t> ‘</a:t>
            </a:r>
            <a:r>
              <a:rPr lang="de-DE" b="1" dirty="0" err="1">
                <a:solidFill>
                  <a:srgbClr val="DF4807"/>
                </a:solidFill>
              </a:rPr>
              <a:t>ethical</a:t>
            </a:r>
            <a:r>
              <a:rPr lang="de-DE" b="1" dirty="0">
                <a:solidFill>
                  <a:srgbClr val="DF4807"/>
                </a:solidFill>
              </a:rPr>
              <a:t> </a:t>
            </a:r>
            <a:r>
              <a:rPr lang="de-DE" b="1" dirty="0" err="1">
                <a:solidFill>
                  <a:srgbClr val="DF4807"/>
                </a:solidFill>
              </a:rPr>
              <a:t>red</a:t>
            </a:r>
            <a:r>
              <a:rPr lang="de-DE" b="1" dirty="0">
                <a:solidFill>
                  <a:srgbClr val="DF4807"/>
                </a:solidFill>
              </a:rPr>
              <a:t> </a:t>
            </a:r>
            <a:r>
              <a:rPr lang="de-DE" b="1" dirty="0" err="1">
                <a:solidFill>
                  <a:srgbClr val="DF4807"/>
                </a:solidFill>
              </a:rPr>
              <a:t>flags</a:t>
            </a:r>
            <a:r>
              <a:rPr lang="de-DE" dirty="0"/>
              <a:t>’ (e.g.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without</a:t>
            </a:r>
            <a:r>
              <a:rPr lang="de-DE" dirty="0"/>
              <a:t> a legal </a:t>
            </a:r>
            <a:r>
              <a:rPr lang="de-DE" dirty="0" err="1"/>
              <a:t>basis</a:t>
            </a:r>
            <a:r>
              <a:rPr lang="de-DE" dirty="0"/>
              <a:t>),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b="1" dirty="0" err="1">
                <a:solidFill>
                  <a:srgbClr val="DF4807"/>
                </a:solidFill>
              </a:rPr>
              <a:t>suggests</a:t>
            </a:r>
            <a:r>
              <a:rPr lang="de-DE" b="1" dirty="0">
                <a:solidFill>
                  <a:srgbClr val="DF4807"/>
                </a:solidFill>
              </a:rPr>
              <a:t> </a:t>
            </a:r>
            <a:r>
              <a:rPr lang="de-DE" b="1" dirty="0" err="1">
                <a:solidFill>
                  <a:srgbClr val="DF4807"/>
                </a:solidFill>
              </a:rPr>
              <a:t>specific</a:t>
            </a:r>
            <a:r>
              <a:rPr lang="de-DE" b="1" dirty="0">
                <a:solidFill>
                  <a:srgbClr val="DF4807"/>
                </a:solidFill>
              </a:rPr>
              <a:t> </a:t>
            </a:r>
            <a:r>
              <a:rPr lang="de-DE" b="1" dirty="0" err="1">
                <a:solidFill>
                  <a:srgbClr val="DF4807"/>
                </a:solidFill>
              </a:rPr>
              <a:t>corrections</a:t>
            </a:r>
            <a:r>
              <a:rPr lang="de-DE" b="1" dirty="0">
                <a:solidFill>
                  <a:srgbClr val="DF4807"/>
                </a:solidFill>
              </a:rPr>
              <a:t> </a:t>
            </a:r>
            <a:r>
              <a:rPr lang="de-DE" dirty="0"/>
              <a:t>and </a:t>
            </a:r>
            <a:r>
              <a:rPr lang="de-DE" dirty="0" err="1"/>
              <a:t>following</a:t>
            </a:r>
            <a:r>
              <a:rPr lang="de-DE" dirty="0"/>
              <a:t> human </a:t>
            </a:r>
            <a:r>
              <a:rPr lang="de-DE" dirty="0" err="1"/>
              <a:t>approval</a:t>
            </a:r>
            <a:r>
              <a:rPr lang="de-DE" dirty="0"/>
              <a:t> – </a:t>
            </a:r>
            <a:r>
              <a:rPr lang="de-DE" dirty="0" err="1"/>
              <a:t>updates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documents</a:t>
            </a:r>
            <a:r>
              <a:rPr lang="de-DE" dirty="0"/>
              <a:t> </a:t>
            </a:r>
            <a:r>
              <a:rPr lang="de-DE" dirty="0" err="1"/>
              <a:t>accordingly</a:t>
            </a:r>
            <a:r>
              <a:rPr lang="de-DE" dirty="0"/>
              <a:t>.</a:t>
            </a:r>
            <a:br>
              <a:rPr lang="de-DE" dirty="0"/>
            </a:br>
            <a:br>
              <a:rPr lang="de-DE" dirty="0"/>
            </a:br>
            <a:r>
              <a:rPr lang="de-DE" dirty="0" err="1"/>
              <a:t>Objective</a:t>
            </a:r>
            <a:r>
              <a:rPr lang="de-DE" dirty="0"/>
              <a:t>: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transform</a:t>
            </a:r>
            <a:r>
              <a:rPr lang="de-DE" dirty="0"/>
              <a:t> </a:t>
            </a:r>
            <a:r>
              <a:rPr lang="de-DE" dirty="0" err="1"/>
              <a:t>compliance</a:t>
            </a:r>
            <a:r>
              <a:rPr lang="de-DE" dirty="0"/>
              <a:t> </a:t>
            </a:r>
            <a:r>
              <a:rPr lang="de-DE" dirty="0" err="1"/>
              <a:t>checks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a </a:t>
            </a:r>
            <a:r>
              <a:rPr lang="de-DE" dirty="0" err="1"/>
              <a:t>manual</a:t>
            </a:r>
            <a:r>
              <a:rPr lang="de-DE" dirty="0"/>
              <a:t> </a:t>
            </a:r>
            <a:r>
              <a:rPr lang="de-DE" dirty="0" err="1"/>
              <a:t>bottleneck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a </a:t>
            </a:r>
            <a:r>
              <a:rPr lang="de-DE" dirty="0" err="1"/>
              <a:t>scalable</a:t>
            </a:r>
            <a:r>
              <a:rPr lang="de-DE" dirty="0"/>
              <a:t>, </a:t>
            </a:r>
            <a:br>
              <a:rPr lang="de-DE" dirty="0"/>
            </a:br>
            <a:r>
              <a:rPr lang="de-DE" dirty="0" err="1"/>
              <a:t>auditable</a:t>
            </a:r>
            <a:r>
              <a:rPr lang="de-DE" dirty="0"/>
              <a:t> </a:t>
            </a:r>
            <a:r>
              <a:rPr lang="de-DE" dirty="0" err="1"/>
              <a:t>safeguard</a:t>
            </a:r>
            <a:r>
              <a:rPr lang="de-DE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828F19F-9A62-81A6-1F99-BE924E0E0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3</a:t>
            </a:fld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AE4F9F4-7EE5-0035-A759-2D44D1B2CF1B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de-DE"/>
              <a:t>03.07.2026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D204C52-0BF7-58B9-00A9-3CEDDC5362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SRH –  Responsible AI and Data Ethics | Vikrant Singh and Kay Marc Müller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6651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4CB005-242E-53C8-653E-747450F35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Data </a:t>
            </a:r>
            <a:r>
              <a:rPr lang="de-DE" dirty="0" err="1"/>
              <a:t>basis</a:t>
            </a:r>
            <a:r>
              <a:rPr lang="de-DE" dirty="0"/>
              <a:t>: </a:t>
            </a:r>
            <a:r>
              <a:rPr lang="de-DE" dirty="0" err="1"/>
              <a:t>two</a:t>
            </a:r>
            <a:r>
              <a:rPr lang="de-DE" dirty="0"/>
              <a:t> </a:t>
            </a:r>
            <a:r>
              <a:rPr lang="de-DE" dirty="0" err="1"/>
              <a:t>combined</a:t>
            </a:r>
            <a:r>
              <a:rPr lang="de-DE" dirty="0"/>
              <a:t> real-</a:t>
            </a:r>
            <a:r>
              <a:rPr lang="de-DE" dirty="0" err="1"/>
              <a:t>world</a:t>
            </a:r>
            <a:r>
              <a:rPr lang="de-DE" dirty="0"/>
              <a:t> </a:t>
            </a:r>
            <a:r>
              <a:rPr lang="de-DE" dirty="0" err="1"/>
              <a:t>sources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0DE41F-D5DE-68C4-CA82-E8E8EB4D18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400" y="1727999"/>
            <a:ext cx="9560104" cy="3747605"/>
          </a:xfrm>
        </p:spPr>
        <p:txBody>
          <a:bodyPr/>
          <a:lstStyle/>
          <a:p>
            <a:pPr marL="342900" indent="-342900">
              <a:buAutoNum type="arabicPeriod"/>
            </a:pPr>
            <a:r>
              <a:rPr lang="de-DE" dirty="0" err="1"/>
              <a:t>Kaggle</a:t>
            </a:r>
            <a:r>
              <a:rPr lang="de-DE" dirty="0"/>
              <a:t> </a:t>
            </a:r>
            <a:r>
              <a:rPr lang="de-DE" b="1" dirty="0">
                <a:solidFill>
                  <a:srgbClr val="DF4807"/>
                </a:solidFill>
              </a:rPr>
              <a:t>Jira-Dataset </a:t>
            </a:r>
            <a:r>
              <a:rPr lang="de-DE" dirty="0"/>
              <a:t>(</a:t>
            </a:r>
            <a:r>
              <a:rPr lang="de-DE" dirty="0" err="1"/>
              <a:t>cesaranasco</a:t>
            </a:r>
            <a:r>
              <a:rPr lang="de-DE" dirty="0"/>
              <a:t>/</a:t>
            </a:r>
            <a:r>
              <a:rPr lang="de-DE" dirty="0" err="1"/>
              <a:t>jira</a:t>
            </a:r>
            <a:r>
              <a:rPr lang="de-DE" dirty="0"/>
              <a:t>-dataset; 49,000 genuine </a:t>
            </a:r>
            <a:r>
              <a:rPr lang="de-DE" dirty="0" err="1"/>
              <a:t>issues</a:t>
            </a:r>
            <a:r>
              <a:rPr lang="de-DE" dirty="0"/>
              <a:t>)</a:t>
            </a:r>
            <a:r>
              <a:rPr lang="de-DE" baseline="30000" dirty="0"/>
              <a:t>1 - </a:t>
            </a:r>
            <a:r>
              <a:rPr lang="de-DE" baseline="30000" dirty="0" err="1"/>
              <a:t>GFG_FINAL.csv</a:t>
            </a:r>
            <a:br>
              <a:rPr lang="de-DE" dirty="0"/>
            </a:br>
            <a:r>
              <a:rPr lang="de-DE" sz="1600" dirty="0" err="1"/>
              <a:t>provides</a:t>
            </a:r>
            <a:r>
              <a:rPr lang="de-DE" sz="1600" dirty="0"/>
              <a:t> </a:t>
            </a:r>
            <a:r>
              <a:rPr lang="de-DE" sz="1600" dirty="0" err="1"/>
              <a:t>actual</a:t>
            </a:r>
            <a:r>
              <a:rPr lang="de-DE" sz="1600" dirty="0"/>
              <a:t> </a:t>
            </a:r>
            <a:r>
              <a:rPr lang="de-DE" sz="1600" dirty="0" err="1"/>
              <a:t>details</a:t>
            </a:r>
            <a:r>
              <a:rPr lang="de-DE" sz="1600" dirty="0"/>
              <a:t>: </a:t>
            </a:r>
            <a:r>
              <a:rPr lang="de-DE" sz="1600" dirty="0" err="1"/>
              <a:t>issue</a:t>
            </a:r>
            <a:r>
              <a:rPr lang="de-DE" sz="1600" dirty="0"/>
              <a:t> type, </a:t>
            </a:r>
            <a:r>
              <a:rPr lang="de-DE" sz="1600" dirty="0" err="1"/>
              <a:t>status</a:t>
            </a:r>
            <a:r>
              <a:rPr lang="de-DE" sz="1600" dirty="0"/>
              <a:t> and </a:t>
            </a:r>
            <a:r>
              <a:rPr lang="de-DE" sz="1600" dirty="0" err="1"/>
              <a:t>the</a:t>
            </a:r>
            <a:r>
              <a:rPr lang="de-DE" sz="1600" dirty="0"/>
              <a:t> </a:t>
            </a:r>
            <a:r>
              <a:rPr lang="de-DE" sz="1600" dirty="0" err="1"/>
              <a:t>actual</a:t>
            </a:r>
            <a:r>
              <a:rPr lang="de-DE" sz="1600" dirty="0"/>
              <a:t> </a:t>
            </a:r>
            <a:r>
              <a:rPr lang="de-DE" sz="1600" dirty="0" err="1"/>
              <a:t>issue</a:t>
            </a:r>
            <a:r>
              <a:rPr lang="de-DE" sz="1600" dirty="0"/>
              <a:t> title</a:t>
            </a:r>
          </a:p>
          <a:p>
            <a:pPr marL="342900" indent="-342900">
              <a:buAutoNum type="arabicPeriod"/>
            </a:pPr>
            <a:r>
              <a:rPr lang="de-DE" dirty="0"/>
              <a:t>The </a:t>
            </a:r>
            <a:r>
              <a:rPr lang="de-DE" b="1" dirty="0">
                <a:solidFill>
                  <a:srgbClr val="DF4807"/>
                </a:solidFill>
              </a:rPr>
              <a:t>PROMISE / NFR-Dataset</a:t>
            </a:r>
            <a:r>
              <a:rPr lang="de-DE" dirty="0"/>
              <a:t> (969 real-</a:t>
            </a:r>
            <a:r>
              <a:rPr lang="de-DE" dirty="0" err="1"/>
              <a:t>world</a:t>
            </a:r>
            <a:r>
              <a:rPr lang="de-DE" dirty="0"/>
              <a:t> </a:t>
            </a:r>
            <a:r>
              <a:rPr lang="de-DE" dirty="0" err="1"/>
              <a:t>software</a:t>
            </a:r>
            <a:r>
              <a:rPr lang="de-DE" dirty="0"/>
              <a:t> </a:t>
            </a:r>
            <a:r>
              <a:rPr lang="de-DE" dirty="0" err="1"/>
              <a:t>requirements</a:t>
            </a:r>
            <a:r>
              <a:rPr lang="de-DE" dirty="0"/>
              <a:t>, 47 </a:t>
            </a:r>
            <a:r>
              <a:rPr lang="de-DE" dirty="0" err="1"/>
              <a:t>projects</a:t>
            </a:r>
            <a:r>
              <a:rPr lang="de-DE" dirty="0"/>
              <a:t>)</a:t>
            </a:r>
            <a:r>
              <a:rPr lang="de-DE" baseline="30000" dirty="0"/>
              <a:t>2</a:t>
            </a:r>
            <a:r>
              <a:rPr lang="de-DE" dirty="0"/>
              <a:t> </a:t>
            </a:r>
            <a:br>
              <a:rPr lang="de-DE" dirty="0"/>
            </a:br>
            <a:r>
              <a:rPr lang="de-DE" sz="1600" dirty="0" err="1"/>
              <a:t>provides</a:t>
            </a:r>
            <a:r>
              <a:rPr lang="de-DE" sz="1600" dirty="0"/>
              <a:t> </a:t>
            </a:r>
            <a:r>
              <a:rPr lang="de-DE" sz="1600" dirty="0" err="1"/>
              <a:t>the</a:t>
            </a:r>
            <a:r>
              <a:rPr lang="de-DE" sz="1600" dirty="0"/>
              <a:t> </a:t>
            </a:r>
            <a:r>
              <a:rPr lang="de-DE" sz="1600" dirty="0" err="1"/>
              <a:t>actual</a:t>
            </a:r>
            <a:r>
              <a:rPr lang="de-DE" sz="1600" dirty="0"/>
              <a:t> </a:t>
            </a:r>
            <a:r>
              <a:rPr lang="de-DE" sz="1600" dirty="0" err="1"/>
              <a:t>requirements</a:t>
            </a:r>
            <a:r>
              <a:rPr lang="de-DE" sz="1600" dirty="0"/>
              <a:t> </a:t>
            </a:r>
            <a:r>
              <a:rPr lang="de-DE" sz="1600" dirty="0" err="1"/>
              <a:t>text</a:t>
            </a:r>
            <a:r>
              <a:rPr lang="de-DE" sz="1600" dirty="0"/>
              <a:t> + </a:t>
            </a:r>
            <a:r>
              <a:rPr lang="de-DE" sz="1600" dirty="0" err="1"/>
              <a:t>highlights</a:t>
            </a:r>
            <a:r>
              <a:rPr lang="de-DE" sz="1600" dirty="0"/>
              <a:t> </a:t>
            </a:r>
            <a:r>
              <a:rPr lang="de-DE" sz="1600" dirty="0" err="1"/>
              <a:t>some</a:t>
            </a:r>
            <a:r>
              <a:rPr lang="de-DE" sz="1600" dirty="0"/>
              <a:t> </a:t>
            </a:r>
            <a:r>
              <a:rPr lang="de-DE" sz="1600" dirty="0" err="1"/>
              <a:t>of</a:t>
            </a:r>
            <a:r>
              <a:rPr lang="de-DE" sz="1600" dirty="0"/>
              <a:t> </a:t>
            </a:r>
            <a:r>
              <a:rPr lang="de-DE" sz="1600" dirty="0" err="1"/>
              <a:t>the</a:t>
            </a:r>
            <a:r>
              <a:rPr lang="de-DE" sz="1600" dirty="0"/>
              <a:t> </a:t>
            </a:r>
            <a:r>
              <a:rPr lang="de-DE" sz="1600" dirty="0" err="1"/>
              <a:t>red</a:t>
            </a:r>
            <a:r>
              <a:rPr lang="de-DE" sz="1600" dirty="0"/>
              <a:t> </a:t>
            </a:r>
            <a:r>
              <a:rPr lang="de-DE" sz="1600" dirty="0" err="1"/>
              <a:t>flags</a:t>
            </a:r>
            <a:r>
              <a:rPr lang="de-DE" sz="1600" dirty="0"/>
              <a:t>:</a:t>
            </a:r>
          </a:p>
          <a:p>
            <a:pPr marL="645750" lvl="1" indent="-285750">
              <a:buFont typeface="Arial" panose="020B0604020202020204" pitchFamily="34" charset="0"/>
              <a:buChar char="•"/>
            </a:pPr>
            <a:r>
              <a:rPr lang="de-DE" dirty="0"/>
              <a:t>Security (SE) → RAI-04 Security</a:t>
            </a:r>
          </a:p>
          <a:p>
            <a:pPr marL="645750" lvl="1" indent="-285750">
              <a:buFont typeface="Arial" panose="020B0604020202020204" pitchFamily="34" charset="0"/>
              <a:buChar char="•"/>
            </a:pPr>
            <a:r>
              <a:rPr lang="de-DE" dirty="0"/>
              <a:t>Legal (L) → RAI-01 Data </a:t>
            </a:r>
            <a:r>
              <a:rPr lang="de-DE" dirty="0" err="1"/>
              <a:t>Protection</a:t>
            </a:r>
            <a:br>
              <a:rPr lang="de-DE" dirty="0"/>
            </a:br>
            <a:endParaRPr lang="de-DE" dirty="0"/>
          </a:p>
          <a:p>
            <a:pPr lvl="1" indent="0">
              <a:buNone/>
            </a:pPr>
            <a:r>
              <a:rPr lang="de-DE" dirty="0"/>
              <a:t>The Jira </a:t>
            </a:r>
            <a:r>
              <a:rPr lang="de-DE" dirty="0" err="1"/>
              <a:t>dataset</a:t>
            </a:r>
            <a:r>
              <a:rPr lang="de-DE" dirty="0"/>
              <a:t> </a:t>
            </a:r>
            <a:r>
              <a:rPr lang="de-DE" dirty="0" err="1"/>
              <a:t>does</a:t>
            </a:r>
            <a:r>
              <a:rPr lang="de-DE" dirty="0"/>
              <a:t> </a:t>
            </a:r>
            <a:r>
              <a:rPr lang="de-DE" b="1" dirty="0"/>
              <a:t>not </a:t>
            </a:r>
            <a:r>
              <a:rPr lang="de-DE" b="1" dirty="0" err="1"/>
              <a:t>include</a:t>
            </a:r>
            <a:r>
              <a:rPr lang="de-DE" b="1" dirty="0"/>
              <a:t> an </a:t>
            </a:r>
            <a:r>
              <a:rPr lang="de-DE" b="1" dirty="0" err="1"/>
              <a:t>ethical</a:t>
            </a:r>
            <a:r>
              <a:rPr lang="de-DE" b="1" dirty="0"/>
              <a:t> </a:t>
            </a:r>
            <a:r>
              <a:rPr lang="de-DE" b="1" dirty="0" err="1"/>
              <a:t>dimension</a:t>
            </a:r>
            <a:r>
              <a:rPr lang="de-DE" dirty="0"/>
              <a:t>;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provided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br>
              <a:rPr lang="de-DE" dirty="0"/>
            </a:br>
            <a:r>
              <a:rPr lang="de-DE" dirty="0"/>
              <a:t>PROMISE/NFR. As a </a:t>
            </a:r>
            <a:r>
              <a:rPr lang="de-DE" dirty="0" err="1"/>
              <a:t>result</a:t>
            </a:r>
            <a:r>
              <a:rPr lang="de-DE" dirty="0"/>
              <a:t>, </a:t>
            </a:r>
            <a:r>
              <a:rPr lang="de-DE" dirty="0" err="1"/>
              <a:t>some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red</a:t>
            </a:r>
            <a:r>
              <a:rPr lang="de-DE" dirty="0"/>
              <a:t> </a:t>
            </a:r>
            <a:r>
              <a:rPr lang="de-DE" dirty="0" err="1"/>
              <a:t>flags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based</a:t>
            </a:r>
            <a:r>
              <a:rPr lang="de-DE" dirty="0"/>
              <a:t> on genuine, </a:t>
            </a:r>
            <a:br>
              <a:rPr lang="de-DE" dirty="0"/>
            </a:br>
            <a:r>
              <a:rPr lang="de-DE" dirty="0" err="1"/>
              <a:t>negated</a:t>
            </a:r>
            <a:r>
              <a:rPr lang="de-DE" dirty="0"/>
              <a:t> </a:t>
            </a:r>
            <a:r>
              <a:rPr lang="de-DE" dirty="0" err="1"/>
              <a:t>requirements</a:t>
            </a:r>
            <a:r>
              <a:rPr lang="de-DE" dirty="0"/>
              <a:t> </a:t>
            </a:r>
            <a:r>
              <a:rPr lang="de-DE" dirty="0" err="1"/>
              <a:t>rather</a:t>
            </a:r>
            <a:r>
              <a:rPr lang="de-DE" dirty="0"/>
              <a:t> </a:t>
            </a:r>
            <a:r>
              <a:rPr lang="de-DE" dirty="0" err="1"/>
              <a:t>than</a:t>
            </a:r>
            <a:r>
              <a:rPr lang="de-DE" dirty="0"/>
              <a:t> </a:t>
            </a:r>
            <a:r>
              <a:rPr lang="de-DE" dirty="0" err="1"/>
              <a:t>purely</a:t>
            </a:r>
            <a:r>
              <a:rPr lang="de-DE" dirty="0"/>
              <a:t> </a:t>
            </a:r>
            <a:r>
              <a:rPr lang="de-DE" dirty="0" err="1"/>
              <a:t>synthetic</a:t>
            </a:r>
            <a:r>
              <a:rPr lang="de-DE" dirty="0"/>
              <a:t> </a:t>
            </a:r>
            <a:r>
              <a:rPr lang="de-DE" dirty="0" err="1"/>
              <a:t>approaches</a:t>
            </a:r>
            <a:r>
              <a:rPr lang="de-DE" dirty="0"/>
              <a:t>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39CF039-17F7-5BFE-3184-A1526BFF6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4</a:t>
            </a:fld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BF11CB4-E512-2D0F-FB5F-5E9C36FB61C0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de-DE"/>
              <a:t>03.07.2026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E5810BE-606C-48D9-C335-D5289FBA54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/>
              <a:t>SRH –  </a:t>
            </a:r>
            <a:r>
              <a:rPr lang="de-DE" dirty="0" err="1"/>
              <a:t>Responsible</a:t>
            </a:r>
            <a:r>
              <a:rPr lang="de-DE" dirty="0"/>
              <a:t> AI and Data </a:t>
            </a:r>
            <a:r>
              <a:rPr lang="de-DE" dirty="0" err="1"/>
              <a:t>Ethics</a:t>
            </a:r>
            <a:r>
              <a:rPr lang="de-DE" dirty="0"/>
              <a:t> | </a:t>
            </a:r>
            <a:r>
              <a:rPr lang="de-DE" dirty="0" err="1"/>
              <a:t>Vikrant</a:t>
            </a:r>
            <a:r>
              <a:rPr lang="de-DE" dirty="0"/>
              <a:t> Singh and Kay Marc Müller</a:t>
            </a: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3A05DA0E-9EFA-074B-ED91-F3B77F73D69E}"/>
              </a:ext>
            </a:extLst>
          </p:cNvPr>
          <p:cNvSpPr txBox="1">
            <a:spLocks/>
          </p:cNvSpPr>
          <p:nvPr/>
        </p:nvSpPr>
        <p:spPr>
          <a:xfrm>
            <a:off x="359262" y="5658166"/>
            <a:ext cx="10512895" cy="706757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Font typeface="SRH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720000" indent="-36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SRH" panose="020B0503020204020204" pitchFamily="34" charset="0"/>
              <a:buChar char="—"/>
              <a:defRPr sz="1600" b="0" kern="1200">
                <a:solidFill>
                  <a:schemeClr val="tx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2400"/>
              </a:spcBef>
              <a:buFont typeface="SRH" panose="020B0503020204020204" pitchFamily="34" charset="0"/>
              <a:buNone/>
              <a:defRPr sz="2000" b="1" kern="1200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Font typeface="SRH" panose="020B0503020204020204" pitchFamily="34" charset="0"/>
              <a:buNone/>
              <a:defRPr sz="2000" b="1" kern="1200">
                <a:solidFill>
                  <a:schemeClr val="tx1"/>
                </a:solidFill>
                <a:latin typeface="SRH Headline" panose="020B0603020204020204" pitchFamily="34" charset="0"/>
                <a:ea typeface="SRH Headline" panose="020B0603020204020204" pitchFamily="34" charset="0"/>
                <a:cs typeface="SRH Headline" panose="020B0603020204020204" pitchFamily="34" charset="0"/>
              </a:defRPr>
            </a:lvl5pPr>
            <a:lvl6pPr marL="0" indent="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b="0" kern="1200">
                <a:solidFill>
                  <a:schemeClr val="tx1"/>
                </a:solidFill>
                <a:latin typeface="SRH Headline" panose="020B0603020204020204" pitchFamily="34" charset="0"/>
                <a:ea typeface="SRH Headline" panose="020B0603020204020204" pitchFamily="34" charset="0"/>
                <a:cs typeface="SRH Headline" panose="020B0603020204020204" pitchFamily="34" charset="0"/>
              </a:defRPr>
            </a:lvl6pPr>
            <a:lvl7pPr marL="0" indent="0" algn="l" defTabSz="914400" rtl="0" eaLnBrk="1" latinLnBrk="0" hangingPunct="1">
              <a:lnSpc>
                <a:spcPct val="98000"/>
              </a:lnSpc>
              <a:spcBef>
                <a:spcPts val="1200"/>
              </a:spcBef>
              <a:buFont typeface="Arial" panose="020B0604020202020204" pitchFamily="34" charset="0"/>
              <a:buNone/>
              <a:defRPr sz="4800" b="1" kern="1200">
                <a:solidFill>
                  <a:schemeClr val="accent1"/>
                </a:solidFill>
                <a:latin typeface="SRH Headline" panose="020B0603020204020204" pitchFamily="34" charset="0"/>
                <a:ea typeface="SRH Headline" panose="020B0603020204020204" pitchFamily="34" charset="0"/>
                <a:cs typeface="SRH Headline" panose="020B0603020204020204" pitchFamily="34" charset="0"/>
              </a:defRPr>
            </a:lvl7pPr>
            <a:lvl8pPr marL="0" indent="0" algn="l" defTabSz="914400" rtl="0" eaLnBrk="1" latinLnBrk="0" hangingPunct="1">
              <a:lnSpc>
                <a:spcPct val="98000"/>
              </a:lnSpc>
              <a:spcBef>
                <a:spcPts val="12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8pPr>
            <a:lvl9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9pPr>
          </a:lstStyle>
          <a:p>
            <a:pPr>
              <a:tabLst>
                <a:tab pos="749300" algn="l"/>
                <a:tab pos="968375" algn="l"/>
              </a:tabLst>
            </a:pPr>
            <a:r>
              <a:rPr lang="de-DE" sz="1000" baseline="300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1</a:t>
            </a:r>
            <a:r>
              <a:rPr lang="de-DE" sz="10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Source 		https://www.kaggle.com/datasets/cesaranasco/jira-dataset</a:t>
            </a:r>
            <a:br>
              <a:rPr lang="de-DE" sz="1000" dirty="0">
                <a:solidFill>
                  <a:schemeClr val="tx1">
                    <a:lumMod val="60000"/>
                    <a:lumOff val="40000"/>
                  </a:schemeClr>
                </a:solidFill>
              </a:rPr>
            </a:br>
            <a:r>
              <a:rPr lang="de-DE" sz="1000" baseline="300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2</a:t>
            </a:r>
            <a:r>
              <a:rPr lang="de-DE" sz="10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Source 		https://</a:t>
            </a:r>
            <a:r>
              <a:rPr lang="de-DE" sz="1000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raw.githubusercontent.com</a:t>
            </a:r>
            <a:r>
              <a:rPr lang="de-DE" sz="10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/</a:t>
            </a:r>
            <a:r>
              <a:rPr lang="de-DE" sz="1000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AleksandarMitrevski</a:t>
            </a:r>
            <a:r>
              <a:rPr lang="de-DE" sz="10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/se-</a:t>
            </a:r>
            <a:r>
              <a:rPr lang="de-DE" sz="1000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requirements</a:t>
            </a:r>
            <a:r>
              <a:rPr lang="de-DE" sz="10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-</a:t>
            </a:r>
            <a:r>
              <a:rPr lang="de-DE" sz="1000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classification</a:t>
            </a:r>
            <a:r>
              <a:rPr lang="de-DE" sz="10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/</a:t>
            </a:r>
            <a:r>
              <a:rPr lang="de-DE" sz="1000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master</a:t>
            </a:r>
            <a:r>
              <a:rPr lang="de-DE" sz="10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/1-</a:t>
            </a:r>
            <a:br>
              <a:rPr lang="de-DE" sz="1000" dirty="0">
                <a:solidFill>
                  <a:schemeClr val="tx1">
                    <a:lumMod val="60000"/>
                    <a:lumOff val="40000"/>
                  </a:schemeClr>
                </a:solidFill>
              </a:rPr>
            </a:br>
            <a:r>
              <a:rPr lang="de-DE" sz="10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		</a:t>
            </a:r>
            <a:r>
              <a:rPr lang="de-DE" sz="1000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exploratory</a:t>
            </a:r>
            <a:r>
              <a:rPr lang="de-DE" sz="10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-analysis/</a:t>
            </a:r>
            <a:r>
              <a:rPr lang="de-DE" sz="1000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data</a:t>
            </a:r>
            <a:r>
              <a:rPr lang="de-DE" sz="10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/</a:t>
            </a:r>
            <a:r>
              <a:rPr lang="de-DE" sz="1000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PROMISE_exp.csv</a:t>
            </a:r>
            <a:r>
              <a:rPr lang="de-DE" sz="10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		</a:t>
            </a:r>
            <a:br>
              <a:rPr lang="de-DE" sz="1000" dirty="0">
                <a:solidFill>
                  <a:schemeClr val="tx1">
                    <a:lumMod val="60000"/>
                    <a:lumOff val="40000"/>
                  </a:schemeClr>
                </a:solidFill>
              </a:rPr>
            </a:br>
            <a:r>
              <a:rPr lang="de-DE" sz="10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		https://</a:t>
            </a:r>
            <a:r>
              <a:rPr lang="de-DE" sz="1000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github.com</a:t>
            </a:r>
            <a:r>
              <a:rPr lang="de-DE" sz="10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/</a:t>
            </a:r>
            <a:r>
              <a:rPr lang="de-DE" sz="1000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AleksandarMitrevski</a:t>
            </a:r>
            <a:r>
              <a:rPr lang="de-DE" sz="10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/se-</a:t>
            </a:r>
            <a:r>
              <a:rPr lang="de-DE" sz="1000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requirements</a:t>
            </a:r>
            <a:r>
              <a:rPr lang="de-DE" sz="10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-</a:t>
            </a:r>
            <a:r>
              <a:rPr lang="de-DE" sz="1000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classification</a:t>
            </a:r>
            <a:endParaRPr lang="de-DE" sz="1000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8463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EBE1A3-CBD1-FEA7-0447-D05256DCA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The real NFR source (PROMISE)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9BA00EB-9432-921F-C359-1D79333EA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5</a:t>
            </a:fld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E51B1B3-99B1-444C-C540-6183E2B55690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de-DE"/>
              <a:t>03.07.2026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AD778E6-4ABF-3647-BC52-21D2EB155F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SRH –  Responsible AI and Data Ethics | Vikrant Singh and Kay Marc Müller</a:t>
            </a:r>
            <a:endParaRPr lang="de-DE" dirty="0"/>
          </a:p>
        </p:txBody>
      </p:sp>
      <p:graphicFrame>
        <p:nvGraphicFramePr>
          <p:cNvPr id="7" name="Inhaltsplatzhalter 6">
            <a:extLst>
              <a:ext uri="{FF2B5EF4-FFF2-40B4-BE49-F238E27FC236}">
                <a16:creationId xmlns:a16="http://schemas.microsoft.com/office/drawing/2014/main" id="{C6DDC362-676A-32D1-EAD9-7E17587515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8721958"/>
              </p:ext>
            </p:extLst>
          </p:nvPr>
        </p:nvGraphicFramePr>
        <p:xfrm>
          <a:off x="185154" y="1595458"/>
          <a:ext cx="7870825" cy="43594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07A39A37-AF2F-DB64-F37C-A0CC3AC777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6008723"/>
              </p:ext>
            </p:extLst>
          </p:nvPr>
        </p:nvGraphicFramePr>
        <p:xfrm>
          <a:off x="8370071" y="1595458"/>
          <a:ext cx="3088865" cy="3867794"/>
        </p:xfrm>
        <a:graphic>
          <a:graphicData uri="http://schemas.openxmlformats.org/drawingml/2006/table">
            <a:tbl>
              <a:tblPr>
                <a:tableStyleId>{5ACB3F56-7768-405F-84FF-31046667B651}</a:tableStyleId>
              </a:tblPr>
              <a:tblGrid>
                <a:gridCol w="3088865">
                  <a:extLst>
                    <a:ext uri="{9D8B030D-6E8A-4147-A177-3AD203B41FA5}">
                      <a16:colId xmlns:a16="http://schemas.microsoft.com/office/drawing/2014/main" val="2180384622"/>
                    </a:ext>
                  </a:extLst>
                </a:gridCol>
              </a:tblGrid>
              <a:tr h="29509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400" b="1" u="none" strike="noStrike" dirty="0" err="1">
                          <a:effectLst/>
                        </a:rPr>
                        <a:t>Requirement</a:t>
                      </a:r>
                      <a:r>
                        <a:rPr lang="de-DE" sz="1400" b="1" u="none" strike="noStrike" dirty="0">
                          <a:effectLst/>
                        </a:rPr>
                        <a:t> Type</a:t>
                      </a:r>
                      <a:endParaRPr lang="de-DE" sz="1400" b="1" i="0" u="none" strike="noStrike" dirty="0">
                        <a:solidFill>
                          <a:srgbClr val="1F2328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6000" marR="36000" marT="36000" marB="3600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1967268"/>
                  </a:ext>
                </a:extLst>
              </a:tr>
              <a:tr h="32661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400" u="none" strike="noStrike" dirty="0" err="1">
                          <a:effectLst/>
                        </a:rPr>
                        <a:t>Functional</a:t>
                      </a:r>
                      <a:r>
                        <a:rPr lang="de-DE" sz="1400" u="none" strike="noStrike" dirty="0">
                          <a:effectLst/>
                        </a:rPr>
                        <a:t> </a:t>
                      </a:r>
                      <a:r>
                        <a:rPr lang="de-DE" sz="1600" u="none" strike="noStrike" dirty="0" err="1">
                          <a:effectLst/>
                        </a:rPr>
                        <a:t>Requirement</a:t>
                      </a:r>
                      <a:r>
                        <a:rPr lang="de-DE" sz="1400" u="none" strike="noStrike" dirty="0">
                          <a:effectLst/>
                        </a:rPr>
                        <a:t> (F)</a:t>
                      </a:r>
                      <a:endParaRPr lang="de-DE" sz="1400" b="0" i="0" u="none" strike="noStrike" dirty="0">
                        <a:solidFill>
                          <a:srgbClr val="1F2328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6000" marR="36000" marT="36000" marB="3600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2938743"/>
                  </a:ext>
                </a:extLst>
              </a:tr>
              <a:tr h="29509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400" u="none" strike="noStrike" dirty="0">
                          <a:effectLst/>
                        </a:rPr>
                        <a:t>Security (SE)</a:t>
                      </a:r>
                      <a:endParaRPr lang="de-DE" sz="1400" b="0" i="0" u="none" strike="noStrike" dirty="0">
                        <a:solidFill>
                          <a:srgbClr val="1F2328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6000" marR="36000" marT="36000" marB="3600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3827503"/>
                  </a:ext>
                </a:extLst>
              </a:tr>
              <a:tr h="29509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400" u="none" strike="noStrike" dirty="0">
                          <a:effectLst/>
                        </a:rPr>
                        <a:t>Usability (US)</a:t>
                      </a:r>
                      <a:endParaRPr lang="de-DE" sz="1400" b="0" i="0" u="none" strike="noStrike" dirty="0">
                        <a:solidFill>
                          <a:srgbClr val="1F2328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6000" marR="36000" marT="36000" marB="3600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7374345"/>
                  </a:ext>
                </a:extLst>
              </a:tr>
              <a:tr h="29509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400" u="none" strike="noStrike" dirty="0" err="1">
                          <a:effectLst/>
                        </a:rPr>
                        <a:t>Operability</a:t>
                      </a:r>
                      <a:r>
                        <a:rPr lang="de-DE" sz="1400" u="none" strike="noStrike" dirty="0">
                          <a:effectLst/>
                        </a:rPr>
                        <a:t> (O)</a:t>
                      </a:r>
                      <a:endParaRPr lang="de-DE" sz="1400" b="0" i="0" u="none" strike="noStrike" dirty="0">
                        <a:solidFill>
                          <a:srgbClr val="1F2328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6000" marR="36000" marT="36000" marB="3600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596516"/>
                  </a:ext>
                </a:extLst>
              </a:tr>
              <a:tr h="29509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400" u="none" strike="noStrike">
                          <a:effectLst/>
                        </a:rPr>
                        <a:t>Performance (PE)</a:t>
                      </a:r>
                      <a:endParaRPr lang="de-DE" sz="1400" b="0" i="0" u="none" strike="noStrike">
                        <a:solidFill>
                          <a:srgbClr val="1F2328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6000" marR="36000" marT="36000" marB="3600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0206760"/>
                  </a:ext>
                </a:extLst>
              </a:tr>
              <a:tr h="29509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400" u="none" strike="noStrike">
                          <a:effectLst/>
                        </a:rPr>
                        <a:t>Look-and-feel (LF)</a:t>
                      </a:r>
                      <a:endParaRPr lang="de-DE" sz="1400" b="0" i="0" u="none" strike="noStrike">
                        <a:solidFill>
                          <a:srgbClr val="1F2328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6000" marR="36000" marT="36000" marB="3600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9242759"/>
                  </a:ext>
                </a:extLst>
              </a:tr>
              <a:tr h="29509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400" u="none" strike="noStrike">
                          <a:effectLst/>
                        </a:rPr>
                        <a:t>Availability (A)</a:t>
                      </a:r>
                      <a:endParaRPr lang="de-DE" sz="1400" b="0" i="0" u="none" strike="noStrike">
                        <a:solidFill>
                          <a:srgbClr val="1F2328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6000" marR="36000" marT="36000" marB="3600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5730864"/>
                  </a:ext>
                </a:extLst>
              </a:tr>
              <a:tr h="29509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400" u="none" strike="noStrike" dirty="0" err="1">
                          <a:effectLst/>
                        </a:rPr>
                        <a:t>Maintainability</a:t>
                      </a:r>
                      <a:r>
                        <a:rPr lang="de-DE" sz="1400" u="none" strike="noStrike" dirty="0">
                          <a:effectLst/>
                        </a:rPr>
                        <a:t> (MN)</a:t>
                      </a:r>
                      <a:endParaRPr lang="de-DE" sz="1400" b="0" i="0" u="none" strike="noStrike" dirty="0">
                        <a:solidFill>
                          <a:srgbClr val="1F2328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6000" marR="36000" marT="36000" marB="3600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0856858"/>
                  </a:ext>
                </a:extLst>
              </a:tr>
              <a:tr h="29509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400" u="none" strike="noStrike">
                          <a:effectLst/>
                        </a:rPr>
                        <a:t>Scalability (SC)</a:t>
                      </a:r>
                      <a:endParaRPr lang="de-DE" sz="1400" b="0" i="0" u="none" strike="noStrike">
                        <a:solidFill>
                          <a:srgbClr val="1F2328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6000" marR="36000" marT="36000" marB="3600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8960710"/>
                  </a:ext>
                </a:extLst>
              </a:tr>
              <a:tr h="29509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400" u="none" strike="noStrike">
                          <a:effectLst/>
                        </a:rPr>
                        <a:t>Fault Tolerance (FT)</a:t>
                      </a:r>
                      <a:endParaRPr lang="de-DE" sz="1400" b="0" i="0" u="none" strike="noStrike">
                        <a:solidFill>
                          <a:srgbClr val="1F2328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6000" marR="36000" marT="36000" marB="3600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2041844"/>
                  </a:ext>
                </a:extLst>
              </a:tr>
              <a:tr h="29509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400" u="none" strike="noStrike">
                          <a:effectLst/>
                        </a:rPr>
                        <a:t>Legal (L)</a:t>
                      </a:r>
                      <a:endParaRPr lang="de-DE" sz="1400" b="0" i="0" u="none" strike="noStrike">
                        <a:solidFill>
                          <a:srgbClr val="1F2328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6000" marR="36000" marT="36000" marB="3600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006961"/>
                  </a:ext>
                </a:extLst>
              </a:tr>
              <a:tr h="29509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400" u="none" strike="noStrike" dirty="0" err="1">
                          <a:effectLst/>
                        </a:rPr>
                        <a:t>Portability</a:t>
                      </a:r>
                      <a:r>
                        <a:rPr lang="de-DE" sz="1400" u="none" strike="noStrike" dirty="0">
                          <a:effectLst/>
                        </a:rPr>
                        <a:t> (PO)</a:t>
                      </a:r>
                      <a:endParaRPr lang="de-DE" sz="1400" b="0" i="0" u="none" strike="noStrike" dirty="0">
                        <a:solidFill>
                          <a:srgbClr val="1F2328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6000" marR="36000" marT="36000" marB="3600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38475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5656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67B9E5-B9C2-DCBA-C4D2-D2731B447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The Task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00DCFDC-273D-5337-E848-CBC84DA513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399" y="1728000"/>
            <a:ext cx="10266159" cy="4230000"/>
          </a:xfrm>
        </p:spPr>
        <p:txBody>
          <a:bodyPr/>
          <a:lstStyle/>
          <a:p>
            <a:r>
              <a:rPr lang="de-DE" dirty="0"/>
              <a:t>Generate </a:t>
            </a:r>
            <a:r>
              <a:rPr lang="de-DE" b="1" dirty="0"/>
              <a:t>1,000</a:t>
            </a:r>
            <a:r>
              <a:rPr lang="de-DE" dirty="0"/>
              <a:t> </a:t>
            </a:r>
            <a:r>
              <a:rPr lang="de-DE" dirty="0" err="1"/>
              <a:t>project</a:t>
            </a:r>
            <a:r>
              <a:rPr lang="de-DE" dirty="0"/>
              <a:t> </a:t>
            </a:r>
            <a:r>
              <a:rPr lang="de-DE" dirty="0" err="1"/>
              <a:t>proposals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two</a:t>
            </a:r>
            <a:r>
              <a:rPr lang="de-DE" dirty="0"/>
              <a:t> </a:t>
            </a:r>
            <a:r>
              <a:rPr lang="de-DE" dirty="0" err="1"/>
              <a:t>sources</a:t>
            </a:r>
            <a:endParaRPr lang="de-DE" dirty="0"/>
          </a:p>
          <a:p>
            <a:r>
              <a:rPr lang="de-DE" dirty="0"/>
              <a:t>⅓ (</a:t>
            </a:r>
            <a:r>
              <a:rPr lang="de-DE" b="1" dirty="0">
                <a:solidFill>
                  <a:srgbClr val="DF4807"/>
                </a:solidFill>
              </a:rPr>
              <a:t>333</a:t>
            </a:r>
            <a:r>
              <a:rPr lang="de-DE" dirty="0"/>
              <a:t>) </a:t>
            </a:r>
            <a:r>
              <a:rPr lang="de-DE" dirty="0" err="1"/>
              <a:t>contain</a:t>
            </a:r>
            <a:r>
              <a:rPr lang="de-DE" dirty="0"/>
              <a:t> </a:t>
            </a:r>
            <a:r>
              <a:rPr lang="de-DE" dirty="0" err="1"/>
              <a:t>red</a:t>
            </a:r>
            <a:r>
              <a:rPr lang="de-DE" dirty="0"/>
              <a:t> </a:t>
            </a:r>
            <a:r>
              <a:rPr lang="de-DE" dirty="0" err="1"/>
              <a:t>flags</a:t>
            </a:r>
            <a:r>
              <a:rPr lang="de-DE" dirty="0"/>
              <a:t>, ⅔ (</a:t>
            </a:r>
            <a:r>
              <a:rPr lang="de-DE" b="1" dirty="0">
                <a:solidFill>
                  <a:srgbClr val="DF4807"/>
                </a:solidFill>
              </a:rPr>
              <a:t>667</a:t>
            </a:r>
            <a:r>
              <a:rPr lang="de-DE" dirty="0"/>
              <a:t>)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compliant</a:t>
            </a:r>
            <a:endParaRPr lang="de-DE" dirty="0"/>
          </a:p>
          <a:p>
            <a:endParaRPr lang="de-DE" dirty="0"/>
          </a:p>
          <a:p>
            <a:r>
              <a:rPr lang="de-DE" b="1" dirty="0" err="1"/>
              <a:t>Compliant</a:t>
            </a:r>
            <a:r>
              <a:rPr lang="de-DE" dirty="0"/>
              <a:t> </a:t>
            </a:r>
            <a:r>
              <a:rPr lang="de-DE" sz="1100" dirty="0" err="1"/>
              <a:t>requirements</a:t>
            </a:r>
            <a:r>
              <a:rPr lang="de-DE" dirty="0"/>
              <a:t> </a:t>
            </a:r>
            <a:r>
              <a:rPr lang="de-DE" b="1" dirty="0"/>
              <a:t>=</a:t>
            </a:r>
            <a:r>
              <a:rPr lang="de-DE" dirty="0"/>
              <a:t> </a:t>
            </a:r>
            <a:r>
              <a:rPr lang="de-DE" b="1" dirty="0" err="1"/>
              <a:t>actual</a:t>
            </a:r>
            <a:r>
              <a:rPr lang="de-DE" b="1" dirty="0"/>
              <a:t> </a:t>
            </a:r>
            <a:r>
              <a:rPr lang="de-DE" b="1" dirty="0" err="1"/>
              <a:t>functional</a:t>
            </a:r>
            <a:r>
              <a:rPr lang="de-DE" b="1" dirty="0"/>
              <a:t> </a:t>
            </a:r>
            <a:r>
              <a:rPr lang="de-DE" sz="1100" dirty="0" err="1"/>
              <a:t>requirements</a:t>
            </a:r>
            <a:r>
              <a:rPr lang="de-DE" dirty="0"/>
              <a:t> </a:t>
            </a:r>
            <a:r>
              <a:rPr lang="de-DE" b="1" dirty="0"/>
              <a:t>+ positive non-</a:t>
            </a:r>
            <a:r>
              <a:rPr lang="de-DE" b="1" dirty="0" err="1"/>
              <a:t>functional</a:t>
            </a:r>
            <a:r>
              <a:rPr lang="de-DE" b="1" dirty="0"/>
              <a:t> </a:t>
            </a:r>
            <a:r>
              <a:rPr lang="de-DE" sz="1100" dirty="0" err="1"/>
              <a:t>requirements</a:t>
            </a:r>
            <a:endParaRPr lang="de-DE" dirty="0"/>
          </a:p>
          <a:p>
            <a:endParaRPr lang="de-DE" dirty="0"/>
          </a:p>
          <a:p>
            <a:r>
              <a:rPr lang="de-DE" dirty="0" err="1"/>
              <a:t>Why</a:t>
            </a:r>
            <a:r>
              <a:rPr lang="de-DE" dirty="0"/>
              <a:t> </a:t>
            </a:r>
            <a:r>
              <a:rPr lang="de-DE" dirty="0" err="1"/>
              <a:t>combine</a:t>
            </a:r>
            <a:r>
              <a:rPr lang="de-DE" dirty="0"/>
              <a:t> </a:t>
            </a:r>
            <a:r>
              <a:rPr lang="de-DE" dirty="0" err="1"/>
              <a:t>them</a:t>
            </a:r>
            <a:r>
              <a:rPr lang="de-DE" dirty="0"/>
              <a:t>? </a:t>
            </a:r>
          </a:p>
          <a:p>
            <a:r>
              <a:rPr lang="de-DE" dirty="0"/>
              <a:t>Actual </a:t>
            </a:r>
            <a:r>
              <a:rPr lang="de-DE" dirty="0" err="1"/>
              <a:t>text</a:t>
            </a:r>
            <a:r>
              <a:rPr lang="de-DE" dirty="0"/>
              <a:t> + </a:t>
            </a:r>
            <a:r>
              <a:rPr lang="de-DE" dirty="0" err="1"/>
              <a:t>known</a:t>
            </a:r>
            <a:r>
              <a:rPr lang="de-DE" dirty="0"/>
              <a:t> </a:t>
            </a:r>
            <a:r>
              <a:rPr lang="de-DE" dirty="0" err="1"/>
              <a:t>truth</a:t>
            </a:r>
            <a:r>
              <a:rPr lang="de-DE" dirty="0"/>
              <a:t> (</a:t>
            </a:r>
            <a:r>
              <a:rPr lang="de-DE" dirty="0" err="1"/>
              <a:t>ground</a:t>
            </a:r>
            <a:r>
              <a:rPr lang="de-DE" dirty="0"/>
              <a:t> </a:t>
            </a:r>
            <a:r>
              <a:rPr lang="de-DE" dirty="0" err="1"/>
              <a:t>truth</a:t>
            </a:r>
            <a:r>
              <a:rPr lang="de-DE" dirty="0"/>
              <a:t>)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each</a:t>
            </a:r>
            <a:r>
              <a:rPr lang="de-DE" dirty="0"/>
              <a:t> </a:t>
            </a:r>
            <a:r>
              <a:rPr lang="de-DE" dirty="0" err="1"/>
              <a:t>application</a:t>
            </a:r>
            <a:r>
              <a:rPr lang="de-DE" dirty="0"/>
              <a:t> </a:t>
            </a:r>
            <a:br>
              <a:rPr lang="de-DE" dirty="0"/>
            </a:br>
            <a:r>
              <a:rPr lang="de-DE" dirty="0"/>
              <a:t>→ </a:t>
            </a:r>
            <a:r>
              <a:rPr lang="de-DE" dirty="0" err="1"/>
              <a:t>measurable</a:t>
            </a:r>
            <a:r>
              <a:rPr lang="de-DE" dirty="0"/>
              <a:t> </a:t>
            </a:r>
            <a:r>
              <a:rPr lang="de-DE" dirty="0" err="1"/>
              <a:t>detection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24686AE-2759-0207-CCB3-F5A110599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6</a:t>
            </a:fld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A61C8A4-54EF-4CCC-CB1B-929641372756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de-DE"/>
              <a:t>03.07.2026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C77D86C-CCAA-B698-A19C-6E32A59ECD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SRH –  Responsible AI and Data Ethics | Vikrant Singh and Kay Marc Müller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518351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E7C64C-9B5C-2890-9CCF-50266DA16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SRH Headline"/>
              </a:rPr>
              <a:t>The </a:t>
            </a:r>
            <a:r>
              <a:rPr lang="de-DE" dirty="0" err="1">
                <a:latin typeface="SRH Headline"/>
              </a:rPr>
              <a:t>Red</a:t>
            </a:r>
            <a:r>
              <a:rPr lang="de-DE" dirty="0">
                <a:latin typeface="SRH Headline"/>
              </a:rPr>
              <a:t> </a:t>
            </a:r>
            <a:r>
              <a:rPr lang="de-DE" dirty="0" err="1">
                <a:latin typeface="SRH Headline"/>
              </a:rPr>
              <a:t>Flag</a:t>
            </a:r>
            <a:r>
              <a:rPr lang="de-DE" dirty="0">
                <a:latin typeface="SRH Headline"/>
              </a:rPr>
              <a:t> Catalogue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A6F28B1-11C0-99F3-BF62-E54BC8EBC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7</a:t>
            </a:fld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DAFAE90-F5D2-AC4D-D052-857A6AFDD13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de-DE"/>
              <a:t>03.07.2026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4A3A478-74F4-A2DA-EFD0-9194817B2D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SRH –  Responsible AI and Data Ethics | Vikrant Singh and Kay Marc Müller</a:t>
            </a:r>
            <a:endParaRPr lang="de-DE" dirty="0"/>
          </a:p>
        </p:txBody>
      </p:sp>
      <p:graphicFrame>
        <p:nvGraphicFramePr>
          <p:cNvPr id="8" name="Inhaltsplatzhalter 9">
            <a:extLst>
              <a:ext uri="{FF2B5EF4-FFF2-40B4-BE49-F238E27FC236}">
                <a16:creationId xmlns:a16="http://schemas.microsoft.com/office/drawing/2014/main" id="{0ECE0DAD-D54B-D921-A8AE-5CE63CB94EF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61285335"/>
              </p:ext>
            </p:extLst>
          </p:nvPr>
        </p:nvGraphicFramePr>
        <p:xfrm>
          <a:off x="360000" y="1665997"/>
          <a:ext cx="7809637" cy="4385946"/>
        </p:xfrm>
        <a:graphic>
          <a:graphicData uri="http://schemas.openxmlformats.org/drawingml/2006/table">
            <a:tbl>
              <a:tblPr>
                <a:tableStyleId>{5ACB3F56-7768-405F-84FF-31046667B651}</a:tableStyleId>
              </a:tblPr>
              <a:tblGrid>
                <a:gridCol w="931398">
                  <a:extLst>
                    <a:ext uri="{9D8B030D-6E8A-4147-A177-3AD203B41FA5}">
                      <a16:colId xmlns:a16="http://schemas.microsoft.com/office/drawing/2014/main" val="983301348"/>
                    </a:ext>
                  </a:extLst>
                </a:gridCol>
                <a:gridCol w="3560163">
                  <a:extLst>
                    <a:ext uri="{9D8B030D-6E8A-4147-A177-3AD203B41FA5}">
                      <a16:colId xmlns:a16="http://schemas.microsoft.com/office/drawing/2014/main" val="1937337299"/>
                    </a:ext>
                  </a:extLst>
                </a:gridCol>
                <a:gridCol w="1393750">
                  <a:extLst>
                    <a:ext uri="{9D8B030D-6E8A-4147-A177-3AD203B41FA5}">
                      <a16:colId xmlns:a16="http://schemas.microsoft.com/office/drawing/2014/main" val="1403925098"/>
                    </a:ext>
                  </a:extLst>
                </a:gridCol>
                <a:gridCol w="1924326">
                  <a:extLst>
                    <a:ext uri="{9D8B030D-6E8A-4147-A177-3AD203B41FA5}">
                      <a16:colId xmlns:a16="http://schemas.microsoft.com/office/drawing/2014/main" val="3871110494"/>
                    </a:ext>
                  </a:extLst>
                </a:gridCol>
              </a:tblGrid>
              <a:tr h="42530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b="1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</a:rPr>
                        <a:t>Policy ID</a:t>
                      </a:r>
                      <a:endParaRPr lang="de-DE" sz="1600" b="1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b="1" u="none" strike="noStrike" dirty="0" err="1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</a:rPr>
                        <a:t>Principle</a:t>
                      </a:r>
                      <a:endParaRPr lang="de-DE" sz="1600" b="1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b="1" i="0" u="none" strike="noStrike" dirty="0" err="1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Severity</a:t>
                      </a:r>
                      <a:endParaRPr lang="de-DE" sz="1600" b="1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b="1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</a:rPr>
                        <a:t>Source</a:t>
                      </a:r>
                      <a:endParaRPr lang="de-DE" sz="1600" b="1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2258305272"/>
                  </a:ext>
                </a:extLst>
              </a:tr>
              <a:tr h="42530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b="1" u="none" strike="noStrike" dirty="0">
                          <a:solidFill>
                            <a:srgbClr val="DF4807"/>
                          </a:solidFill>
                          <a:effectLst/>
                        </a:rPr>
                        <a:t>RAI-01</a:t>
                      </a:r>
                      <a:endParaRPr lang="de-DE" sz="1600" b="1" i="0" u="none" strike="noStrike" dirty="0">
                        <a:solidFill>
                          <a:srgbClr val="DF480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u="none" strike="noStrike" dirty="0">
                          <a:effectLst/>
                          <a:latin typeface="+mn-lt"/>
                        </a:rPr>
                        <a:t>Data </a:t>
                      </a:r>
                      <a:r>
                        <a:rPr lang="de-DE" sz="1600" u="none" strike="noStrike" dirty="0" err="1">
                          <a:effectLst/>
                          <a:latin typeface="+mn-lt"/>
                        </a:rPr>
                        <a:t>Protection</a:t>
                      </a:r>
                      <a:endParaRPr lang="de-DE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High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u="none" strike="noStrike" dirty="0">
                          <a:effectLst/>
                          <a:latin typeface="+mn-lt"/>
                        </a:rPr>
                        <a:t>real (NFR: Legal)</a:t>
                      </a:r>
                      <a:endParaRPr lang="de-DE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872177957"/>
                  </a:ext>
                </a:extLst>
              </a:tr>
              <a:tr h="42530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b="1" u="none" strike="noStrike" dirty="0">
                          <a:solidFill>
                            <a:srgbClr val="DF4807"/>
                          </a:solidFill>
                          <a:effectLst/>
                        </a:rPr>
                        <a:t>RAI-02</a:t>
                      </a:r>
                      <a:endParaRPr lang="de-DE" sz="1600" b="1" i="0" u="none" strike="noStrike" dirty="0">
                        <a:solidFill>
                          <a:srgbClr val="DF480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u="none" strike="noStrike" dirty="0">
                          <a:effectLst/>
                          <a:latin typeface="+mn-lt"/>
                        </a:rPr>
                        <a:t>Transparency</a:t>
                      </a:r>
                      <a:endParaRPr lang="de-DE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High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u="none" strike="noStrike" dirty="0" err="1">
                          <a:effectLst/>
                          <a:latin typeface="+mn-lt"/>
                        </a:rPr>
                        <a:t>synthetic</a:t>
                      </a:r>
                      <a:endParaRPr lang="de-DE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75099934"/>
                  </a:ext>
                </a:extLst>
              </a:tr>
              <a:tr h="42530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b="1" u="none" strike="noStrike" dirty="0">
                          <a:solidFill>
                            <a:srgbClr val="DF4807"/>
                          </a:solidFill>
                          <a:effectLst/>
                        </a:rPr>
                        <a:t>RAI-03</a:t>
                      </a:r>
                      <a:endParaRPr lang="de-DE" sz="1600" b="1" i="0" u="none" strike="noStrike" dirty="0">
                        <a:solidFill>
                          <a:srgbClr val="DF480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u="none" strike="noStrike" dirty="0">
                          <a:effectLst/>
                          <a:latin typeface="+mn-lt"/>
                        </a:rPr>
                        <a:t>Fairness</a:t>
                      </a:r>
                      <a:endParaRPr lang="de-DE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High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u="none" strike="noStrike" dirty="0" err="1">
                          <a:effectLst/>
                          <a:latin typeface="+mn-lt"/>
                        </a:rPr>
                        <a:t>synthetic</a:t>
                      </a:r>
                      <a:endParaRPr lang="de-DE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771768354"/>
                  </a:ext>
                </a:extLst>
              </a:tr>
              <a:tr h="42530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b="1" u="none" strike="noStrike" dirty="0">
                          <a:solidFill>
                            <a:srgbClr val="DF4807"/>
                          </a:solidFill>
                          <a:effectLst/>
                        </a:rPr>
                        <a:t>RAI-04</a:t>
                      </a:r>
                      <a:endParaRPr lang="de-DE" sz="1600" b="1" i="0" u="none" strike="noStrike" dirty="0">
                        <a:solidFill>
                          <a:srgbClr val="DF480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u="none" strike="noStrike" dirty="0" err="1">
                          <a:effectLst/>
                          <a:latin typeface="+mn-lt"/>
                        </a:rPr>
                        <a:t>Human Dignity / Vulnerable Groups</a:t>
                      </a:r>
                      <a:endParaRPr lang="de-DE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High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u="none" strike="noStrike" dirty="0">
                          <a:effectLst/>
                          <a:latin typeface="+mn-lt"/>
                        </a:rPr>
                        <a:t>synthetic</a:t>
                      </a:r>
                      <a:endParaRPr lang="de-DE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4076317307"/>
                  </a:ext>
                </a:extLst>
              </a:tr>
              <a:tr h="42530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b="1" u="none" strike="noStrike" dirty="0">
                          <a:solidFill>
                            <a:srgbClr val="DF4807"/>
                          </a:solidFill>
                          <a:effectLst/>
                        </a:rPr>
                        <a:t>RAI-05</a:t>
                      </a:r>
                      <a:endParaRPr lang="de-DE" sz="1600" b="1" i="0" u="none" strike="noStrike" dirty="0">
                        <a:solidFill>
                          <a:srgbClr val="DF480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u="none" strike="noStrike" dirty="0">
                          <a:effectLst/>
                          <a:latin typeface="+mn-lt"/>
                        </a:rPr>
                        <a:t>Prohibited Purpose</a:t>
                      </a:r>
                      <a:endParaRPr lang="de-DE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High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u="none" strike="noStrike" dirty="0" err="1">
                          <a:effectLst/>
                          <a:latin typeface="+mn-lt"/>
                        </a:rPr>
                        <a:t>synthetic</a:t>
                      </a:r>
                      <a:endParaRPr lang="de-DE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3334628995"/>
                  </a:ext>
                </a:extLst>
              </a:tr>
              <a:tr h="42530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b="1" u="none" strike="noStrike" dirty="0">
                          <a:solidFill>
                            <a:srgbClr val="DF4807"/>
                          </a:solidFill>
                          <a:effectLst/>
                        </a:rPr>
                        <a:t>RAI-06</a:t>
                      </a:r>
                      <a:endParaRPr lang="de-DE" sz="1600" b="1" i="0" u="none" strike="noStrike" dirty="0">
                        <a:solidFill>
                          <a:srgbClr val="DF480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u="none" strike="noStrike" dirty="0">
                          <a:effectLst/>
                          <a:latin typeface="+mn-lt"/>
                        </a:rPr>
                        <a:t>Security</a:t>
                      </a:r>
                      <a:endParaRPr lang="de-DE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b="0" kern="1200" dirty="0">
                          <a:solidFill>
                            <a:srgbClr val="2C2E2E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Medium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u="none" strike="noStrike" dirty="0" err="1">
                          <a:effectLst/>
                          <a:latin typeface="+mn-lt"/>
                        </a:rPr>
                        <a:t>real (NFR: Security)</a:t>
                      </a:r>
                      <a:endParaRPr lang="de-DE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683747685"/>
                  </a:ext>
                </a:extLst>
              </a:tr>
              <a:tr h="47130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b="1" u="none" strike="noStrike" dirty="0">
                          <a:solidFill>
                            <a:srgbClr val="DF4807"/>
                          </a:solidFill>
                          <a:effectLst/>
                        </a:rPr>
                        <a:t>RAI-07</a:t>
                      </a:r>
                      <a:endParaRPr lang="de-DE" sz="1600" b="1" i="0" u="none" strike="noStrike" dirty="0">
                        <a:solidFill>
                          <a:srgbClr val="DF480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u="none" strike="noStrike" dirty="0" err="1">
                          <a:effectLst/>
                          <a:latin typeface="+mn-lt"/>
                        </a:rPr>
                        <a:t>Human Oversight</a:t>
                      </a:r>
                      <a:endParaRPr lang="de-DE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b="0" kern="1200" dirty="0">
                          <a:solidFill>
                            <a:srgbClr val="2C2E2E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Medium</a:t>
                      </a:r>
                      <a:endParaRPr lang="de-DE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u="none" strike="noStrike" dirty="0" err="1">
                          <a:effectLst/>
                          <a:latin typeface="+mn-lt"/>
                        </a:rPr>
                        <a:t>synthetic</a:t>
                      </a:r>
                      <a:endParaRPr lang="de-DE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2676684709"/>
                  </a:ext>
                </a:extLst>
              </a:tr>
              <a:tr h="46874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b="1" u="none" strike="noStrike" dirty="0">
                          <a:solidFill>
                            <a:srgbClr val="DF4807"/>
                          </a:solidFill>
                          <a:effectLst/>
                        </a:rPr>
                        <a:t>RAI-08</a:t>
                      </a:r>
                      <a:endParaRPr lang="de-DE" sz="1600" b="1" i="0" u="none" strike="noStrike" dirty="0">
                        <a:solidFill>
                          <a:srgbClr val="DF480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u="none" strike="noStrike" dirty="0" err="1">
                          <a:effectLst/>
                          <a:latin typeface="+mn-lt"/>
                        </a:rPr>
                        <a:t>Data minimisation</a:t>
                      </a:r>
                      <a:endParaRPr lang="de-DE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b="0" kern="1200" dirty="0">
                          <a:solidFill>
                            <a:srgbClr val="2C2E2E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Medium</a:t>
                      </a:r>
                      <a:endParaRPr lang="de-DE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u="none" strike="noStrike" dirty="0" err="1">
                          <a:effectLst/>
                          <a:latin typeface="+mn-lt"/>
                        </a:rPr>
                        <a:t>synthetic</a:t>
                      </a:r>
                      <a:endParaRPr lang="de-DE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24123180"/>
                  </a:ext>
                </a:extLst>
              </a:tr>
              <a:tr h="46874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b="1" u="none" strike="noStrike" dirty="0">
                          <a:solidFill>
                            <a:srgbClr val="DF4807"/>
                          </a:solidFill>
                          <a:effectLst/>
                        </a:rPr>
                        <a:t>RAI-09</a:t>
                      </a:r>
                      <a:endParaRPr lang="de-DE" sz="1600" b="1" i="0" u="none" strike="noStrike" dirty="0">
                        <a:solidFill>
                          <a:srgbClr val="DF480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u="none" strike="noStrike" dirty="0" err="1">
                          <a:effectLst/>
                          <a:latin typeface="+mn-lt"/>
                        </a:rPr>
                        <a:t>Explainability</a:t>
                      </a:r>
                      <a:endParaRPr lang="de-DE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b="0" kern="1200" dirty="0">
                          <a:solidFill>
                            <a:srgbClr val="2C2E2E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Medium</a:t>
                      </a:r>
                      <a:endParaRPr lang="de-DE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u="none" strike="noStrike" dirty="0" err="1">
                          <a:effectLst/>
                          <a:latin typeface="+mn-lt"/>
                        </a:rPr>
                        <a:t>synthetic</a:t>
                      </a:r>
                      <a:endParaRPr lang="de-DE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472899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6316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95F188-556E-8A27-7308-E0B13A44D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Data </a:t>
            </a:r>
            <a:r>
              <a:rPr lang="de-DE" dirty="0" err="1"/>
              <a:t>analysis</a:t>
            </a:r>
            <a:br>
              <a:rPr lang="de-DE" dirty="0"/>
            </a:br>
            <a:r>
              <a:rPr lang="de-DE" b="0" dirty="0" err="1"/>
              <a:t>Step</a:t>
            </a:r>
            <a:endParaRPr lang="de-DE" b="0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46FE2AC-3734-A94E-EC8C-C3AA311774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01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848F86F-5C1C-04F0-9D04-96D6196F8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pPr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581895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EC3012-4F09-2836-FF71-E2C03A31D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Step</a:t>
            </a:r>
            <a:r>
              <a:rPr lang="de-DE" dirty="0"/>
              <a:t> 1: Class </a:t>
            </a:r>
            <a:r>
              <a:rPr lang="de-DE" dirty="0" err="1"/>
              <a:t>balance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A64670C-D3B2-3D1A-4FF3-77C86A5FA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9</a:t>
            </a:fld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8E53D4B-5857-0850-0C09-01DA236F8A4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de-DE"/>
              <a:t>03.07.2026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948C8E8-9C23-495A-4F4F-C6600FC55E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SRH –  Responsible AI and Data Ethics | Vikrant Singh and Kay Marc Müller</a:t>
            </a:r>
            <a:endParaRPr lang="de-DE" dirty="0"/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8AF3E67D-2926-1CDE-F2DB-C94B26A31B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4852" y="1597294"/>
            <a:ext cx="7945217" cy="4401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3973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3A77C-CCD4-DE79-E677-97F8DE497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B95D76-A44D-5E25-5924-7B42D5909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58969"/>
            <a:ext cx="9157663" cy="835093"/>
          </a:xfrm>
        </p:spPr>
        <p:txBody>
          <a:bodyPr anchor="b">
            <a:normAutofit/>
          </a:bodyPr>
          <a:lstStyle/>
          <a:p>
            <a:r>
              <a:rPr lang="de-DE" dirty="0" err="1"/>
              <a:t>Step</a:t>
            </a:r>
            <a:r>
              <a:rPr lang="de-DE" dirty="0"/>
              <a:t> 1: </a:t>
            </a:r>
            <a:r>
              <a:rPr lang="de-DE" dirty="0" err="1"/>
              <a:t>Red-flag</a:t>
            </a:r>
            <a:r>
              <a:rPr lang="de-DE" dirty="0"/>
              <a:t> </a:t>
            </a:r>
            <a:r>
              <a:rPr lang="de-DE" dirty="0" err="1"/>
              <a:t>types</a:t>
            </a:r>
            <a:r>
              <a:rPr lang="de-DE" dirty="0"/>
              <a:t> &amp; source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267D15A-7CC9-5F70-B112-6AC3DC08C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6737" y="6364924"/>
            <a:ext cx="68008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75B144D-941B-4DFC-AF5F-0416193D12EC}" type="slidenum">
              <a:rPr lang="de-DE" smtClean="0"/>
              <a:pPr>
                <a:spcAft>
                  <a:spcPts val="600"/>
                </a:spcAft>
              </a:pPr>
              <a:t>10</a:t>
            </a:fld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749F56E-2FE1-997C-7739-4004D52C3D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7645" y="6356350"/>
            <a:ext cx="874559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de-DE"/>
              <a:t>03.07.2026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3139B63-9D5D-AB09-B308-C116BD548F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19842" y="6356350"/>
            <a:ext cx="649569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de-DE"/>
              <a:t>SRH –  Responsible AI and Data Ethics | Vikrant Singh and Kay Marc Müller</a:t>
            </a:r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405845D1-A414-A8A5-6F4B-717896D222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4759" y="1558977"/>
            <a:ext cx="9388410" cy="4437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5038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93B3B-D744-4F76-2509-6D4E80EC4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3E1C59-6D5C-B15E-511E-A552D8ADF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58969"/>
            <a:ext cx="9157663" cy="835093"/>
          </a:xfrm>
        </p:spPr>
        <p:txBody>
          <a:bodyPr anchor="b">
            <a:normAutofit/>
          </a:bodyPr>
          <a:lstStyle/>
          <a:p>
            <a:r>
              <a:rPr lang="de-DE" dirty="0" err="1"/>
              <a:t>Step</a:t>
            </a:r>
            <a:r>
              <a:rPr lang="de-DE" dirty="0"/>
              <a:t> 1: Real </a:t>
            </a:r>
            <a:r>
              <a:rPr lang="de-DE" dirty="0" err="1"/>
              <a:t>implementation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red</a:t>
            </a:r>
            <a:r>
              <a:rPr lang="de-DE" dirty="0"/>
              <a:t> </a:t>
            </a:r>
            <a:r>
              <a:rPr lang="de-DE" dirty="0" err="1"/>
              <a:t>flags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81343AD-2D88-20FC-9C6B-DE3A9906C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6737" y="6364924"/>
            <a:ext cx="68008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75B144D-941B-4DFC-AF5F-0416193D12EC}" type="slidenum">
              <a:rPr lang="de-DE" smtClean="0"/>
              <a:pPr>
                <a:spcAft>
                  <a:spcPts val="600"/>
                </a:spcAft>
              </a:pPr>
              <a:t>11</a:t>
            </a:fld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164CE53-16DA-76E8-B483-11019AD0F5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7645" y="6356350"/>
            <a:ext cx="874559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de-DE"/>
              <a:t>03.07.2026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3CACC93-67EA-C90D-8D9D-68E158F157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19842" y="6356350"/>
            <a:ext cx="649569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de-DE"/>
              <a:t>SRH –  Responsible AI and Data Ethics | Vikrant Singh and Kay Marc Müller</a:t>
            </a:r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C73DD770-40AA-3DE8-D2CC-419DF2AF2D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7645" y="1655202"/>
            <a:ext cx="6833922" cy="4460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7421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C3701-D50F-57ED-6E90-CADFC6A46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0027EB-2DC1-D299-CD94-566CD08B6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58969"/>
            <a:ext cx="9157663" cy="835093"/>
          </a:xfrm>
        </p:spPr>
        <p:txBody>
          <a:bodyPr anchor="b">
            <a:normAutofit/>
          </a:bodyPr>
          <a:lstStyle/>
          <a:p>
            <a:r>
              <a:rPr lang="de-DE" dirty="0" err="1"/>
              <a:t>Step</a:t>
            </a:r>
            <a:r>
              <a:rPr lang="de-DE" dirty="0"/>
              <a:t> 1: Text </a:t>
            </a:r>
            <a:r>
              <a:rPr lang="de-DE" dirty="0" err="1"/>
              <a:t>length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a </a:t>
            </a:r>
            <a:r>
              <a:rPr lang="de-DE" dirty="0" err="1"/>
              <a:t>signal</a:t>
            </a:r>
            <a:r>
              <a:rPr lang="de-DE" dirty="0"/>
              <a:t>?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7F3E129-4804-2420-EA7E-B49085BF6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6737" y="6364924"/>
            <a:ext cx="68008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75B144D-941B-4DFC-AF5F-0416193D12EC}" type="slidenum">
              <a:rPr lang="de-DE" smtClean="0"/>
              <a:pPr>
                <a:spcAft>
                  <a:spcPts val="600"/>
                </a:spcAft>
              </a:pPr>
              <a:t>12</a:t>
            </a:fld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68D0C37-F4EE-0F38-5B7A-4D5931829F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7645" y="6356350"/>
            <a:ext cx="874559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de-DE"/>
              <a:t>03.07.2026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5305689-F772-395E-FF41-CC1950B883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19842" y="6356350"/>
            <a:ext cx="649569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de-DE"/>
              <a:t>SRH –  Responsible AI and Data Ethics | Vikrant Singh and Kay Marc Müller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FE6B6DCA-3150-6B19-0DE1-4A4702ABD5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571" y="1638300"/>
            <a:ext cx="7973839" cy="4417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8474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90F33-1249-4613-EC1D-CBE9F5C43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60B066-AD27-6AFF-1EED-470067B54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58969"/>
            <a:ext cx="9157663" cy="835093"/>
          </a:xfrm>
        </p:spPr>
        <p:txBody>
          <a:bodyPr anchor="b">
            <a:normAutofit/>
          </a:bodyPr>
          <a:lstStyle/>
          <a:p>
            <a:r>
              <a:rPr lang="de-DE" dirty="0" err="1"/>
              <a:t>Step</a:t>
            </a:r>
            <a:r>
              <a:rPr lang="de-DE" dirty="0"/>
              <a:t> 1: Bias check </a:t>
            </a:r>
            <a:r>
              <a:rPr lang="de-DE" dirty="0" err="1"/>
              <a:t>using</a:t>
            </a:r>
            <a:r>
              <a:rPr lang="de-DE" dirty="0"/>
              <a:t> an AI-</a:t>
            </a:r>
            <a:r>
              <a:rPr lang="de-DE" dirty="0" err="1"/>
              <a:t>based</a:t>
            </a:r>
            <a:r>
              <a:rPr lang="de-DE" dirty="0"/>
              <a:t> </a:t>
            </a:r>
            <a:r>
              <a:rPr lang="de-DE" dirty="0" err="1"/>
              <a:t>method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5541ED8-FD26-151B-04A8-D2A054DFD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6737" y="6364924"/>
            <a:ext cx="68008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75B144D-941B-4DFC-AF5F-0416193D12EC}" type="slidenum">
              <a:rPr lang="de-DE" smtClean="0"/>
              <a:pPr>
                <a:spcAft>
                  <a:spcPts val="600"/>
                </a:spcAft>
              </a:pPr>
              <a:t>13</a:t>
            </a:fld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5D196C1-C074-E1C1-FB51-A880184E31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7645" y="6356350"/>
            <a:ext cx="874559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de-DE"/>
              <a:t>03.07.2026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29D7C7D-A97B-F85D-9911-810AB3E825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19842" y="6356350"/>
            <a:ext cx="649569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de-DE"/>
              <a:t>SRH –  Responsible AI and Data Ethics | Vikrant Singh and Kay Marc Müller</a:t>
            </a:r>
          </a:p>
        </p:txBody>
      </p:sp>
      <p:pic>
        <p:nvPicPr>
          <p:cNvPr id="8" name="Grafik 7" descr="Ein Bild, das Text, Screenshot, Reihe, Schrift enthält.&#10;&#10;KI-generierte Inhalte können fehlerhaft sein.">
            <a:extLst>
              <a:ext uri="{FF2B5EF4-FFF2-40B4-BE49-F238E27FC236}">
                <a16:creationId xmlns:a16="http://schemas.microsoft.com/office/drawing/2014/main" id="{ED565E72-913A-5C3D-D174-19DC41F611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070" y="1597701"/>
            <a:ext cx="7896694" cy="4368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4270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A5968B-CAD4-6A02-A3D8-3756E9A63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Step</a:t>
            </a:r>
            <a:r>
              <a:rPr lang="de-DE" dirty="0"/>
              <a:t> 1: Fazit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DE3AEBE-C075-8298-D149-62A4DD9385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1,000 </a:t>
            </a:r>
            <a:r>
              <a:rPr lang="de-DE" dirty="0" err="1"/>
              <a:t>requests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Jira </a:t>
            </a:r>
            <a:r>
              <a:rPr lang="de-DE" dirty="0" err="1"/>
              <a:t>structure</a:t>
            </a:r>
            <a:r>
              <a:rPr lang="de-DE" dirty="0"/>
              <a:t> + </a:t>
            </a:r>
            <a:r>
              <a:rPr lang="de-DE" dirty="0" err="1"/>
              <a:t>actual</a:t>
            </a:r>
            <a:r>
              <a:rPr lang="de-DE" dirty="0"/>
              <a:t> PROMISE/NFR </a:t>
            </a:r>
            <a:r>
              <a:rPr lang="de-DE" dirty="0" err="1"/>
              <a:t>text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Red</a:t>
            </a:r>
            <a:r>
              <a:rPr lang="de-DE" dirty="0"/>
              <a:t> </a:t>
            </a:r>
            <a:r>
              <a:rPr lang="de-DE" dirty="0" err="1"/>
              <a:t>flags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partly</a:t>
            </a:r>
            <a:r>
              <a:rPr lang="de-DE" dirty="0"/>
              <a:t> </a:t>
            </a:r>
            <a:r>
              <a:rPr lang="de-DE" dirty="0" err="1"/>
              <a:t>grounded</a:t>
            </a:r>
            <a:r>
              <a:rPr lang="de-DE" dirty="0"/>
              <a:t> in </a:t>
            </a:r>
            <a:r>
              <a:rPr lang="de-DE" b="1" dirty="0" err="1">
                <a:solidFill>
                  <a:srgbClr val="DF4807"/>
                </a:solidFill>
              </a:rPr>
              <a:t>reality</a:t>
            </a:r>
            <a:r>
              <a:rPr lang="de-DE" dirty="0"/>
              <a:t> (Security/Legal </a:t>
            </a:r>
            <a:r>
              <a:rPr lang="de-DE" dirty="0" err="1"/>
              <a:t>disputes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Slight</a:t>
            </a:r>
            <a:r>
              <a:rPr lang="de-DE" dirty="0"/>
              <a:t> </a:t>
            </a:r>
            <a:r>
              <a:rPr lang="de-DE" dirty="0" err="1"/>
              <a:t>class</a:t>
            </a:r>
            <a:r>
              <a:rPr lang="de-DE" dirty="0"/>
              <a:t> </a:t>
            </a:r>
            <a:r>
              <a:rPr lang="de-DE" dirty="0" err="1"/>
              <a:t>imbalance</a:t>
            </a:r>
            <a:r>
              <a:rPr lang="de-DE" dirty="0"/>
              <a:t> → </a:t>
            </a:r>
            <a:r>
              <a:rPr lang="de-DE" dirty="0" err="1"/>
              <a:t>choose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right</a:t>
            </a:r>
            <a:r>
              <a:rPr lang="de-DE" dirty="0"/>
              <a:t> </a:t>
            </a:r>
            <a:r>
              <a:rPr lang="de-DE" b="1" dirty="0" err="1">
                <a:solidFill>
                  <a:srgbClr val="DF4807"/>
                </a:solidFill>
              </a:rPr>
              <a:t>metrics</a:t>
            </a:r>
            <a:r>
              <a:rPr lang="de-DE" dirty="0"/>
              <a:t> </a:t>
            </a:r>
            <a:br>
              <a:rPr lang="de-DE" dirty="0"/>
            </a:br>
            <a:r>
              <a:rPr lang="de-DE" dirty="0"/>
              <a:t>Focus on </a:t>
            </a:r>
            <a:r>
              <a:rPr lang="de-DE" dirty="0" err="1"/>
              <a:t>recall</a:t>
            </a:r>
            <a:r>
              <a:rPr lang="de-DE" dirty="0"/>
              <a:t> (a </a:t>
            </a:r>
            <a:r>
              <a:rPr lang="de-DE" dirty="0" err="1"/>
              <a:t>missed</a:t>
            </a:r>
            <a:r>
              <a:rPr lang="de-DE" dirty="0"/>
              <a:t> </a:t>
            </a:r>
            <a:r>
              <a:rPr lang="de-DE" dirty="0" err="1"/>
              <a:t>violation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more</a:t>
            </a:r>
            <a:r>
              <a:rPr lang="de-DE" dirty="0"/>
              <a:t> </a:t>
            </a:r>
            <a:r>
              <a:rPr lang="de-DE" dirty="0" err="1"/>
              <a:t>costly</a:t>
            </a:r>
            <a:r>
              <a:rPr lang="de-DE" dirty="0"/>
              <a:t> </a:t>
            </a:r>
            <a:r>
              <a:rPr lang="de-DE" dirty="0" err="1"/>
              <a:t>than</a:t>
            </a:r>
            <a:r>
              <a:rPr lang="de-DE" dirty="0"/>
              <a:t> a </a:t>
            </a:r>
            <a:r>
              <a:rPr lang="de-DE" dirty="0" err="1"/>
              <a:t>false</a:t>
            </a:r>
            <a:r>
              <a:rPr lang="de-DE" dirty="0"/>
              <a:t> </a:t>
            </a:r>
            <a:r>
              <a:rPr lang="de-DE" dirty="0" err="1"/>
              <a:t>alarm</a:t>
            </a:r>
            <a:r>
              <a:rPr lang="de-DE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Text </a:t>
            </a:r>
            <a:r>
              <a:rPr lang="de-DE" dirty="0" err="1"/>
              <a:t>length</a:t>
            </a:r>
            <a:r>
              <a:rPr lang="de-DE" dirty="0"/>
              <a:t> (</a:t>
            </a:r>
            <a:r>
              <a:rPr lang="de-DE" b="1" dirty="0" err="1">
                <a:solidFill>
                  <a:srgbClr val="DF4807"/>
                </a:solidFill>
              </a:rPr>
              <a:t>number</a:t>
            </a:r>
            <a:r>
              <a:rPr lang="de-DE" b="1" dirty="0">
                <a:solidFill>
                  <a:srgbClr val="DF4807"/>
                </a:solidFill>
              </a:rPr>
              <a:t> </a:t>
            </a:r>
            <a:r>
              <a:rPr lang="de-DE" b="1" dirty="0" err="1">
                <a:solidFill>
                  <a:srgbClr val="DF4807"/>
                </a:solidFill>
              </a:rPr>
              <a:t>of</a:t>
            </a:r>
            <a:r>
              <a:rPr lang="de-DE" b="1" dirty="0">
                <a:solidFill>
                  <a:srgbClr val="DF4807"/>
                </a:solidFill>
              </a:rPr>
              <a:t> </a:t>
            </a:r>
            <a:r>
              <a:rPr lang="de-DE" b="1" dirty="0" err="1">
                <a:solidFill>
                  <a:srgbClr val="DF4807"/>
                </a:solidFill>
              </a:rPr>
              <a:t>words</a:t>
            </a:r>
            <a:r>
              <a:rPr lang="de-DE" b="1" dirty="0">
                <a:solidFill>
                  <a:srgbClr val="DF4807"/>
                </a:solidFill>
              </a:rPr>
              <a:t> </a:t>
            </a:r>
            <a:r>
              <a:rPr lang="de-DE" dirty="0"/>
              <a:t>per </a:t>
            </a:r>
            <a:r>
              <a:rPr lang="de-DE" dirty="0" err="1"/>
              <a:t>application</a:t>
            </a:r>
            <a:r>
              <a:rPr lang="de-DE" dirty="0"/>
              <a:t>): </a:t>
            </a:r>
            <a:r>
              <a:rPr lang="de-DE" dirty="0" err="1"/>
              <a:t>weak</a:t>
            </a:r>
            <a:r>
              <a:rPr lang="de-DE" dirty="0"/>
              <a:t> </a:t>
            </a:r>
            <a:r>
              <a:rPr lang="de-DE" dirty="0" err="1"/>
              <a:t>signal</a:t>
            </a:r>
            <a:r>
              <a:rPr lang="de-DE" dirty="0"/>
              <a:t> → </a:t>
            </a:r>
            <a:r>
              <a:rPr lang="de-DE" dirty="0" err="1"/>
              <a:t>semantic</a:t>
            </a:r>
            <a:r>
              <a:rPr lang="de-DE" dirty="0"/>
              <a:t> </a:t>
            </a: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required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bias</a:t>
            </a:r>
            <a:r>
              <a:rPr lang="de-DE" dirty="0"/>
              <a:t> </a:t>
            </a:r>
            <a:r>
              <a:rPr lang="de-DE" dirty="0" err="1"/>
              <a:t>according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AI </a:t>
            </a:r>
            <a:r>
              <a:rPr lang="de-DE" dirty="0" err="1"/>
              <a:t>method</a:t>
            </a:r>
            <a:r>
              <a:rPr lang="de-DE" dirty="0"/>
              <a:t>; </a:t>
            </a:r>
            <a:r>
              <a:rPr lang="de-DE" dirty="0" err="1"/>
              <a:t>saved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proposals</a:t>
            </a:r>
            <a:r>
              <a:rPr lang="de-DE"/>
              <a:t>_1000_EN.</a:t>
            </a:r>
            <a:r>
              <a:rPr lang="de-DE" dirty="0"/>
              <a:t>csv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EF0AE4E-2F6A-CDF1-C57F-F435469ED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14</a:t>
            </a:fld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392D375-3634-4406-F4A7-9B281C23945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de-DE"/>
              <a:t>03.07.2026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1DB9264-558F-0511-389E-1CCA3477DB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SRH –  Responsible AI and Data Ethics | Vikrant Singh and Kay Marc Müller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564921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13E2F-5E68-F545-9BAB-A8F37B387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D6B43F-4392-B102-7A6C-C64C2C357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Planning</a:t>
            </a:r>
            <a:br>
              <a:rPr lang="de-DE" dirty="0"/>
            </a:br>
            <a:r>
              <a:rPr lang="de-DE" b="0" dirty="0" err="1"/>
              <a:t>Step</a:t>
            </a:r>
            <a:endParaRPr lang="de-DE" b="0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B60CD5E-B2EF-5926-CC94-2651627E42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02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4CBD0E3-54FC-B41E-81EF-E5F799AD9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pPr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27982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F103D-3091-97F2-96E9-055BE2122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E1C237-C355-29ED-7574-12AAAC96A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Step</a:t>
            </a:r>
            <a:r>
              <a:rPr lang="de-DE" dirty="0"/>
              <a:t> 2: </a:t>
            </a:r>
            <a:r>
              <a:rPr lang="de-DE" dirty="0" err="1"/>
              <a:t>Planning</a:t>
            </a:r>
            <a:r>
              <a:rPr lang="de-DE" dirty="0"/>
              <a:t> 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1FA58D8-3973-5FF7-891F-E58D0664D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16</a:t>
            </a:fld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FC838F6-CFE6-3147-9FC8-48E45816609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de-DE"/>
              <a:t>03.07.2026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85C026E-6C04-1300-B005-9CAFFB2487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SRH –  Responsible AI and Data Ethics | Vikrant Singh and Kay Marc Müller</a:t>
            </a:r>
            <a:endParaRPr lang="de-DE" dirty="0"/>
          </a:p>
        </p:txBody>
      </p:sp>
      <p:graphicFrame>
        <p:nvGraphicFramePr>
          <p:cNvPr id="9" name="Inhaltsplatzhalter 8">
            <a:extLst>
              <a:ext uri="{FF2B5EF4-FFF2-40B4-BE49-F238E27FC236}">
                <a16:creationId xmlns:a16="http://schemas.microsoft.com/office/drawing/2014/main" id="{C7386BD4-E483-08CD-FA16-D6B5AB70FA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3161359"/>
              </p:ext>
            </p:extLst>
          </p:nvPr>
        </p:nvGraphicFramePr>
        <p:xfrm>
          <a:off x="367645" y="1728788"/>
          <a:ext cx="7610496" cy="4229098"/>
        </p:xfrm>
        <a:graphic>
          <a:graphicData uri="http://schemas.openxmlformats.org/drawingml/2006/table">
            <a:tbl>
              <a:tblPr>
                <a:tableStyleId>{5ACB3F56-7768-405F-84FF-31046667B651}</a:tableStyleId>
              </a:tblPr>
              <a:tblGrid>
                <a:gridCol w="1198265">
                  <a:extLst>
                    <a:ext uri="{9D8B030D-6E8A-4147-A177-3AD203B41FA5}">
                      <a16:colId xmlns:a16="http://schemas.microsoft.com/office/drawing/2014/main" val="302072054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18449171"/>
                    </a:ext>
                  </a:extLst>
                </a:gridCol>
                <a:gridCol w="3028951">
                  <a:extLst>
                    <a:ext uri="{9D8B030D-6E8A-4147-A177-3AD203B41FA5}">
                      <a16:colId xmlns:a16="http://schemas.microsoft.com/office/drawing/2014/main" val="2399969416"/>
                    </a:ext>
                  </a:extLst>
                </a:gridCol>
              </a:tblGrid>
              <a:tr h="44516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b="1" u="none" strike="noStrike" dirty="0">
                          <a:effectLst/>
                        </a:rPr>
                        <a:t>Woche</a:t>
                      </a:r>
                      <a:endParaRPr lang="de-DE" sz="160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8786" marR="8786" marT="8786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b="1" u="none" strike="noStrike" dirty="0">
                          <a:effectLst/>
                        </a:rPr>
                        <a:t>Arbeitspaket</a:t>
                      </a:r>
                      <a:endParaRPr lang="de-DE" sz="160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8786" marR="8786" marT="8786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b="1" u="none" strike="noStrike" dirty="0">
                          <a:effectLst/>
                        </a:rPr>
                        <a:t>Meilenstein</a:t>
                      </a:r>
                      <a:endParaRPr lang="de-DE" sz="160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8786" marR="8786" marT="8786" marB="0" anchor="ctr"/>
                </a:tc>
                <a:extLst>
                  <a:ext uri="{0D108BD9-81ED-4DB2-BD59-A6C34878D82A}">
                    <a16:rowId xmlns:a16="http://schemas.microsoft.com/office/drawing/2014/main" val="2143186454"/>
                  </a:ext>
                </a:extLst>
              </a:tr>
              <a:tr h="75678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b="1" u="none" strike="noStrike" dirty="0">
                          <a:effectLst/>
                        </a:rPr>
                        <a:t>1</a:t>
                      </a:r>
                      <a:endParaRPr lang="de-DE" sz="160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8786" marR="8786" marT="8786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b="1" u="none" strike="noStrike" dirty="0">
                          <a:effectLst/>
                        </a:rPr>
                        <a:t>Data (</a:t>
                      </a:r>
                      <a:r>
                        <a:rPr lang="de-DE" sz="1600" b="1" u="none" strike="noStrike" dirty="0" err="1">
                          <a:effectLst/>
                        </a:rPr>
                        <a:t>Jira+NFR</a:t>
                      </a:r>
                      <a:r>
                        <a:rPr lang="de-DE" sz="1600" b="1" u="none" strike="noStrike" dirty="0">
                          <a:effectLst/>
                        </a:rPr>
                        <a:t>) &amp; EDA</a:t>
                      </a:r>
                      <a:endParaRPr lang="de-DE" sz="160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8786" marR="8786" marT="8786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b="1" u="none" strike="noStrike" dirty="0">
                          <a:effectLst/>
                        </a:rPr>
                        <a:t>Data </a:t>
                      </a:r>
                      <a:r>
                        <a:rPr lang="de-DE" sz="1600" b="1" u="none" strike="noStrike" dirty="0" err="1">
                          <a:effectLst/>
                        </a:rPr>
                        <a:t>set</a:t>
                      </a:r>
                      <a:r>
                        <a:rPr lang="de-DE" sz="1600" b="1" u="none" strike="noStrike" dirty="0">
                          <a:effectLst/>
                        </a:rPr>
                        <a:t> + </a:t>
                      </a:r>
                      <a:r>
                        <a:rPr lang="de-DE" sz="1600" b="1" u="none" strike="noStrike" dirty="0" err="1">
                          <a:effectLst/>
                        </a:rPr>
                        <a:t>analysis</a:t>
                      </a:r>
                      <a:endParaRPr lang="de-DE" sz="160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8786" marR="8786" marT="8786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559070"/>
                  </a:ext>
                </a:extLst>
              </a:tr>
              <a:tr h="75678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2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8786" marR="8786" marT="8786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u="none" strike="noStrike" dirty="0">
                          <a:effectLst/>
                        </a:rPr>
                        <a:t>Baseline + Risk + Fairness</a:t>
                      </a:r>
                      <a:endParaRPr lang="de-DE" sz="16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8786" marR="8786" marT="8786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u="none" strike="noStrike" dirty="0">
                          <a:effectLst/>
                        </a:rPr>
                        <a:t>Benchmark </a:t>
                      </a:r>
                      <a:r>
                        <a:rPr lang="de-DE" sz="1600" u="none" strike="noStrike" dirty="0" err="1">
                          <a:effectLst/>
                        </a:rPr>
                        <a:t>metrics</a:t>
                      </a:r>
                      <a:endParaRPr lang="de-DE" sz="16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8786" marR="8786" marT="8786" marB="0" anchor="ctr"/>
                </a:tc>
                <a:extLst>
                  <a:ext uri="{0D108BD9-81ED-4DB2-BD59-A6C34878D82A}">
                    <a16:rowId xmlns:a16="http://schemas.microsoft.com/office/drawing/2014/main" val="3223468451"/>
                  </a:ext>
                </a:extLst>
              </a:tr>
              <a:tr h="75678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3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8786" marR="8786" marT="8786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u="none" strike="noStrike" dirty="0">
                          <a:effectLst/>
                        </a:rPr>
                        <a:t>XAI + Tests (≥ 80 %)</a:t>
                      </a:r>
                      <a:endParaRPr lang="de-DE" sz="16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8786" marR="8786" marT="8786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u="none" strike="noStrike" dirty="0">
                          <a:effectLst/>
                        </a:rPr>
                        <a:t>Evaluation Report</a:t>
                      </a:r>
                      <a:endParaRPr lang="de-DE" sz="16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8786" marR="8786" marT="8786" marB="0" anchor="ctr"/>
                </a:tc>
                <a:extLst>
                  <a:ext uri="{0D108BD9-81ED-4DB2-BD59-A6C34878D82A}">
                    <a16:rowId xmlns:a16="http://schemas.microsoft.com/office/drawing/2014/main" val="3228550603"/>
                  </a:ext>
                </a:extLst>
              </a:tr>
              <a:tr h="75678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4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8786" marR="8786" marT="8786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u="none" strike="noStrike" dirty="0">
                          <a:effectLst/>
                        </a:rPr>
                        <a:t>LLM-Agent + RAG + Write-Back</a:t>
                      </a:r>
                      <a:endParaRPr lang="de-DE" sz="16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8786" marR="8786" marT="8786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u="none" strike="noStrike" dirty="0">
                          <a:effectLst/>
                        </a:rPr>
                        <a:t>End-</a:t>
                      </a:r>
                      <a:r>
                        <a:rPr lang="de-DE" sz="1600" u="none" strike="noStrike" dirty="0" err="1">
                          <a:effectLst/>
                        </a:rPr>
                        <a:t>to</a:t>
                      </a:r>
                      <a:r>
                        <a:rPr lang="de-DE" sz="1600" u="none" strike="noStrike" dirty="0">
                          <a:effectLst/>
                        </a:rPr>
                        <a:t>-End-Demo</a:t>
                      </a:r>
                      <a:endParaRPr lang="de-DE" sz="16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8786" marR="8786" marT="8786" marB="0" anchor="ctr"/>
                </a:tc>
                <a:extLst>
                  <a:ext uri="{0D108BD9-81ED-4DB2-BD59-A6C34878D82A}">
                    <a16:rowId xmlns:a16="http://schemas.microsoft.com/office/drawing/2014/main" val="902353124"/>
                  </a:ext>
                </a:extLst>
              </a:tr>
              <a:tr h="75678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5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8786" marR="8786" marT="8786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u="none" strike="noStrike" dirty="0" err="1">
                          <a:effectLst/>
                        </a:rPr>
                        <a:t>Documentary</a:t>
                      </a:r>
                      <a:r>
                        <a:rPr lang="de-DE" sz="1600" u="none" strike="noStrike" dirty="0">
                          <a:effectLst/>
                        </a:rPr>
                        <a:t> + Pitch + </a:t>
                      </a:r>
                      <a:r>
                        <a:rPr lang="de-DE" sz="1600" u="none" strike="noStrike" dirty="0" err="1">
                          <a:effectLst/>
                        </a:rPr>
                        <a:t>Rehearsal</a:t>
                      </a:r>
                      <a:endParaRPr lang="de-DE" sz="16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8786" marR="8786" marT="8786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u="none" strike="noStrike" dirty="0" err="1">
                          <a:effectLst/>
                        </a:rPr>
                        <a:t>Conclusion</a:t>
                      </a:r>
                      <a:endParaRPr lang="de-DE" sz="16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8786" marR="8786" marT="8786" marB="0" anchor="ctr"/>
                </a:tc>
                <a:extLst>
                  <a:ext uri="{0D108BD9-81ED-4DB2-BD59-A6C34878D82A}">
                    <a16:rowId xmlns:a16="http://schemas.microsoft.com/office/drawing/2014/main" val="32786855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74700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A6E77-0282-DEB6-CC65-F8937FC04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1E7C48-E70D-D9B7-2DB2-1684A5F53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Architecture</a:t>
            </a:r>
            <a:br>
              <a:rPr lang="de-DE" dirty="0"/>
            </a:br>
            <a:r>
              <a:rPr lang="de-DE" b="0" dirty="0" err="1"/>
              <a:t>Step</a:t>
            </a:r>
            <a:endParaRPr lang="de-DE" b="0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76C8191-3D29-DC23-38C7-CDA44C9D41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03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BE8D156-06E4-021F-CF41-F46C3226E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pPr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00687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742C7-7C52-C606-CE13-34FB5867A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A8B0B7-58E6-217F-9323-435F462DC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Step 3: Architecture :- 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0AA21BD-BEFC-A45C-B3E3-1D1C36BCC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18</a:t>
            </a:fld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E48FB48-4FA9-C4B7-3B0A-2978B47B79BA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de-DE"/>
              <a:t>03.07.2026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4E96700-1FBC-5ED3-FF81-BD2E02C9B4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SRH –  Responsible AI and Data Ethics | Vikrant Singh and Kay Marc Müller</a:t>
            </a:r>
            <a:endParaRPr lang="de-DE" dirty="0"/>
          </a:p>
        </p:txBody>
      </p:sp>
      <p:sp>
        <p:nvSpPr>
          <p:cNvPr id="101" name="Ingestion"/>
          <p:cNvSpPr/>
          <p:nvPr/>
        </p:nvSpPr>
        <p:spPr>
          <a:xfrm>
            <a:off x="367645" y="1735294"/>
            <a:ext cx="2639177" cy="1100000"/>
          </a:xfrm>
          <a:prstGeom prst="roundRect">
            <a:avLst>
              <a:gd name="adj" fmla="val 6000"/>
            </a:avLst>
          </a:prstGeom>
          <a:solidFill>
            <a:srgbClr val="ECECFF"/>
          </a:solidFill>
          <a:ln w="19050">
            <a:solidFill>
              <a:srgbClr val="9370DB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Confluence / Jira</a:t>
            </a:r>
          </a:p>
          <a:p>
            <a:pPr algn="ctr"/>
            <a:r>
              <a:rPr lang="en-US" sz="1200" dirty="0">
                <a:solidFill>
                  <a:srgbClr val="000000"/>
                </a:solidFill>
              </a:rPr>
              <a:t>(Ingestion)</a:t>
            </a:r>
          </a:p>
        </p:txBody>
      </p:sp>
      <p:sp>
        <p:nvSpPr>
          <p:cNvPr id="102" name="Preprocessing"/>
          <p:cNvSpPr/>
          <p:nvPr/>
        </p:nvSpPr>
        <p:spPr>
          <a:xfrm>
            <a:off x="3306822" y="1735294"/>
            <a:ext cx="2639177" cy="1100000"/>
          </a:xfrm>
          <a:prstGeom prst="roundRect">
            <a:avLst>
              <a:gd name="adj" fmla="val 6000"/>
            </a:avLst>
          </a:prstGeom>
          <a:solidFill>
            <a:srgbClr val="ECECFF"/>
          </a:solidFill>
          <a:ln w="19050">
            <a:solidFill>
              <a:srgbClr val="9370DB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Pre-Processing</a:t>
            </a:r>
          </a:p>
        </p:txBody>
      </p:sp>
      <p:sp>
        <p:nvSpPr>
          <p:cNvPr id="103" name="PolicyRetrieval"/>
          <p:cNvSpPr/>
          <p:nvPr/>
        </p:nvSpPr>
        <p:spPr>
          <a:xfrm>
            <a:off x="6245999" y="1735294"/>
            <a:ext cx="2639177" cy="1100000"/>
          </a:xfrm>
          <a:prstGeom prst="roundRect">
            <a:avLst>
              <a:gd name="adj" fmla="val 6000"/>
            </a:avLst>
          </a:prstGeom>
          <a:solidFill>
            <a:srgbClr val="ECECFF"/>
          </a:solidFill>
          <a:ln w="19050">
            <a:solidFill>
              <a:srgbClr val="9370DB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Policy-Retrieval (RAG)</a:t>
            </a:r>
          </a:p>
        </p:txBody>
      </p:sp>
      <p:sp>
        <p:nvSpPr>
          <p:cNvPr id="104" name="ComplianceEngine"/>
          <p:cNvSpPr/>
          <p:nvPr/>
        </p:nvSpPr>
        <p:spPr>
          <a:xfrm>
            <a:off x="9185176" y="1735294"/>
            <a:ext cx="2639177" cy="1100000"/>
          </a:xfrm>
          <a:prstGeom prst="roundRect">
            <a:avLst>
              <a:gd name="adj" fmla="val 6000"/>
            </a:avLst>
          </a:prstGeom>
          <a:solidFill>
            <a:srgbClr val="ECECFF"/>
          </a:solidFill>
          <a:ln w="19050">
            <a:solidFill>
              <a:srgbClr val="9370DB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Compliance-Engine</a:t>
            </a:r>
          </a:p>
          <a:p>
            <a:pPr algn="ctr"/>
            <a:r>
              <a:rPr lang="en-US" sz="1200">
                <a:solidFill>
                  <a:srgbClr val="000000"/>
                </a:solidFill>
              </a:rPr>
              <a:t>(Rules </a:t>
            </a:r>
            <a:r>
              <a:rPr lang="en-US" sz="1200" dirty="0">
                <a:solidFill>
                  <a:srgbClr val="000000"/>
                </a:solidFill>
              </a:rPr>
              <a:t>+ ML + LLM)</a:t>
            </a:r>
          </a:p>
        </p:txBody>
      </p:sp>
      <p:sp>
        <p:nvSpPr>
          <p:cNvPr id="105" name="RedFlagXAI"/>
          <p:cNvSpPr/>
          <p:nvPr/>
        </p:nvSpPr>
        <p:spPr>
          <a:xfrm>
            <a:off x="9185176" y="3335294"/>
            <a:ext cx="2639177" cy="1100000"/>
          </a:xfrm>
          <a:prstGeom prst="roundRect">
            <a:avLst>
              <a:gd name="adj" fmla="val 6000"/>
            </a:avLst>
          </a:prstGeom>
          <a:solidFill>
            <a:srgbClr val="ECECFF"/>
          </a:solidFill>
          <a:ln w="19050">
            <a:solidFill>
              <a:srgbClr val="9370DB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Red-Flag-Klassifikation</a:t>
            </a:r>
          </a:p>
          <a:p>
            <a:pPr algn="ctr"/>
            <a:r>
              <a:rPr lang="en-US" sz="1200" dirty="0">
                <a:solidFill>
                  <a:srgbClr val="000000"/>
                </a:solidFill>
              </a:rPr>
              <a:t>+ XAI</a:t>
            </a:r>
          </a:p>
        </p:txBody>
      </p:sp>
      <p:sp>
        <p:nvSpPr>
          <p:cNvPr id="106" name="RemediationGen"/>
          <p:cNvSpPr/>
          <p:nvPr/>
        </p:nvSpPr>
        <p:spPr>
          <a:xfrm>
            <a:off x="6245999" y="3335294"/>
            <a:ext cx="2639177" cy="1100000"/>
          </a:xfrm>
          <a:prstGeom prst="roundRect">
            <a:avLst>
              <a:gd name="adj" fmla="val 6000"/>
            </a:avLst>
          </a:prstGeom>
          <a:solidFill>
            <a:srgbClr val="ECECFF"/>
          </a:solidFill>
          <a:ln w="19050">
            <a:solidFill>
              <a:srgbClr val="9370DB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Remediation-Generator</a:t>
            </a:r>
          </a:p>
        </p:txBody>
      </p:sp>
      <p:sp>
        <p:nvSpPr>
          <p:cNvPr id="107" name="HumanGate"/>
          <p:cNvSpPr/>
          <p:nvPr/>
        </p:nvSpPr>
        <p:spPr>
          <a:xfrm>
            <a:off x="3306822" y="3335294"/>
            <a:ext cx="2639177" cy="1100000"/>
          </a:xfrm>
          <a:prstGeom prst="roundRect">
            <a:avLst>
              <a:gd name="adj" fmla="val 6000"/>
            </a:avLst>
          </a:prstGeom>
          <a:solidFill>
            <a:srgbClr val="ECECFF"/>
          </a:solidFill>
          <a:ln w="19050">
            <a:solidFill>
              <a:srgbClr val="9370DB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Human-in-the-Loop-Gate</a:t>
            </a:r>
          </a:p>
        </p:txBody>
      </p:sp>
      <p:sp>
        <p:nvSpPr>
          <p:cNvPr id="108" name="WriteBack"/>
          <p:cNvSpPr/>
          <p:nvPr/>
        </p:nvSpPr>
        <p:spPr>
          <a:xfrm>
            <a:off x="367645" y="3335294"/>
            <a:ext cx="2639177" cy="1100000"/>
          </a:xfrm>
          <a:prstGeom prst="roundRect">
            <a:avLst>
              <a:gd name="adj" fmla="val 6000"/>
            </a:avLst>
          </a:prstGeom>
          <a:solidFill>
            <a:srgbClr val="ECECFF"/>
          </a:solidFill>
          <a:ln w="19050">
            <a:solidFill>
              <a:srgbClr val="9370DB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Write-Back + Audit-Log</a:t>
            </a:r>
          </a:p>
        </p:txBody>
      </p:sp>
      <p:cxnSp>
        <p:nvCxnSpPr>
          <p:cNvPr id="201" name="Arrow_1_2"/>
          <p:cNvCxnSpPr/>
          <p:nvPr/>
        </p:nvCxnSpPr>
        <p:spPr>
          <a:xfrm>
            <a:off x="3006822" y="2285294"/>
            <a:ext cx="300000" cy="0"/>
          </a:xfrm>
          <a:prstGeom prst="line">
            <a:avLst/>
          </a:prstGeom>
          <a:ln w="22225" cap="flat">
            <a:solidFill>
              <a:srgbClr val="262626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Arrow_2_3"/>
          <p:cNvCxnSpPr/>
          <p:nvPr/>
        </p:nvCxnSpPr>
        <p:spPr>
          <a:xfrm>
            <a:off x="5945999" y="2285294"/>
            <a:ext cx="300000" cy="0"/>
          </a:xfrm>
          <a:prstGeom prst="line">
            <a:avLst/>
          </a:prstGeom>
          <a:ln w="22225" cap="flat">
            <a:solidFill>
              <a:srgbClr val="262626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Arrow_3_4"/>
          <p:cNvCxnSpPr/>
          <p:nvPr/>
        </p:nvCxnSpPr>
        <p:spPr>
          <a:xfrm>
            <a:off x="8885176" y="2285294"/>
            <a:ext cx="300000" cy="0"/>
          </a:xfrm>
          <a:prstGeom prst="line">
            <a:avLst/>
          </a:prstGeom>
          <a:ln w="22225" cap="flat">
            <a:solidFill>
              <a:srgbClr val="262626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Arrow_4_5"/>
          <p:cNvCxnSpPr/>
          <p:nvPr/>
        </p:nvCxnSpPr>
        <p:spPr>
          <a:xfrm>
            <a:off x="10504764" y="2835294"/>
            <a:ext cx="0" cy="500000"/>
          </a:xfrm>
          <a:prstGeom prst="line">
            <a:avLst/>
          </a:prstGeom>
          <a:ln w="22225" cap="flat">
            <a:solidFill>
              <a:srgbClr val="262626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Arrow_5_6"/>
          <p:cNvCxnSpPr/>
          <p:nvPr/>
        </p:nvCxnSpPr>
        <p:spPr>
          <a:xfrm>
            <a:off x="8885176" y="3885294"/>
            <a:ext cx="300000" cy="0"/>
          </a:xfrm>
          <a:prstGeom prst="line">
            <a:avLst/>
          </a:prstGeom>
          <a:ln w="22225" cap="flat">
            <a:solidFill>
              <a:srgbClr val="262626"/>
            </a:solidFill>
            <a:headEnd type="triangl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Arrow_6_7"/>
          <p:cNvCxnSpPr/>
          <p:nvPr/>
        </p:nvCxnSpPr>
        <p:spPr>
          <a:xfrm>
            <a:off x="5945999" y="3885294"/>
            <a:ext cx="300000" cy="0"/>
          </a:xfrm>
          <a:prstGeom prst="line">
            <a:avLst/>
          </a:prstGeom>
          <a:ln w="22225" cap="flat">
            <a:solidFill>
              <a:srgbClr val="262626"/>
            </a:solidFill>
            <a:headEnd type="triangl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Arrow_7_8"/>
          <p:cNvCxnSpPr/>
          <p:nvPr/>
        </p:nvCxnSpPr>
        <p:spPr>
          <a:xfrm>
            <a:off x="3006822" y="3885294"/>
            <a:ext cx="300000" cy="0"/>
          </a:xfrm>
          <a:prstGeom prst="line">
            <a:avLst/>
          </a:prstGeom>
          <a:ln w="22225" cap="flat">
            <a:solidFill>
              <a:srgbClr val="262626"/>
            </a:solidFill>
            <a:headEnd type="triangl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0" name="Caption"/>
          <p:cNvSpPr txBox="1"/>
          <p:nvPr/>
        </p:nvSpPr>
        <p:spPr>
          <a:xfrm>
            <a:off x="367645" y="4685294"/>
            <a:ext cx="11456708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1200" i="1" dirty="0">
                <a:solidFill>
                  <a:srgbClr val="595959"/>
                </a:solidFill>
              </a:rPr>
              <a:t>If rejected at the Human-in-the-Loop-Gate, the proposal returns to Remediation-Generator for revision.</a:t>
            </a:r>
          </a:p>
        </p:txBody>
      </p:sp>
    </p:spTree>
    <p:extLst>
      <p:ext uri="{BB962C8B-B14F-4D97-AF65-F5344CB8AC3E}">
        <p14:creationId xmlns:p14="http://schemas.microsoft.com/office/powerpoint/2010/main" val="31122830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742C7-7C52-C606-CE13-34FB5867A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A8B0B7-58E6-217F-9323-435F462DC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Step 3: Architecture Explained :- 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0AA21BD-BEFC-A45C-B3E3-1D1C36BCC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19</a:t>
            </a:fld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E48FB48-4FA9-C4B7-3B0A-2978B47B79BA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de-DE"/>
              <a:t>03.07.2026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4E96700-1FBC-5ED3-FF81-BD2E02C9B4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SRH –  Responsible AI and Data Ethics | Vikrant Singh and Kay Marc Müller</a:t>
            </a:r>
            <a:endParaRPr lang="de-DE" dirty="0"/>
          </a:p>
        </p:txBody>
      </p:sp>
      <p:sp>
        <p:nvSpPr>
          <p:cNvPr id="101" name="ArchitectureExplained"/>
          <p:cNvSpPr/>
          <p:nvPr/>
        </p:nvSpPr>
        <p:spPr>
          <a:xfrm>
            <a:off x="360000" y="1464678"/>
            <a:ext cx="11456710" cy="4621056"/>
          </a:xfrm>
          <a:prstGeom prst="roundRect">
            <a:avLst>
              <a:gd name="adj" fmla="val 3000"/>
            </a:avLst>
          </a:prstGeom>
          <a:solidFill>
            <a:srgbClr val="ECECFF"/>
          </a:solidFill>
          <a:ln w="19050">
            <a:solidFill>
              <a:srgbClr val="9370DB"/>
            </a:solidFill>
          </a:ln>
        </p:spPr>
        <p:txBody>
          <a:bodyPr wrap="square" lIns="182880" tIns="137160" rIns="182880" bIns="9144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DF4807"/>
                </a:solidFill>
              </a:rPr>
              <a:t>How the system works, in plain terms:- </a:t>
            </a:r>
          </a:p>
          <a:p>
            <a:pPr marL="0" indent="0" algn="l">
              <a:buNone/>
            </a:pPr>
            <a:endParaRPr lang="en-US" sz="1700" b="1" dirty="0">
              <a:solidFill>
                <a:srgbClr val="DF4807"/>
              </a:solidFill>
            </a:endParaRPr>
          </a:p>
          <a:p>
            <a:pPr marL="0" indent="0" algn="l">
              <a:buNone/>
            </a:pPr>
            <a:r>
              <a:rPr lang="en-US" b="1" i="1"/>
              <a:t>What it does in a sentence:-</a:t>
            </a:r>
          </a:p>
          <a:p>
            <a:pPr marL="0" indent="0" algn="l">
              <a:buNone/>
            </a:pPr>
            <a:r>
              <a:rPr lang="en-US" i="1" dirty="0"/>
              <a:t>It reads proposals, checks them against our rules, explains any concerns, drafts a fix, and always waits for human approval. (With a full record of every step [logs] )</a:t>
            </a:r>
          </a:p>
          <a:p>
            <a:pPr marL="0" indent="0" algn="l">
              <a:buNone/>
            </a:pPr>
            <a:endParaRPr lang="en-US" sz="1400" i="1" dirty="0"/>
          </a:p>
          <a:p>
            <a:pPr marL="0" indent="0" algn="l">
              <a:buNone/>
            </a:pPr>
            <a:r>
              <a:rPr lang="en-US" sz="2400" b="1" u="sng" dirty="0"/>
              <a:t>Steps:- </a:t>
            </a:r>
          </a:p>
          <a:p>
            <a:pPr marL="228600" indent="-228600" algn="l">
              <a:buFont typeface="Arial"/>
              <a:buChar char="•"/>
            </a:pPr>
            <a:r>
              <a:rPr lang="en-US" b="1" dirty="0"/>
              <a:t>Ingestion :- </a:t>
            </a:r>
            <a:r>
              <a:rPr lang="en-US" b="0" dirty="0"/>
              <a:t>reads proposals straight from Confluence/Jira, nothing changes for the teams writing them</a:t>
            </a:r>
          </a:p>
          <a:p>
            <a:pPr marL="228600" indent="-228600" algn="l">
              <a:buFont typeface="Arial"/>
              <a:buChar char="•"/>
            </a:pPr>
            <a:r>
              <a:rPr lang="en-US" b="1" dirty="0"/>
              <a:t>Pre-Processing :- </a:t>
            </a:r>
            <a:r>
              <a:rPr lang="en-US" b="0" dirty="0"/>
              <a:t>cleans and prepares the text for analysis</a:t>
            </a:r>
          </a:p>
          <a:p>
            <a:pPr marL="228600" indent="-228600" algn="l">
              <a:buFont typeface="Arial"/>
              <a:buChar char="•"/>
            </a:pPr>
            <a:r>
              <a:rPr lang="en-US" b="1" dirty="0"/>
              <a:t>Policy-Retrieval :- </a:t>
            </a:r>
            <a:r>
              <a:rPr lang="en-US" b="0" dirty="0"/>
              <a:t>pulls up only the internal rules that actually apply to this proposal</a:t>
            </a:r>
          </a:p>
          <a:p>
            <a:pPr marL="228600" indent="-228600" algn="l">
              <a:buFont typeface="Arial"/>
              <a:buChar char="•"/>
            </a:pPr>
            <a:r>
              <a:rPr lang="en-US" b="1" dirty="0"/>
              <a:t>Compliance-Engine :- </a:t>
            </a:r>
            <a:r>
              <a:rPr lang="en-US" b="0" dirty="0"/>
              <a:t>checks the proposal three different ways, so nothing slips through a single blind spot</a:t>
            </a:r>
          </a:p>
          <a:p>
            <a:pPr marL="228600" indent="-228600" algn="l">
              <a:buFont typeface="Arial"/>
              <a:buChar char="•"/>
            </a:pPr>
            <a:r>
              <a:rPr lang="en-US" b="1" dirty="0"/>
              <a:t>Red-Flag Classification :- </a:t>
            </a:r>
            <a:r>
              <a:rPr lang="en-US" b="0" dirty="0"/>
              <a:t>rates how serious an issue is, and explains why</a:t>
            </a:r>
          </a:p>
          <a:p>
            <a:pPr marL="228600" indent="-228600" algn="l">
              <a:buFont typeface="Arial"/>
              <a:buChar char="•"/>
            </a:pPr>
            <a:r>
              <a:rPr lang="en-US" b="1" dirty="0"/>
              <a:t>Remediation-Generator :- </a:t>
            </a:r>
            <a:r>
              <a:rPr lang="en-US" b="0" dirty="0"/>
              <a:t>drafts a concrete suggested fix</a:t>
            </a:r>
          </a:p>
          <a:p>
            <a:pPr marL="228600" indent="-228600" algn="l">
              <a:buFont typeface="Arial"/>
              <a:buChar char="•"/>
            </a:pPr>
            <a:r>
              <a:rPr lang="en-US" b="1" dirty="0"/>
              <a:t>Human-in-the-Loop-Gate :- </a:t>
            </a:r>
            <a:r>
              <a:rPr lang="en-US" b="0" dirty="0"/>
              <a:t>a person always approves before anything changes</a:t>
            </a:r>
          </a:p>
          <a:p>
            <a:pPr marL="228600" indent="-228600" algn="l">
              <a:buFont typeface="Arial"/>
              <a:buChar char="•"/>
            </a:pPr>
            <a:r>
              <a:rPr lang="en-US" b="1" dirty="0"/>
              <a:t>Write-Back + Audit-Log :- </a:t>
            </a:r>
            <a:r>
              <a:rPr lang="en-US" b="0" dirty="0"/>
              <a:t>the fix is saved back, with a full record of what happened</a:t>
            </a:r>
          </a:p>
        </p:txBody>
      </p:sp>
    </p:spTree>
    <p:extLst>
      <p:ext uri="{BB962C8B-B14F-4D97-AF65-F5344CB8AC3E}">
        <p14:creationId xmlns:p14="http://schemas.microsoft.com/office/powerpoint/2010/main" val="3833331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5884F-0570-F569-A422-F0086AA03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73418E-4E5B-3FDC-C44A-291EB2AF7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Regulatory</a:t>
            </a:r>
            <a:r>
              <a:rPr lang="de-DE" dirty="0"/>
              <a:t> </a:t>
            </a:r>
            <a:r>
              <a:rPr lang="de-DE" dirty="0" err="1"/>
              <a:t>matters</a:t>
            </a:r>
            <a:br>
              <a:rPr lang="de-DE" dirty="0"/>
            </a:br>
            <a:r>
              <a:rPr lang="de-DE" b="0" dirty="0" err="1"/>
              <a:t>Step</a:t>
            </a:r>
            <a:endParaRPr lang="de-DE" b="0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2CE3521-7494-9146-52AA-6C2D4A07D4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04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8A6D49B-A21B-A6B9-FFAF-6731486DB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pPr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09880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742C7-7C52-C606-CE13-34FB5867A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A8B0B7-58E6-217F-9323-435F462DC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Step</a:t>
            </a:r>
            <a:r>
              <a:rPr lang="de-DE" dirty="0"/>
              <a:t> 4: </a:t>
            </a:r>
            <a:r>
              <a:rPr lang="de-DE" dirty="0" err="1"/>
              <a:t>Regulatory</a:t>
            </a:r>
            <a:r>
              <a:rPr lang="de-DE" dirty="0"/>
              <a:t> </a:t>
            </a:r>
            <a:r>
              <a:rPr lang="de-DE" dirty="0" err="1"/>
              <a:t>matters</a:t>
            </a:r>
            <a:r>
              <a:rPr lang="de-DE" dirty="0"/>
              <a:t> 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0AA21BD-BEFC-A45C-B3E3-1D1C36BCC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21</a:t>
            </a:fld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E48FB48-4FA9-C4B7-3B0A-2978B47B79BA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de-DE"/>
              <a:t>03.07.2026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4E96700-1FBC-5ED3-FF81-BD2E02C9B4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SRH –  Responsible AI and Data Ethics | Vikrant Singh and Kay Marc Müller</a:t>
            </a:r>
            <a:endParaRPr lang="de-DE" dirty="0"/>
          </a:p>
        </p:txBody>
      </p:sp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6C596F20-EC55-9FF7-30C9-A126CCFDA5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6178148"/>
              </p:ext>
            </p:extLst>
          </p:nvPr>
        </p:nvGraphicFramePr>
        <p:xfrm>
          <a:off x="367645" y="1735294"/>
          <a:ext cx="7618142" cy="4079824"/>
        </p:xfrm>
        <a:graphic>
          <a:graphicData uri="http://schemas.openxmlformats.org/drawingml/2006/table">
            <a:tbl>
              <a:tblPr>
                <a:tableStyleId>{5ACB3F56-7768-405F-84FF-31046667B651}</a:tableStyleId>
              </a:tblPr>
              <a:tblGrid>
                <a:gridCol w="2558435">
                  <a:extLst>
                    <a:ext uri="{9D8B030D-6E8A-4147-A177-3AD203B41FA5}">
                      <a16:colId xmlns:a16="http://schemas.microsoft.com/office/drawing/2014/main" val="1133972353"/>
                    </a:ext>
                  </a:extLst>
                </a:gridCol>
                <a:gridCol w="5059707">
                  <a:extLst>
                    <a:ext uri="{9D8B030D-6E8A-4147-A177-3AD203B41FA5}">
                      <a16:colId xmlns:a16="http://schemas.microsoft.com/office/drawing/2014/main" val="110451390"/>
                    </a:ext>
                  </a:extLst>
                </a:gridCol>
              </a:tblGrid>
              <a:tr h="442019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b="1" u="none" strike="noStrike" dirty="0">
                          <a:effectLst/>
                        </a:rPr>
                        <a:t>Rahmenwerk</a:t>
                      </a:r>
                      <a:endParaRPr lang="de-DE" sz="160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565" marR="5565" marT="5565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b="1" u="none" strike="noStrike" dirty="0">
                          <a:effectLst/>
                        </a:rPr>
                        <a:t>Relevanz</a:t>
                      </a:r>
                      <a:endParaRPr lang="de-DE" sz="160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565" marR="5565" marT="5565" marB="0" anchor="ctr"/>
                </a:tc>
                <a:extLst>
                  <a:ext uri="{0D108BD9-81ED-4DB2-BD59-A6C34878D82A}">
                    <a16:rowId xmlns:a16="http://schemas.microsoft.com/office/drawing/2014/main" val="3254936119"/>
                  </a:ext>
                </a:extLst>
              </a:tr>
              <a:tr h="727561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b="1" u="none" strike="noStrike" dirty="0">
                          <a:solidFill>
                            <a:srgbClr val="DF4807"/>
                          </a:solidFill>
                          <a:effectLst/>
                        </a:rPr>
                        <a:t>EU AI Act</a:t>
                      </a:r>
                      <a:endParaRPr lang="de-DE" sz="1600" b="1" i="0" u="none" strike="noStrike" dirty="0">
                        <a:solidFill>
                          <a:srgbClr val="DF480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565" marR="5565" marT="5565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u="none" strike="noStrike" dirty="0" err="1">
                          <a:effectLst/>
                        </a:rPr>
                        <a:t>supporting</a:t>
                      </a:r>
                      <a:r>
                        <a:rPr lang="de-DE" sz="1600" u="none" strike="noStrike" dirty="0">
                          <a:effectLst/>
                        </a:rPr>
                        <a:t>, not high-</a:t>
                      </a:r>
                      <a:r>
                        <a:rPr lang="de-DE" sz="1600" u="none" strike="noStrike" dirty="0" err="1">
                          <a:effectLst/>
                        </a:rPr>
                        <a:t>risk</a:t>
                      </a:r>
                      <a:r>
                        <a:rPr lang="de-DE" sz="1600" u="none" strike="noStrike" dirty="0">
                          <a:effectLst/>
                        </a:rPr>
                        <a:t>; </a:t>
                      </a:r>
                      <a:r>
                        <a:rPr lang="de-DE" sz="1600" u="none" strike="noStrike" dirty="0" err="1">
                          <a:effectLst/>
                        </a:rPr>
                        <a:t>transparency</a:t>
                      </a:r>
                      <a:r>
                        <a:rPr lang="de-DE" sz="1600" u="none" strike="noStrike" dirty="0">
                          <a:effectLst/>
                        </a:rPr>
                        <a:t> &amp; human </a:t>
                      </a:r>
                      <a:r>
                        <a:rPr lang="de-DE" sz="1600" u="none" strike="noStrike" dirty="0" err="1">
                          <a:effectLst/>
                        </a:rPr>
                        <a:t>oversight</a:t>
                      </a:r>
                      <a:endParaRPr lang="de-DE" sz="16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565" marR="5565" marT="5565" marB="0" anchor="ctr"/>
                </a:tc>
                <a:extLst>
                  <a:ext uri="{0D108BD9-81ED-4DB2-BD59-A6C34878D82A}">
                    <a16:rowId xmlns:a16="http://schemas.microsoft.com/office/drawing/2014/main" val="3582442794"/>
                  </a:ext>
                </a:extLst>
              </a:tr>
              <a:tr h="727561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b="1" u="none" strike="noStrike" dirty="0">
                          <a:solidFill>
                            <a:srgbClr val="DF4807"/>
                          </a:solidFill>
                          <a:effectLst/>
                        </a:rPr>
                        <a:t>DSGVO</a:t>
                      </a:r>
                      <a:endParaRPr lang="de-DE" sz="1600" b="1" i="0" u="none" strike="noStrike" dirty="0">
                        <a:solidFill>
                          <a:srgbClr val="DF480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565" marR="5565" marT="5565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u="none" strike="noStrike" dirty="0">
                          <a:effectLst/>
                        </a:rPr>
                        <a:t>Legal </a:t>
                      </a:r>
                      <a:r>
                        <a:rPr lang="de-DE" sz="1600" u="none" strike="noStrike" dirty="0" err="1">
                          <a:effectLst/>
                        </a:rPr>
                        <a:t>basis</a:t>
                      </a:r>
                      <a:r>
                        <a:rPr lang="de-DE" sz="1600" u="none" strike="noStrike" dirty="0">
                          <a:effectLst/>
                        </a:rPr>
                        <a:t>, </a:t>
                      </a:r>
                      <a:r>
                        <a:rPr lang="de-DE" sz="1600" u="none" strike="noStrike" dirty="0" err="1">
                          <a:effectLst/>
                        </a:rPr>
                        <a:t>data</a:t>
                      </a:r>
                      <a:r>
                        <a:rPr lang="de-DE" sz="1600" u="none" strike="noStrike" dirty="0">
                          <a:effectLst/>
                        </a:rPr>
                        <a:t> </a:t>
                      </a:r>
                      <a:r>
                        <a:rPr lang="de-DE" sz="1600" u="none" strike="noStrike" dirty="0" err="1">
                          <a:effectLst/>
                        </a:rPr>
                        <a:t>minimisation</a:t>
                      </a:r>
                      <a:r>
                        <a:rPr lang="de-DE" sz="1600" u="none" strike="noStrike" dirty="0">
                          <a:effectLst/>
                        </a:rPr>
                        <a:t>, </a:t>
                      </a:r>
                      <a:r>
                        <a:rPr lang="de-DE" sz="1600" u="none" strike="noStrike" dirty="0" err="1">
                          <a:effectLst/>
                        </a:rPr>
                        <a:t>data</a:t>
                      </a:r>
                      <a:r>
                        <a:rPr lang="de-DE" sz="1600" u="none" strike="noStrike" dirty="0">
                          <a:effectLst/>
                        </a:rPr>
                        <a:t> </a:t>
                      </a:r>
                      <a:r>
                        <a:rPr lang="de-DE" sz="1600" u="none" strike="noStrike" dirty="0" err="1">
                          <a:effectLst/>
                        </a:rPr>
                        <a:t>subjects</a:t>
                      </a:r>
                      <a:r>
                        <a:rPr lang="de-DE" sz="1600" u="none" strike="noStrike" dirty="0">
                          <a:effectLst/>
                        </a:rPr>
                        <a:t>’ </a:t>
                      </a:r>
                      <a:r>
                        <a:rPr lang="de-DE" sz="1600" u="none" strike="noStrike" dirty="0" err="1">
                          <a:effectLst/>
                        </a:rPr>
                        <a:t>rights</a:t>
                      </a:r>
                      <a:endParaRPr lang="de-DE" sz="16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565" marR="5565" marT="5565" marB="0" anchor="ctr"/>
                </a:tc>
                <a:extLst>
                  <a:ext uri="{0D108BD9-81ED-4DB2-BD59-A6C34878D82A}">
                    <a16:rowId xmlns:a16="http://schemas.microsoft.com/office/drawing/2014/main" val="2591194098"/>
                  </a:ext>
                </a:extLst>
              </a:tr>
              <a:tr h="727561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b="1" u="none" strike="noStrike" dirty="0">
                          <a:solidFill>
                            <a:srgbClr val="DF4807"/>
                          </a:solidFill>
                          <a:effectLst/>
                        </a:rPr>
                        <a:t>ISO/IEC 42001</a:t>
                      </a:r>
                      <a:endParaRPr lang="de-DE" sz="1600" b="1" i="0" u="none" strike="noStrike" dirty="0">
                        <a:solidFill>
                          <a:srgbClr val="DF480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565" marR="5565" marT="5565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u="none" strike="noStrike" dirty="0">
                          <a:effectLst/>
                        </a:rPr>
                        <a:t>AI </a:t>
                      </a:r>
                      <a:r>
                        <a:rPr lang="de-DE" sz="1600" u="none" strike="noStrike" dirty="0" err="1">
                          <a:effectLst/>
                        </a:rPr>
                        <a:t>management</a:t>
                      </a:r>
                      <a:r>
                        <a:rPr lang="de-DE" sz="1600" u="none" strike="noStrike" dirty="0">
                          <a:effectLst/>
                        </a:rPr>
                        <a:t> </a:t>
                      </a:r>
                      <a:r>
                        <a:rPr lang="de-DE" sz="1600" u="none" strike="noStrike" dirty="0" err="1">
                          <a:effectLst/>
                        </a:rPr>
                        <a:t>system</a:t>
                      </a:r>
                      <a:r>
                        <a:rPr lang="de-DE" sz="1600" u="none" strike="noStrike" dirty="0">
                          <a:effectLst/>
                        </a:rPr>
                        <a:t> (</a:t>
                      </a:r>
                      <a:r>
                        <a:rPr lang="de-DE" sz="1600" u="none" strike="noStrike" dirty="0" err="1">
                          <a:effectLst/>
                        </a:rPr>
                        <a:t>governance</a:t>
                      </a:r>
                      <a:r>
                        <a:rPr lang="de-DE" sz="1600" u="none" strike="noStrike" dirty="0">
                          <a:effectLst/>
                        </a:rPr>
                        <a:t>, </a:t>
                      </a:r>
                      <a:r>
                        <a:rPr lang="de-DE" sz="1600" u="none" strike="noStrike" dirty="0" err="1">
                          <a:effectLst/>
                        </a:rPr>
                        <a:t>risk</a:t>
                      </a:r>
                      <a:r>
                        <a:rPr lang="de-DE" sz="1600" u="none" strike="noStrike" dirty="0">
                          <a:effectLst/>
                        </a:rPr>
                        <a:t>)</a:t>
                      </a:r>
                      <a:endParaRPr lang="de-DE" sz="16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565" marR="5565" marT="5565" marB="0" anchor="ctr"/>
                </a:tc>
                <a:extLst>
                  <a:ext uri="{0D108BD9-81ED-4DB2-BD59-A6C34878D82A}">
                    <a16:rowId xmlns:a16="http://schemas.microsoft.com/office/drawing/2014/main" val="3550905272"/>
                  </a:ext>
                </a:extLst>
              </a:tr>
              <a:tr h="727561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b="1" u="none" strike="noStrike" dirty="0">
                          <a:solidFill>
                            <a:srgbClr val="DF4807"/>
                          </a:solidFill>
                          <a:effectLst/>
                        </a:rPr>
                        <a:t>ISO/IEC 23894</a:t>
                      </a:r>
                      <a:endParaRPr lang="de-DE" sz="1600" b="1" i="0" u="none" strike="noStrike" dirty="0">
                        <a:solidFill>
                          <a:srgbClr val="DF480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565" marR="5565" marT="5565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u="none" strike="noStrike" dirty="0">
                          <a:effectLst/>
                        </a:rPr>
                        <a:t>AI </a:t>
                      </a:r>
                      <a:r>
                        <a:rPr lang="de-DE" sz="1600" u="none" strike="noStrike" dirty="0" err="1">
                          <a:effectLst/>
                        </a:rPr>
                        <a:t>risk</a:t>
                      </a:r>
                      <a:r>
                        <a:rPr lang="de-DE" sz="1600" u="none" strike="noStrike" dirty="0">
                          <a:effectLst/>
                        </a:rPr>
                        <a:t> </a:t>
                      </a:r>
                      <a:r>
                        <a:rPr lang="de-DE" sz="1600" u="none" strike="noStrike" dirty="0" err="1">
                          <a:effectLst/>
                        </a:rPr>
                        <a:t>management</a:t>
                      </a:r>
                      <a:endParaRPr lang="de-DE" sz="16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565" marR="5565" marT="5565" marB="0" anchor="ctr"/>
                </a:tc>
                <a:extLst>
                  <a:ext uri="{0D108BD9-81ED-4DB2-BD59-A6C34878D82A}">
                    <a16:rowId xmlns:a16="http://schemas.microsoft.com/office/drawing/2014/main" val="1944232591"/>
                  </a:ext>
                </a:extLst>
              </a:tr>
              <a:tr h="727561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b="1" u="none" strike="noStrike" dirty="0">
                          <a:solidFill>
                            <a:srgbClr val="DF4807"/>
                          </a:solidFill>
                          <a:effectLst/>
                        </a:rPr>
                        <a:t>NIST AI RMF</a:t>
                      </a:r>
                      <a:endParaRPr lang="de-DE" sz="1600" b="1" i="0" u="none" strike="noStrike" dirty="0">
                        <a:solidFill>
                          <a:srgbClr val="DF480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565" marR="5565" marT="5565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u="none" strike="noStrike" dirty="0" err="1">
                          <a:effectLst/>
                        </a:rPr>
                        <a:t>Govern</a:t>
                      </a:r>
                      <a:r>
                        <a:rPr lang="de-DE" sz="1600" u="none" strike="noStrike" dirty="0">
                          <a:effectLst/>
                        </a:rPr>
                        <a:t>–</a:t>
                      </a:r>
                      <a:r>
                        <a:rPr lang="de-DE" sz="1600" u="none" strike="noStrike" dirty="0" err="1">
                          <a:effectLst/>
                        </a:rPr>
                        <a:t>Map</a:t>
                      </a:r>
                      <a:r>
                        <a:rPr lang="de-DE" sz="1600" u="none" strike="noStrike" dirty="0">
                          <a:effectLst/>
                        </a:rPr>
                        <a:t>–</a:t>
                      </a:r>
                      <a:r>
                        <a:rPr lang="de-DE" sz="1600" u="none" strike="noStrike" dirty="0" err="1">
                          <a:effectLst/>
                        </a:rPr>
                        <a:t>Measure</a:t>
                      </a:r>
                      <a:r>
                        <a:rPr lang="de-DE" sz="1600" u="none" strike="noStrike" dirty="0">
                          <a:effectLst/>
                        </a:rPr>
                        <a:t>–Manage</a:t>
                      </a:r>
                      <a:endParaRPr lang="de-DE" sz="16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565" marR="5565" marT="5565" marB="0" anchor="ctr"/>
                </a:tc>
                <a:extLst>
                  <a:ext uri="{0D108BD9-81ED-4DB2-BD59-A6C34878D82A}">
                    <a16:rowId xmlns:a16="http://schemas.microsoft.com/office/drawing/2014/main" val="18857223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743418"/>
      </p:ext>
    </p:extLst>
  </p:cSld>
  <p:clrMapOvr>
    <a:masterClrMapping/>
  </p:clrMapOvr>
</p:sld>
</file>

<file path=ppt/theme/theme1.xml><?xml version="1.0" encoding="utf-8"?>
<a:theme xmlns:a="http://schemas.openxmlformats.org/drawingml/2006/main" name="SRH">
  <a:themeElements>
    <a:clrScheme name="SRH Bildung">
      <a:dk1>
        <a:srgbClr val="575756"/>
      </a:dk1>
      <a:lt1>
        <a:sysClr val="window" lastClr="FFFFFF"/>
      </a:lt1>
      <a:dk2>
        <a:srgbClr val="00699A"/>
      </a:dk2>
      <a:lt2>
        <a:srgbClr val="AAA39D"/>
      </a:lt2>
      <a:accent1>
        <a:srgbClr val="DF4807"/>
      </a:accent1>
      <a:accent2>
        <a:srgbClr val="AAA39D"/>
      </a:accent2>
      <a:accent3>
        <a:srgbClr val="FCC61E"/>
      </a:accent3>
      <a:accent4>
        <a:srgbClr val="35B4A0"/>
      </a:accent4>
      <a:accent5>
        <a:srgbClr val="CA007F"/>
      </a:accent5>
      <a:accent6>
        <a:srgbClr val="021E30"/>
      </a:accent6>
      <a:hlink>
        <a:srgbClr val="000000"/>
      </a:hlink>
      <a:folHlink>
        <a:srgbClr val="000000"/>
      </a:folHlink>
    </a:clrScheme>
    <a:fontScheme name="SRH">
      <a:majorFont>
        <a:latin typeface="SRH Display"/>
        <a:ea typeface=""/>
        <a:cs typeface=""/>
      </a:majorFont>
      <a:minorFont>
        <a:latin typeface="SRH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SRH Bildung">
        <a:dk1>
          <a:srgbClr val="575756"/>
        </a:dk1>
        <a:lt1>
          <a:sysClr val="window" lastClr="FFFFFF"/>
        </a:lt1>
        <a:dk2>
          <a:srgbClr val="00699A"/>
        </a:dk2>
        <a:lt2>
          <a:srgbClr val="AAA39D"/>
        </a:lt2>
        <a:accent1>
          <a:srgbClr val="DF4807"/>
        </a:accent1>
        <a:accent2>
          <a:srgbClr val="AAA39D"/>
        </a:accent2>
        <a:accent3>
          <a:srgbClr val="FCC61E"/>
        </a:accent3>
        <a:accent4>
          <a:srgbClr val="35B4A0"/>
        </a:accent4>
        <a:accent5>
          <a:srgbClr val="CA007F"/>
        </a:accent5>
        <a:accent6>
          <a:srgbClr val="021E30"/>
        </a:accent6>
        <a:hlink>
          <a:srgbClr val="000000"/>
        </a:hlink>
        <a:folHlink>
          <a:srgbClr val="000000"/>
        </a:folHlink>
      </a:clrScheme>
    </a:extraClrScheme>
    <a:extraClrScheme>
      <a:clrScheme name="SRH Gesundheit">
        <a:dk1>
          <a:srgbClr val="575756"/>
        </a:dk1>
        <a:lt1>
          <a:sysClr val="window" lastClr="FFFFFF"/>
        </a:lt1>
        <a:dk2>
          <a:srgbClr val="35B4A0"/>
        </a:dk2>
        <a:lt2>
          <a:srgbClr val="AAA39D"/>
        </a:lt2>
        <a:accent1>
          <a:srgbClr val="00699A"/>
        </a:accent1>
        <a:accent2>
          <a:srgbClr val="CA007F"/>
        </a:accent2>
        <a:accent3>
          <a:srgbClr val="78C8D2"/>
        </a:accent3>
        <a:accent4>
          <a:srgbClr val="0D3A5D"/>
        </a:accent4>
        <a:accent5>
          <a:srgbClr val="DF4807"/>
        </a:accent5>
        <a:accent6>
          <a:srgbClr val="FCC61E"/>
        </a:accent6>
        <a:hlink>
          <a:srgbClr val="000000"/>
        </a:hlink>
        <a:folHlink>
          <a:srgbClr val="000000"/>
        </a:folHlink>
      </a:clrScheme>
    </a:extraClrScheme>
    <a:extraClrScheme>
      <a:clrScheme name="SRH Holding">
        <a:dk1>
          <a:srgbClr val="575756"/>
        </a:dk1>
        <a:lt1>
          <a:sysClr val="window" lastClr="FFFFFF"/>
        </a:lt1>
        <a:dk2>
          <a:srgbClr val="00699A"/>
        </a:dk2>
        <a:lt2>
          <a:srgbClr val="AAA39D"/>
        </a:lt2>
        <a:accent1>
          <a:srgbClr val="AAA39D"/>
        </a:accent1>
        <a:accent2>
          <a:srgbClr val="DF4807"/>
        </a:accent2>
        <a:accent3>
          <a:srgbClr val="575756"/>
        </a:accent3>
        <a:accent4>
          <a:srgbClr val="FCC61E"/>
        </a:accent4>
        <a:accent5>
          <a:srgbClr val="78C8D2"/>
        </a:accent5>
        <a:accent6>
          <a:srgbClr val="0D3A5D"/>
        </a:accent6>
        <a:hlink>
          <a:srgbClr val="000000"/>
        </a:hlink>
        <a:folHlink>
          <a:srgbClr val="000000"/>
        </a:folHlink>
      </a:clrScheme>
    </a:extraClrScheme>
    <a:extraClrScheme>
      <a:clrScheme name="SRH ServicePartner">
        <a:dk1>
          <a:srgbClr val="575756"/>
        </a:dk1>
        <a:lt1>
          <a:sysClr val="window" lastClr="FFFFFF"/>
        </a:lt1>
        <a:dk2>
          <a:srgbClr val="9C0C35"/>
        </a:dk2>
        <a:lt2>
          <a:srgbClr val="AAA39D"/>
        </a:lt2>
        <a:accent1>
          <a:srgbClr val="AAA39D"/>
        </a:accent1>
        <a:accent2>
          <a:srgbClr val="35B4A0"/>
        </a:accent2>
        <a:accent3>
          <a:srgbClr val="575756"/>
        </a:accent3>
        <a:accent4>
          <a:srgbClr val="0D3A5D"/>
        </a:accent4>
        <a:accent5>
          <a:srgbClr val="DF4807"/>
        </a:accent5>
        <a:accent6>
          <a:srgbClr val="00699A"/>
        </a:accent6>
        <a:hlink>
          <a:srgbClr val="000000"/>
        </a:hlink>
        <a:folHlink>
          <a:srgbClr val="000000"/>
        </a:folHlink>
      </a:clrScheme>
    </a:extraClrScheme>
  </a:extraClrSchemeLst>
  <a:custClrLst>
    <a:custClr name="SRH ORANGE">
      <a:srgbClr val="DF4807"/>
    </a:custClr>
    <a:custClr name="SRH WARM GREY">
      <a:srgbClr val="AAA39D"/>
    </a:custClr>
    <a:custClr name="SRH BLUE">
      <a:srgbClr val="00699A"/>
    </a:custClr>
    <a:custClr name="SRH SUN YELLOW">
      <a:srgbClr val="FCC61E"/>
    </a:custClr>
    <a:custClr name="SRH Fresh Mint">
      <a:srgbClr val="35B4A0"/>
    </a:custClr>
    <a:custClr name="SRH SWEET BERRY">
      <a:srgbClr val="CA007F"/>
    </a:custClr>
    <a:custClr name="WHITE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SRH PASSION RED">
      <a:srgbClr val="9C0C35"/>
    </a:custClr>
    <a:custClr name="SRH SMOKEY BLACK">
      <a:srgbClr val="575756"/>
    </a:custClr>
    <a:custClr name="SRH CALM OCEAN">
      <a:srgbClr val="78C8D2"/>
    </a:custClr>
    <a:custClr name="SRH MIDNIGHT BLUE">
      <a:srgbClr val="0D3A5D"/>
    </a:custClr>
    <a:custClr name="SRH DEEP BLUE">
      <a:srgbClr val="021E30"/>
    </a:custClr>
    <a:custClr name=" SRH Text ">
      <a:srgbClr val="575756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1218</Words>
  <Application>Microsoft Macintosh PowerPoint</Application>
  <PresentationFormat>Breitbild</PresentationFormat>
  <Paragraphs>224</Paragraphs>
  <Slides>21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21</vt:i4>
      </vt:variant>
    </vt:vector>
  </HeadingPairs>
  <TitlesOfParts>
    <vt:vector size="29" baseType="lpstr">
      <vt:lpstr>Aptos Display</vt:lpstr>
      <vt:lpstr>Arial</vt:lpstr>
      <vt:lpstr>Calibri</vt:lpstr>
      <vt:lpstr>Helvetica</vt:lpstr>
      <vt:lpstr>SRH</vt:lpstr>
      <vt:lpstr>SRH Headline</vt:lpstr>
      <vt:lpstr>SRH Text</vt:lpstr>
      <vt:lpstr>SRH</vt:lpstr>
      <vt:lpstr>Goal 1 The Autonomous Compliance Sentinel  Data analysis · Planning · Architecture · Regulatory matters</vt:lpstr>
      <vt:lpstr>Agenda</vt:lpstr>
      <vt:lpstr>Project idea</vt:lpstr>
      <vt:lpstr>Data basis: two combined real-world sources</vt:lpstr>
      <vt:lpstr>The real NFR source (PROMISE)</vt:lpstr>
      <vt:lpstr>The Task</vt:lpstr>
      <vt:lpstr>The Red Flag Catalogue</vt:lpstr>
      <vt:lpstr>Data analysis Step</vt:lpstr>
      <vt:lpstr>Step 1: Class balance</vt:lpstr>
      <vt:lpstr>Step 1: Red-flag types &amp; source</vt:lpstr>
      <vt:lpstr>Step 1: Real implementation of the red flags</vt:lpstr>
      <vt:lpstr>Step 1: Text length as a signal?</vt:lpstr>
      <vt:lpstr>Step 1: Bias check using an AI-based method</vt:lpstr>
      <vt:lpstr>Step 1: Fazit </vt:lpstr>
      <vt:lpstr>Planning Step</vt:lpstr>
      <vt:lpstr>Step 2: Planning </vt:lpstr>
      <vt:lpstr>Architecture Step</vt:lpstr>
      <vt:lpstr>Step 3: Architecture :- </vt:lpstr>
      <vt:lpstr>Step 3: Architecture Explained :- </vt:lpstr>
      <vt:lpstr>Regulatory matters Step</vt:lpstr>
      <vt:lpstr>Step 4: Regulatory matters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Henrike Voelker</dc:creator>
  <cp:lastModifiedBy>Müller, Kay (Stud SRH-University)</cp:lastModifiedBy>
  <cp:revision>32</cp:revision>
  <dcterms:created xsi:type="dcterms:W3CDTF">2020-06-05T16:20:53Z</dcterms:created>
  <dcterms:modified xsi:type="dcterms:W3CDTF">2026-07-03T13:07:21Z</dcterms:modified>
</cp:coreProperties>
</file>